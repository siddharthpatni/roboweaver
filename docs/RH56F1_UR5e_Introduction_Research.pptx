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seminar presents the design for attaching an Inspire five-finger dexterous hand to our lab's UR5e collaborative arm. I'll be clear up front: the hardware is on order but not yet integrated, so this is a design and evaluation-plan study — there are no experimental results yet, and I've been careful to separate verified specifications from engineering reasoning and from planned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motivation, the gap in existing work, the objectives, and — importantly — the honest scope of what this paper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contrast is the motivation. A parallel gripper is fine when a task reduces to one squeeze axis, but it fails the moment you need a third contact, differentiated finger roles, or contact feedback. The dexterous hand covers those cases — and crucially it has tactile sensing built into the same communication bus, which we'll use later for force-controlled grasping.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drive the work: an interfacing question and a use-case question. From them come four contributions — a specification-level characterisation, the integration design itself, a mapping of use cases onto what the hardware can actually do, and a concrete evaluation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 Being explicit about scope is what keeps the work honest and defensible: it is a design, an analysis of constraints, and a validation plan. It is not an experimental paper, it reports no measured numbers, and it does not claim a new algorithm. Reviewers respond well to this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walks through the approach: the two platforms, why one specific hand variant is required, the central electrical finding, the two power options, and the software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 six actuators driving twelve joints, 630 grams, a 5-amp peak draw, at least 15 newtons at the thumb, eight tactile sensors, and — key for us — an RS-485 interface. The arm: 5-kilo payload, sub-tenth-millimetre repeatability, and a tool connector that supplies up to 1.5 amps and carries an RS-485 bus. Note the two RS-485 lines at the bottom of each card — that's the match we build on. And note the 5 A against the 1.5 A — that's the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but real design finding: the variant isn't a free choice. Three constraints — RS-485 because that's what the flange carries, tactile because our fragile-grasping use case needs it, and right-handed because that's what was ordered — narrow the four builds down to exactly one. The general lesson: the arm's tool interface, not the application, usually decides the end-effector variant.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paper. The tool connector can deliver 36 watts; the hand's peak demand is 120. So the flange supplies only about thirty percent of the hand's peak power. That means you cannot power a full-force grasp of all fingers straight from the tool connector. Everything in the power design follows from this one number — and it generalises to any hungry end-effector on an e-Series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clean resolutions. Concept A keeps everything on the tool connector and simply limits the current in firmware — elegant, but it derates the hand to light grasping. Concept B adds a dedicated power supply along the arm and keeps only the data on the flange — one extra cable, full force. Since we plan grasp-force experiments, deliberately weakening the hand would confound them, so Concept B is our default. Concept A stays as a clean-integration demo once we've measured the real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software runs on one Linux PC. The arm goes over Ethernet through the UR ROS 2 driver with MoveIt. The hand goes over RS-485: the vendor URCap relays the tool serial port to TCP port 54321, and socat turns that back into a local serial device the hand driver opens normally. Two takeaways — we reuse the robot's own channel instead of adding hardware, and the coding effort collapses to a thin register wrapper. The one thing we don't yet know is the relay latency; that's measured in Stage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application families the combined system enables: a grasp benchmark, force-controlled fragile grasping, teleoperation for data collection, tactile handover and gesture, and general lab handling. What ties them together — and what a parallel gripper lacks — is distributed touch inside the control loop. I want to be clear: these are enabled by the specifications; none has been demonstrated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the concrete findings, the plan to validate them, the risks and limitations, and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findings on one slide: the platforms are compatible at the flange; the single hard limit is electrical; there are two clean ways to resolve it; the hand variant is uniquely determined; the software reduces to a thin driver and bandwidth is fine; and five use-case families are enabled. All of this is established from specifications and analysis — which is exactly what a design study should deliver before hardware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validation is pre-registered in three stages. Stage 1 measures the electrical budget and the communication latency — it gates the choice between the two power concepts. Stage 2 benchmarks grasp success across a taxonomy and object set. Stage 3 compares force-controlled against position-controlled grasping on fragile objects. Each stage maps to a claim I've made, so running it will confirm or refute that claim. Again: no numbers yet — this is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integration risks — the dominant one is electrical, and it's mitigated by the external supply; the rest are standard RS-485 and collaborative-tool concerns, each with a mitigation already in the design. On the right, the limitations, stated openly: no hardware, no measurements, an illustrative bandwidth estimate, a six-DOF subset of grasps, a single right hand. Admitting these is a strength, not a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characterised both platforms, derived an integration design built around the electrical finding, mapped five use cases onto verified capability, and pre-registered a three-stage evaluation. The contribution is a design and a validation plan. The very next step, the day the hand arrives, is the Stage 1 current measurement — because that single number decides whether we can power the hand from the flange or must use the external supply. Thank you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prepared for the obvious questions: why RS-485 over EtherCAT or CAN FD (the flange decides it), why this hand (it was procured; selection is out of scope), how I'll validate the power design (Stage 1), what latency to expect (measured, not asserted), and which grasps six DOF can actually do (the reachable taxonomy 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B"/>
        </a:solidFill>
      </p:bgPr>
    </p:bg>
    <p:spTree>
      <p:nvGrpSpPr>
        <p:cNvPr id="1" name=""/>
        <p:cNvGrpSpPr/>
        <p:nvPr/>
      </p:nvGrpSpPr>
      <p:grpSpPr>
        <a:xfrm>
          <a:off x="0" y="0"/>
          <a:ext cx="0" cy="0"/>
          <a:chOff x="0" y="0"/>
          <a:chExt cx="0" cy="0"/>
        </a:xfrm>
      </p:grpSpPr>
      <p:sp>
        <p:nvSpPr>
          <p:cNvPr id="2" name="Shape 0"/>
          <p:cNvSpPr/>
          <p:nvPr/>
        </p:nvSpPr>
        <p:spPr>
          <a:xfrm>
            <a:off x="8869680" y="1874520"/>
            <a:ext cx="2651760" cy="457200"/>
          </a:xfrm>
          <a:prstGeom prst="roundRect">
            <a:avLst>
              <a:gd name="adj" fmla="val 50000"/>
            </a:avLst>
          </a:prstGeom>
          <a:solidFill>
            <a:srgbClr val="1B3A5B"/>
          </a:solidFill>
          <a:ln w="12700">
            <a:solidFill>
              <a:srgbClr val="3E7CB1"/>
            </a:solidFill>
            <a:prstDash val="solid"/>
          </a:ln>
        </p:spPr>
      </p:sp>
      <p:sp>
        <p:nvSpPr>
          <p:cNvPr id="3" name="Shape 1"/>
          <p:cNvSpPr/>
          <p:nvPr/>
        </p:nvSpPr>
        <p:spPr>
          <a:xfrm>
            <a:off x="9966960" y="2240280"/>
            <a:ext cx="457200" cy="1828800"/>
          </a:xfrm>
          <a:prstGeom prst="roundRect">
            <a:avLst>
              <a:gd name="adj" fmla="val 44000"/>
            </a:avLst>
          </a:prstGeom>
          <a:solidFill>
            <a:srgbClr val="1B3A5B"/>
          </a:solidFill>
          <a:ln w="12700">
            <a:solidFill>
              <a:srgbClr val="3E7CB1"/>
            </a:solidFill>
            <a:prstDash val="solid"/>
          </a:ln>
        </p:spPr>
      </p:sp>
      <p:sp>
        <p:nvSpPr>
          <p:cNvPr id="4" name="Shape 2"/>
          <p:cNvSpPr/>
          <p:nvPr/>
        </p:nvSpPr>
        <p:spPr>
          <a:xfrm>
            <a:off x="9464040" y="3886200"/>
            <a:ext cx="1463040" cy="1463040"/>
          </a:xfrm>
          <a:prstGeom prst="ellipse">
            <a:avLst/>
          </a:prstGeom>
          <a:solidFill>
            <a:srgbClr val="16304C"/>
          </a:solidFill>
          <a:ln w="25400">
            <a:solidFill>
              <a:srgbClr val="E8871E"/>
            </a:solidFill>
            <a:prstDash val="solid"/>
          </a:ln>
        </p:spPr>
      </p:sp>
      <p:sp>
        <p:nvSpPr>
          <p:cNvPr id="5" name="Shape 3"/>
          <p:cNvSpPr/>
          <p:nvPr/>
        </p:nvSpPr>
        <p:spPr>
          <a:xfrm>
            <a:off x="9646920" y="5166360"/>
            <a:ext cx="128016" cy="566928"/>
          </a:xfrm>
          <a:prstGeom prst="roundRect">
            <a:avLst>
              <a:gd name="adj" fmla="val 50000"/>
            </a:avLst>
          </a:prstGeom>
          <a:solidFill>
            <a:srgbClr val="E8871E"/>
          </a:solidFill>
          <a:ln/>
        </p:spPr>
      </p:sp>
      <p:sp>
        <p:nvSpPr>
          <p:cNvPr id="6" name="Shape 4"/>
          <p:cNvSpPr/>
          <p:nvPr/>
        </p:nvSpPr>
        <p:spPr>
          <a:xfrm>
            <a:off x="9902952" y="5166360"/>
            <a:ext cx="128016" cy="566928"/>
          </a:xfrm>
          <a:prstGeom prst="roundRect">
            <a:avLst>
              <a:gd name="adj" fmla="val 50000"/>
            </a:avLst>
          </a:prstGeom>
          <a:solidFill>
            <a:srgbClr val="E8871E"/>
          </a:solidFill>
          <a:ln/>
        </p:spPr>
      </p:sp>
      <p:sp>
        <p:nvSpPr>
          <p:cNvPr id="7" name="Shape 5"/>
          <p:cNvSpPr/>
          <p:nvPr/>
        </p:nvSpPr>
        <p:spPr>
          <a:xfrm>
            <a:off x="10158984" y="5166360"/>
            <a:ext cx="128016" cy="566928"/>
          </a:xfrm>
          <a:prstGeom prst="roundRect">
            <a:avLst>
              <a:gd name="adj" fmla="val 50000"/>
            </a:avLst>
          </a:prstGeom>
          <a:solidFill>
            <a:srgbClr val="E8871E"/>
          </a:solidFill>
          <a:ln/>
        </p:spPr>
      </p:sp>
      <p:sp>
        <p:nvSpPr>
          <p:cNvPr id="8" name="Shape 6"/>
          <p:cNvSpPr/>
          <p:nvPr/>
        </p:nvSpPr>
        <p:spPr>
          <a:xfrm>
            <a:off x="10415016" y="5166360"/>
            <a:ext cx="128016" cy="566928"/>
          </a:xfrm>
          <a:prstGeom prst="roundRect">
            <a:avLst>
              <a:gd name="adj" fmla="val 50000"/>
            </a:avLst>
          </a:prstGeom>
          <a:solidFill>
            <a:srgbClr val="E8871E"/>
          </a:solidFill>
          <a:ln/>
        </p:spPr>
      </p:sp>
      <p:sp>
        <p:nvSpPr>
          <p:cNvPr id="9" name="Shape 7"/>
          <p:cNvSpPr/>
          <p:nvPr/>
        </p:nvSpPr>
        <p:spPr>
          <a:xfrm>
            <a:off x="9436608" y="4800600"/>
            <a:ext cx="457200" cy="146304"/>
          </a:xfrm>
          <a:prstGeom prst="roundRect">
            <a:avLst>
              <a:gd name="adj" fmla="val 50000"/>
            </a:avLst>
          </a:prstGeom>
          <a:solidFill>
            <a:srgbClr val="F6B860"/>
          </a:solidFill>
          <a:ln/>
        </p:spPr>
      </p:sp>
      <p:sp>
        <p:nvSpPr>
          <p:cNvPr id="10" name="Text 8"/>
          <p:cNvSpPr/>
          <p:nvPr/>
        </p:nvSpPr>
        <p:spPr>
          <a:xfrm>
            <a:off x="640080" y="1005840"/>
            <a:ext cx="8229600" cy="320040"/>
          </a:xfrm>
          <a:prstGeom prst="rect">
            <a:avLst/>
          </a:prstGeom>
          <a:noFill/>
          <a:ln/>
        </p:spPr>
        <p:txBody>
          <a:bodyPr wrap="square" rtlCol="0" anchor="ctr"/>
          <a:lstStyle/>
          <a:p>
            <a:pPr indent="0" marL="0">
              <a:buNone/>
            </a:pPr>
            <a:r>
              <a:rPr lang="en-US" sz="1300" b="1" spc="200" kern="0" dirty="0">
                <a:solidFill>
                  <a:srgbClr val="E8871E"/>
                </a:solidFill>
                <a:latin typeface="Calibri" pitchFamily="34" charset="0"/>
                <a:ea typeface="Calibri" pitchFamily="34" charset="-122"/>
                <a:cs typeface="Calibri" pitchFamily="34" charset="-120"/>
              </a:rPr>
              <a:t>SEMINAR AUTONOMOUS SYSTEMS</a:t>
            </a:r>
            <a:endParaRPr lang="en-US" sz="1300" dirty="0"/>
          </a:p>
        </p:txBody>
      </p:sp>
      <p:sp>
        <p:nvSpPr>
          <p:cNvPr id="11" name="Text 9"/>
          <p:cNvSpPr/>
          <p:nvPr/>
        </p:nvSpPr>
        <p:spPr>
          <a:xfrm>
            <a:off x="603504" y="1417320"/>
            <a:ext cx="8412480" cy="1737360"/>
          </a:xfrm>
          <a:prstGeom prst="rect">
            <a:avLst/>
          </a:prstGeom>
          <a:noFill/>
          <a:ln/>
        </p:spPr>
        <p:txBody>
          <a:bodyPr wrap="square" rtlCol="0" anchor="ctr"/>
          <a:lstStyle/>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Interfacing a Five-Finger Dexterous</a:t>
            </a:r>
            <a:endParaRPr lang="en-US" sz="4000" dirty="0"/>
          </a:p>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Hand with a UR5e Arm</a:t>
            </a:r>
            <a:endParaRPr lang="en-US" sz="4000" dirty="0"/>
          </a:p>
        </p:txBody>
      </p:sp>
      <p:sp>
        <p:nvSpPr>
          <p:cNvPr id="12" name="Text 10"/>
          <p:cNvSpPr/>
          <p:nvPr/>
        </p:nvSpPr>
        <p:spPr>
          <a:xfrm>
            <a:off x="640080" y="3200400"/>
            <a:ext cx="8229600" cy="457200"/>
          </a:xfrm>
          <a:prstGeom prst="rect">
            <a:avLst/>
          </a:prstGeom>
          <a:noFill/>
          <a:ln/>
        </p:spPr>
        <p:txBody>
          <a:bodyPr wrap="square" rtlCol="0" anchor="ctr"/>
          <a:lstStyle/>
          <a:p>
            <a:pPr indent="0" marL="0">
              <a:buNone/>
            </a:pPr>
            <a:r>
              <a:rPr lang="en-US" sz="1900" i="1" dirty="0">
                <a:solidFill>
                  <a:srgbClr val="CADCFC"/>
                </a:solidFill>
                <a:latin typeface="Calibri" pitchFamily="34" charset="0"/>
                <a:ea typeface="Calibri" pitchFamily="34" charset="-122"/>
                <a:cs typeface="Calibri" pitchFamily="34" charset="-120"/>
              </a:rPr>
              <a:t>Use cases and interfacing — a design and evaluation-plan study</a:t>
            </a:r>
            <a:endParaRPr lang="en-US" sz="1900" dirty="0"/>
          </a:p>
        </p:txBody>
      </p:sp>
      <p:sp>
        <p:nvSpPr>
          <p:cNvPr id="13" name="Shape 11"/>
          <p:cNvSpPr/>
          <p:nvPr/>
        </p:nvSpPr>
        <p:spPr>
          <a:xfrm>
            <a:off x="658368" y="3950208"/>
            <a:ext cx="3108960" cy="0"/>
          </a:xfrm>
          <a:prstGeom prst="line">
            <a:avLst/>
          </a:prstGeom>
          <a:noFill/>
          <a:ln w="19050">
            <a:solidFill>
              <a:srgbClr val="3E7CB1"/>
            </a:solidFill>
            <a:prstDash val="solid"/>
          </a:ln>
        </p:spPr>
      </p:sp>
      <p:sp>
        <p:nvSpPr>
          <p:cNvPr id="14" name="Text 12"/>
          <p:cNvSpPr/>
          <p:nvPr/>
        </p:nvSpPr>
        <p:spPr>
          <a:xfrm>
            <a:off x="640080" y="4114800"/>
            <a:ext cx="7772400" cy="1097280"/>
          </a:xfrm>
          <a:prstGeom prst="rect">
            <a:avLst/>
          </a:prstGeom>
          <a:noFill/>
          <a:ln/>
        </p:spPr>
        <p:txBody>
          <a:bodyPr wrap="square" rtlCol="0" anchor="ctr"/>
          <a:lstStyle/>
          <a:p>
            <a:pPr indent="0" marL="0">
              <a:lnSpc>
                <a:spcPct val="115000"/>
              </a:lnSpc>
              <a:buNone/>
            </a:pPr>
            <a:r>
              <a:rPr lang="en-US" sz="1500" b="1" dirty="0">
                <a:solidFill>
                  <a:srgbClr val="FFFFFF"/>
                </a:solidFill>
                <a:latin typeface="Calibri" pitchFamily="34" charset="0"/>
                <a:ea typeface="Calibri" pitchFamily="34" charset="-122"/>
                <a:cs typeface="Calibri" pitchFamily="34" charset="-120"/>
              </a:rPr>
              <a:t>Siddharth Patni</a:t>
            </a:r>
            <a:endParaRPr lang="en-US" sz="1500" dirty="0"/>
          </a:p>
          <a:p>
            <a:pPr indent="0" marL="0">
              <a:lnSpc>
                <a:spcPct val="115000"/>
              </a:lnSpc>
              <a:buNone/>
            </a:pPr>
            <a:r>
              <a:rPr lang="en-US" sz="1300" dirty="0">
                <a:solidFill>
                  <a:srgbClr val="CADCFC"/>
                </a:solidFill>
                <a:latin typeface="Calibri" pitchFamily="34" charset="0"/>
                <a:ea typeface="Calibri" pitchFamily="34" charset="-122"/>
                <a:cs typeface="Calibri" pitchFamily="34" charset="-120"/>
              </a:rPr>
              <a:t>Ostfalia University of Applied Sciences  ·  Wolfenbüttel</a:t>
            </a:r>
            <a:endParaRPr lang="en-US" sz="1500" dirty="0"/>
          </a:p>
          <a:p>
            <a:pPr indent="0" marL="0">
              <a:lnSpc>
                <a:spcPct val="115000"/>
              </a:lnSpc>
              <a:buNone/>
            </a:pPr>
            <a:r>
              <a:rPr lang="en-US" sz="1300" dirty="0">
                <a:solidFill>
                  <a:srgbClr val="CADCFC"/>
                </a:solidFill>
                <a:latin typeface="Calibri" pitchFamily="34" charset="0"/>
                <a:ea typeface="Calibri" pitchFamily="34" charset="-122"/>
                <a:cs typeface="Calibri" pitchFamily="34" charset="-120"/>
              </a:rPr>
              <a:t>Prof. Dr.-Ing. Sebastian Ohl</a:t>
            </a:r>
            <a:endParaRPr lang="en-US" sz="1500" dirty="0"/>
          </a:p>
        </p:txBody>
      </p:sp>
      <p:sp>
        <p:nvSpPr>
          <p:cNvPr id="15" name="Shape 13"/>
          <p:cNvSpPr/>
          <p:nvPr/>
        </p:nvSpPr>
        <p:spPr>
          <a:xfrm>
            <a:off x="640080" y="5577840"/>
            <a:ext cx="4572000" cy="502920"/>
          </a:xfrm>
          <a:prstGeom prst="roundRect">
            <a:avLst>
              <a:gd name="adj" fmla="val 18182"/>
            </a:avLst>
          </a:prstGeom>
          <a:solidFill>
            <a:srgbClr val="16304C"/>
          </a:solidFill>
          <a:ln w="12700">
            <a:solidFill>
              <a:srgbClr val="E8871E"/>
            </a:solidFill>
            <a:prstDash val="solid"/>
          </a:ln>
        </p:spPr>
      </p:sp>
      <p:sp>
        <p:nvSpPr>
          <p:cNvPr id="16" name="Text 14"/>
          <p:cNvSpPr/>
          <p:nvPr/>
        </p:nvSpPr>
        <p:spPr>
          <a:xfrm>
            <a:off x="640080" y="5577840"/>
            <a:ext cx="4572000" cy="502920"/>
          </a:xfrm>
          <a:prstGeom prst="rect">
            <a:avLst/>
          </a:prstGeom>
          <a:noFill/>
          <a:ln/>
        </p:spPr>
        <p:txBody>
          <a:bodyPr wrap="square" rtlCol="0" anchor="ctr"/>
          <a:lstStyle/>
          <a:p>
            <a:pPr algn="ctr" indent="0" marL="0">
              <a:buNone/>
            </a:pPr>
            <a:r>
              <a:rPr lang="en-US" sz="1150" b="1" dirty="0">
                <a:solidFill>
                  <a:srgbClr val="F6B860"/>
                </a:solidFill>
                <a:latin typeface="Calibri" pitchFamily="34" charset="0"/>
                <a:ea typeface="Calibri" pitchFamily="34" charset="-122"/>
                <a:cs typeface="Calibri" pitchFamily="34" charset="-120"/>
              </a:rPr>
              <a:t>Design-stage study — hardware ordered, evaluation pending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33B"/>
        </a:solidFill>
      </p:bgPr>
    </p:bg>
    <p:spTree>
      <p:nvGrpSpPr>
        <p:cNvPr id="1" name=""/>
        <p:cNvGrpSpPr/>
        <p:nvPr/>
      </p:nvGrpSpPr>
      <p:grpSpPr>
        <a:xfrm>
          <a:off x="0" y="0"/>
          <a:ext cx="0" cy="0"/>
          <a:chOff x="0" y="0"/>
          <a:chExt cx="0" cy="0"/>
        </a:xfrm>
      </p:grpSpPr>
      <p:sp>
        <p:nvSpPr>
          <p:cNvPr id="2" name="Shape 0"/>
          <p:cNvSpPr/>
          <p:nvPr/>
        </p:nvSpPr>
        <p:spPr>
          <a:xfrm>
            <a:off x="914400" y="3063240"/>
            <a:ext cx="1005840" cy="0"/>
          </a:xfrm>
          <a:prstGeom prst="line">
            <a:avLst/>
          </a:prstGeom>
          <a:noFill/>
          <a:ln w="38100">
            <a:solidFill>
              <a:srgbClr val="E8871E"/>
            </a:solidFill>
            <a:prstDash val="solid"/>
          </a:ln>
        </p:spPr>
      </p:sp>
      <p:sp>
        <p:nvSpPr>
          <p:cNvPr id="3" name="Text 1"/>
          <p:cNvSpPr/>
          <p:nvPr/>
        </p:nvSpPr>
        <p:spPr>
          <a:xfrm>
            <a:off x="914400" y="2331720"/>
            <a:ext cx="8229600" cy="365760"/>
          </a:xfrm>
          <a:prstGeom prst="rect">
            <a:avLst/>
          </a:prstGeom>
          <a:noFill/>
          <a:ln/>
        </p:spPr>
        <p:txBody>
          <a:bodyPr wrap="square" rtlCol="0" anchor="ctr"/>
          <a:lstStyle/>
          <a:p>
            <a:pPr indent="0" marL="0">
              <a:buNone/>
            </a:pPr>
            <a:r>
              <a:rPr lang="en-US" sz="1500" b="1" spc="300" kern="0" dirty="0">
                <a:solidFill>
                  <a:srgbClr val="E8871E"/>
                </a:solidFill>
                <a:latin typeface="Calibri" pitchFamily="34" charset="0"/>
                <a:ea typeface="Calibri" pitchFamily="34" charset="-122"/>
                <a:cs typeface="Calibri" pitchFamily="34" charset="-120"/>
              </a:rPr>
              <a:t>PART I</a:t>
            </a:r>
            <a:endParaRPr lang="en-US" sz="1500" dirty="0"/>
          </a:p>
        </p:txBody>
      </p:sp>
      <p:sp>
        <p:nvSpPr>
          <p:cNvPr id="4" name="Text 2"/>
          <p:cNvSpPr/>
          <p:nvPr/>
        </p:nvSpPr>
        <p:spPr>
          <a:xfrm>
            <a:off x="877824" y="3246120"/>
            <a:ext cx="8686800" cy="13716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Introduction</a:t>
            </a:r>
            <a:endParaRPr lang="en-US" sz="4400" dirty="0"/>
          </a:p>
        </p:txBody>
      </p:sp>
      <p:sp>
        <p:nvSpPr>
          <p:cNvPr id="5" name="Text 3"/>
          <p:cNvSpPr/>
          <p:nvPr/>
        </p:nvSpPr>
        <p:spPr>
          <a:xfrm>
            <a:off x="914400" y="4617720"/>
            <a:ext cx="7772400" cy="73152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Why this project, and what it sets out to answer</a:t>
            </a:r>
            <a:endParaRPr lang="en-US" sz="1600" dirty="0"/>
          </a:p>
        </p:txBody>
      </p:sp>
      <p:sp>
        <p:nvSpPr>
          <p:cNvPr id="6" name="Text 4"/>
          <p:cNvSpPr/>
          <p:nvPr/>
        </p:nvSpPr>
        <p:spPr>
          <a:xfrm>
            <a:off x="8869680" y="1554480"/>
            <a:ext cx="2743200" cy="3291840"/>
          </a:xfrm>
          <a:prstGeom prst="rect">
            <a:avLst/>
          </a:prstGeom>
          <a:noFill/>
          <a:ln/>
        </p:spPr>
        <p:txBody>
          <a:bodyPr wrap="square" rtlCol="0" anchor="ctr"/>
          <a:lstStyle/>
          <a:p>
            <a:pPr algn="r" indent="0" marL="0">
              <a:buNone/>
            </a:pPr>
            <a:r>
              <a:rPr lang="en-US" sz="19000" b="1" dirty="0">
                <a:solidFill>
                  <a:srgbClr val="1A3350"/>
                </a:solidFill>
                <a:latin typeface="Cambria" pitchFamily="34" charset="0"/>
                <a:ea typeface="Cambria" pitchFamily="34" charset="-122"/>
                <a:cs typeface="Cambria" pitchFamily="34" charset="-120"/>
              </a:rPr>
              <a:t>I</a:t>
            </a:r>
            <a:endParaRPr lang="en-US" sz="19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BACKGROUND &amp; MOTIVATION</a:t>
            </a:r>
            <a:endParaRPr lang="en-US" sz="1200" dirty="0"/>
          </a:p>
        </p:txBody>
      </p:sp>
      <p:sp>
        <p:nvSpPr>
          <p:cNvPr id="3" name="Text 1"/>
          <p:cNvSpPr/>
          <p:nvPr/>
        </p:nvSpPr>
        <p:spPr>
          <a:xfrm>
            <a:off x="530352" y="658368"/>
            <a:ext cx="11109960" cy="731520"/>
          </a:xfrm>
          <a:prstGeom prst="rect">
            <a:avLst/>
          </a:prstGeom>
          <a:noFill/>
          <a:ln/>
        </p:spPr>
        <p:txBody>
          <a:bodyPr wrap="square" rtlCol="0" anchor="ctr"/>
          <a:lstStyle/>
          <a:p>
            <a:pPr indent="0" marL="0">
              <a:buNone/>
            </a:pPr>
            <a:r>
              <a:rPr lang="en-US" sz="2900" b="1" dirty="0">
                <a:solidFill>
                  <a:srgbClr val="12233B"/>
                </a:solidFill>
                <a:latin typeface="Cambria" pitchFamily="34" charset="0"/>
                <a:ea typeface="Cambria" pitchFamily="34" charset="-122"/>
                <a:cs typeface="Cambria" pitchFamily="34" charset="-120"/>
              </a:rPr>
              <a:t>Grippers are simple; hands are capable</a:t>
            </a:r>
            <a:endParaRPr lang="en-US" sz="2900" dirty="0"/>
          </a:p>
        </p:txBody>
      </p:sp>
      <p:sp>
        <p:nvSpPr>
          <p:cNvPr id="4" name="Text 2"/>
          <p:cNvSpPr/>
          <p:nvPr/>
        </p:nvSpPr>
        <p:spPr>
          <a:xfrm>
            <a:off x="548640" y="1463040"/>
            <a:ext cx="11064240" cy="822960"/>
          </a:xfrm>
          <a:prstGeom prst="rect">
            <a:avLst/>
          </a:prstGeom>
          <a:noFill/>
          <a:ln/>
        </p:spPr>
        <p:txBody>
          <a:bodyPr wrap="square" rtlCol="0" anchor="ctr"/>
          <a:lstStyle/>
          <a:p>
            <a:pPr indent="0" marL="0">
              <a:buNone/>
            </a:pPr>
            <a:r>
              <a:rPr lang="en-US" sz="1500" dirty="0">
                <a:solidFill>
                  <a:srgbClr val="1A2733"/>
                </a:solidFill>
                <a:latin typeface="Calibri" pitchFamily="34" charset="0"/>
                <a:ea typeface="Calibri" pitchFamily="34" charset="-122"/>
                <a:cs typeface="Calibri" pitchFamily="34" charset="-120"/>
              </a:rPr>
              <a:t>Most collaborative arms carry a two-finger gripper: robust and easy to control, but able to oppose along only one axis, and unable to re-orient what it holds. Human manipulation — using tools, opening containers, handing objects over — relies on a far richer set of grasps and on the sense of touch.</a:t>
            </a:r>
            <a:endParaRPr lang="en-US" sz="1500" dirty="0"/>
          </a:p>
        </p:txBody>
      </p:sp>
      <p:sp>
        <p:nvSpPr>
          <p:cNvPr id="5" name="Shape 3"/>
          <p:cNvSpPr/>
          <p:nvPr/>
        </p:nvSpPr>
        <p:spPr>
          <a:xfrm>
            <a:off x="548640" y="2468880"/>
            <a:ext cx="5394960" cy="3200400"/>
          </a:xfrm>
          <a:prstGeom prst="roundRect">
            <a:avLst>
              <a:gd name="adj" fmla="val 3429"/>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6" name="Shape 4"/>
          <p:cNvSpPr/>
          <p:nvPr/>
        </p:nvSpPr>
        <p:spPr>
          <a:xfrm>
            <a:off x="6245352" y="2468880"/>
            <a:ext cx="5394960" cy="3200400"/>
          </a:xfrm>
          <a:prstGeom prst="roundRect">
            <a:avLst>
              <a:gd name="adj" fmla="val 3429"/>
            </a:avLst>
          </a:prstGeom>
          <a:solidFill>
            <a:srgbClr val="14304C"/>
          </a:solidFill>
          <a:ln/>
          <a:effectLst>
            <a:outerShdw sx="100000" sy="100000" kx="0" ky="0" algn="bl" rotWithShape="0" blurRad="114300" dist="50800" dir="5400000">
              <a:srgbClr val="0B1728">
                <a:alpha val="40000"/>
              </a:srgbClr>
            </a:outerShdw>
          </a:effectLst>
        </p:spPr>
      </p:sp>
      <p:sp>
        <p:nvSpPr>
          <p:cNvPr id="7" name="Text 5"/>
          <p:cNvSpPr/>
          <p:nvPr/>
        </p:nvSpPr>
        <p:spPr>
          <a:xfrm>
            <a:off x="822960" y="2697480"/>
            <a:ext cx="4846320" cy="365760"/>
          </a:xfrm>
          <a:prstGeom prst="rect">
            <a:avLst/>
          </a:prstGeom>
          <a:noFill/>
          <a:ln/>
        </p:spPr>
        <p:txBody>
          <a:bodyPr wrap="square" rtlCol="0" anchor="ctr"/>
          <a:lstStyle/>
          <a:p>
            <a:pPr indent="0" marL="0">
              <a:buNone/>
            </a:pPr>
            <a:r>
              <a:rPr lang="en-US" sz="1800" b="1" dirty="0">
                <a:solidFill>
                  <a:srgbClr val="12233B"/>
                </a:solidFill>
                <a:latin typeface="Cambria" pitchFamily="34" charset="0"/>
                <a:ea typeface="Cambria" pitchFamily="34" charset="-122"/>
                <a:cs typeface="Cambria" pitchFamily="34" charset="-120"/>
              </a:rPr>
              <a:t>Two-finger parallel gripper</a:t>
            </a:r>
            <a:endParaRPr lang="en-US" sz="1800" dirty="0"/>
          </a:p>
        </p:txBody>
      </p:sp>
      <p:sp>
        <p:nvSpPr>
          <p:cNvPr id="8" name="Text 6"/>
          <p:cNvSpPr/>
          <p:nvPr/>
        </p:nvSpPr>
        <p:spPr>
          <a:xfrm>
            <a:off x="868680" y="3200400"/>
            <a:ext cx="4800600" cy="2286000"/>
          </a:xfrm>
          <a:prstGeom prst="rect">
            <a:avLst/>
          </a:prstGeom>
          <a:noFill/>
          <a:ln/>
        </p:spPr>
        <p:txBody>
          <a:bodyPr wrap="square" rtlCol="0" anchor="ctr"/>
          <a:lstStyle/>
          <a:p>
            <a:pPr marL="342900" indent="-342900">
              <a:spcAft>
                <a:spcPts val="800"/>
              </a:spcAft>
              <a:buSzPct val="100000"/>
              <a:buChar char="•"/>
            </a:pPr>
            <a:r>
              <a:rPr lang="en-US" sz="1400" dirty="0">
                <a:solidFill>
                  <a:srgbClr val="1A2733"/>
                </a:solidFill>
                <a:latin typeface="Calibri" pitchFamily="34" charset="0"/>
                <a:ea typeface="Calibri" pitchFamily="34" charset="-122"/>
                <a:cs typeface="Calibri" pitchFamily="34" charset="-120"/>
              </a:rPr>
              <a:t>One actuated DOF, one fixed opposition axis</a:t>
            </a:r>
            <a:endParaRPr lang="en-US" sz="1400" dirty="0"/>
          </a:p>
          <a:p>
            <a:pPr marL="342900" indent="-342900">
              <a:spcAft>
                <a:spcPts val="800"/>
              </a:spcAft>
              <a:buSzPct val="100000"/>
              <a:buChar char="•"/>
            </a:pPr>
            <a:r>
              <a:rPr lang="en-US" sz="1400" dirty="0">
                <a:solidFill>
                  <a:srgbClr val="1A2733"/>
                </a:solidFill>
                <a:latin typeface="Calibri" pitchFamily="34" charset="0"/>
                <a:ea typeface="Calibri" pitchFamily="34" charset="-122"/>
                <a:cs typeface="Calibri" pitchFamily="34" charset="-120"/>
              </a:rPr>
              <a:t>Objects must present two parallel faces</a:t>
            </a:r>
            <a:endParaRPr lang="en-US" sz="1400" dirty="0"/>
          </a:p>
          <a:p>
            <a:pPr marL="342900" indent="-342900">
              <a:spcAft>
                <a:spcPts val="800"/>
              </a:spcAft>
              <a:buSzPct val="100000"/>
              <a:buChar char="•"/>
            </a:pPr>
            <a:r>
              <a:rPr lang="en-US" sz="1400" dirty="0">
                <a:solidFill>
                  <a:srgbClr val="1A2733"/>
                </a:solidFill>
                <a:latin typeface="Calibri" pitchFamily="34" charset="0"/>
                <a:ea typeface="Calibri" pitchFamily="34" charset="-122"/>
                <a:cs typeface="Calibri" pitchFamily="34" charset="-120"/>
              </a:rPr>
              <a:t>No in-hand re-orientation</a:t>
            </a:r>
            <a:endParaRPr lang="en-US" sz="1400" dirty="0"/>
          </a:p>
          <a:p>
            <a:pPr marL="342900" indent="-342900">
              <a:spcAft>
                <a:spcPts val="800"/>
              </a:spcAft>
              <a:buSzPct val="100000"/>
              <a:buChar char="•"/>
            </a:pPr>
            <a:r>
              <a:rPr lang="en-US" sz="1400" dirty="0">
                <a:solidFill>
                  <a:srgbClr val="1A2733"/>
                </a:solidFill>
                <a:latin typeface="Calibri" pitchFamily="34" charset="0"/>
                <a:ea typeface="Calibri" pitchFamily="34" charset="-122"/>
                <a:cs typeface="Calibri" pitchFamily="34" charset="-120"/>
              </a:rPr>
              <a:t>No tripod grasp, gesture, or trigger actuation</a:t>
            </a:r>
            <a:endParaRPr lang="en-US" sz="1400" dirty="0"/>
          </a:p>
          <a:p>
            <a:pPr marL="342900" indent="-342900">
              <a:spcAft>
                <a:spcPts val="800"/>
              </a:spcAft>
              <a:buSzPct val="100000"/>
              <a:buChar char="•"/>
            </a:pPr>
            <a:r>
              <a:rPr lang="en-US" sz="1400" dirty="0">
                <a:solidFill>
                  <a:srgbClr val="1A2733"/>
                </a:solidFill>
                <a:latin typeface="Calibri" pitchFamily="34" charset="0"/>
                <a:ea typeface="Calibri" pitchFamily="34" charset="-122"/>
                <a:cs typeface="Calibri" pitchFamily="34" charset="-120"/>
              </a:rPr>
              <a:t>Contact sensing only if bolted on externally</a:t>
            </a:r>
            <a:endParaRPr lang="en-US" sz="1400" dirty="0"/>
          </a:p>
        </p:txBody>
      </p:sp>
      <p:sp>
        <p:nvSpPr>
          <p:cNvPr id="9" name="Text 7"/>
          <p:cNvSpPr/>
          <p:nvPr/>
        </p:nvSpPr>
        <p:spPr>
          <a:xfrm>
            <a:off x="6519672" y="2697480"/>
            <a:ext cx="484632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Five-finger dexterous hand</a:t>
            </a:r>
            <a:endParaRPr lang="en-US" sz="1800" dirty="0"/>
          </a:p>
        </p:txBody>
      </p:sp>
      <p:sp>
        <p:nvSpPr>
          <p:cNvPr id="10" name="Text 8"/>
          <p:cNvSpPr/>
          <p:nvPr/>
        </p:nvSpPr>
        <p:spPr>
          <a:xfrm>
            <a:off x="6565392" y="3200400"/>
            <a:ext cx="4800600" cy="2286000"/>
          </a:xfrm>
          <a:prstGeom prst="rect">
            <a:avLst/>
          </a:prstGeom>
          <a:noFill/>
          <a:ln/>
        </p:spPr>
        <p:txBody>
          <a:bodyPr wrap="square" rtlCol="0" anchor="ctr"/>
          <a:lstStyle/>
          <a:p>
            <a:pPr marL="342900" indent="-342900">
              <a:spcAft>
                <a:spcPts val="800"/>
              </a:spcAft>
              <a:buSzPct val="100000"/>
              <a:buChar char="•"/>
            </a:pPr>
            <a:r>
              <a:rPr lang="en-US" sz="1400" dirty="0">
                <a:solidFill>
                  <a:srgbClr val="CADCFC"/>
                </a:solidFill>
                <a:latin typeface="Calibri" pitchFamily="34" charset="0"/>
                <a:ea typeface="Calibri" pitchFamily="34" charset="-122"/>
                <a:cs typeface="Calibri" pitchFamily="34" charset="-120"/>
              </a:rPr>
              <a:t>Six actuators, twelve joints — thumb vs. four fingers</a:t>
            </a:r>
            <a:endParaRPr lang="en-US" sz="1400" dirty="0"/>
          </a:p>
          <a:p>
            <a:pPr marL="342900" indent="-342900">
              <a:spcAft>
                <a:spcPts val="800"/>
              </a:spcAft>
              <a:buSzPct val="100000"/>
              <a:buChar char="•"/>
            </a:pPr>
            <a:r>
              <a:rPr lang="en-US" sz="1400" dirty="0">
                <a:solidFill>
                  <a:srgbClr val="CADCFC"/>
                </a:solidFill>
                <a:latin typeface="Calibri" pitchFamily="34" charset="0"/>
                <a:ea typeface="Calibri" pitchFamily="34" charset="-122"/>
                <a:cs typeface="Calibri" pitchFamily="34" charset="-120"/>
              </a:rPr>
              <a:t>Wrap, pinch, tripod, and lateral grasps</a:t>
            </a:r>
            <a:endParaRPr lang="en-US" sz="1400" dirty="0"/>
          </a:p>
          <a:p>
            <a:pPr marL="342900" indent="-342900">
              <a:spcAft>
                <a:spcPts val="800"/>
              </a:spcAft>
              <a:buSzPct val="100000"/>
              <a:buChar char="•"/>
            </a:pPr>
            <a:r>
              <a:rPr lang="en-US" sz="1400" dirty="0">
                <a:solidFill>
                  <a:srgbClr val="CADCFC"/>
                </a:solidFill>
                <a:latin typeface="Calibri" pitchFamily="34" charset="0"/>
                <a:ea typeface="Calibri" pitchFamily="34" charset="-122"/>
                <a:cs typeface="Calibri" pitchFamily="34" charset="-120"/>
              </a:rPr>
              <a:t>Hold an object and actuate a control</a:t>
            </a:r>
            <a:endParaRPr lang="en-US" sz="1400" dirty="0"/>
          </a:p>
          <a:p>
            <a:pPr marL="342900" indent="-342900">
              <a:spcAft>
                <a:spcPts val="800"/>
              </a:spcAft>
              <a:buSzPct val="100000"/>
              <a:buChar char="•"/>
            </a:pPr>
            <a:r>
              <a:rPr lang="en-US" sz="1400" dirty="0">
                <a:solidFill>
                  <a:srgbClr val="CADCFC"/>
                </a:solidFill>
                <a:latin typeface="Calibri" pitchFamily="34" charset="0"/>
                <a:ea typeface="Calibri" pitchFamily="34" charset="-122"/>
                <a:cs typeface="Calibri" pitchFamily="34" charset="-120"/>
              </a:rPr>
              <a:t>Communicative gestures as posture vectors</a:t>
            </a:r>
            <a:endParaRPr lang="en-US" sz="1400" dirty="0"/>
          </a:p>
          <a:p>
            <a:pPr marL="342900" indent="-342900">
              <a:spcAft>
                <a:spcPts val="800"/>
              </a:spcAft>
              <a:buSzPct val="100000"/>
              <a:buChar char="•"/>
            </a:pPr>
            <a:r>
              <a:rPr lang="en-US" sz="1400" b="1" dirty="0">
                <a:solidFill>
                  <a:srgbClr val="F6B860"/>
                </a:solidFill>
                <a:latin typeface="Calibri" pitchFamily="34" charset="0"/>
                <a:ea typeface="Calibri" pitchFamily="34" charset="-122"/>
                <a:cs typeface="Calibri" pitchFamily="34" charset="-120"/>
              </a:rPr>
              <a:t>Eight tactile sensors on the same bus</a:t>
            </a:r>
            <a:endParaRPr lang="en-US" sz="1400" dirty="0"/>
          </a:p>
        </p:txBody>
      </p:sp>
      <p:sp>
        <p:nvSpPr>
          <p:cNvPr id="11" name="Text 9"/>
          <p:cNvSpPr/>
          <p:nvPr/>
        </p:nvSpPr>
        <p:spPr>
          <a:xfrm>
            <a:off x="457200" y="6473952"/>
            <a:ext cx="8961120" cy="274320"/>
          </a:xfrm>
          <a:prstGeom prst="rect">
            <a:avLst/>
          </a:prstGeom>
          <a:noFill/>
          <a:ln/>
        </p:spPr>
        <p:txBody>
          <a:bodyPr wrap="square" rtlCol="0" anchor="ctr"/>
          <a:lstStyle/>
          <a:p>
            <a:pPr indent="0" marL="0">
              <a:buNone/>
            </a:pPr>
            <a:r>
              <a:rPr lang="en-US" sz="900" dirty="0">
                <a:solidFill>
                  <a:srgbClr val="5A6B7A"/>
                </a:solidFill>
                <a:latin typeface="Calibri" pitchFamily="34" charset="0"/>
                <a:ea typeface="Calibri" pitchFamily="34" charset="-122"/>
                <a:cs typeface="Calibri" pitchFamily="34" charset="-120"/>
              </a:rPr>
              <a:t>RH56F1-E2R-T1  ×  UR5e  —  Integration Design &amp; Evaluation Plan</a:t>
            </a:r>
            <a:endParaRPr lang="en-US" sz="900" dirty="0"/>
          </a:p>
        </p:txBody>
      </p:sp>
      <p:sp>
        <p:nvSpPr>
          <p:cNvPr id="12" name="Text 10"/>
          <p:cNvSpPr/>
          <p:nvPr/>
        </p:nvSpPr>
        <p:spPr>
          <a:xfrm>
            <a:off x="11475720" y="6473952"/>
            <a:ext cx="4114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OBJECTIVES</a:t>
            </a:r>
            <a:endParaRPr lang="en-US" sz="1200" dirty="0"/>
          </a:p>
        </p:txBody>
      </p:sp>
      <p:sp>
        <p:nvSpPr>
          <p:cNvPr id="3" name="Text 1"/>
          <p:cNvSpPr/>
          <p:nvPr/>
        </p:nvSpPr>
        <p:spPr>
          <a:xfrm>
            <a:off x="530352" y="658368"/>
            <a:ext cx="11109960" cy="731520"/>
          </a:xfrm>
          <a:prstGeom prst="rect">
            <a:avLst/>
          </a:prstGeom>
          <a:noFill/>
          <a:ln/>
        </p:spPr>
        <p:txBody>
          <a:bodyPr wrap="square" rtlCol="0" anchor="ctr"/>
          <a:lstStyle/>
          <a:p>
            <a:pPr indent="0" marL="0">
              <a:buNone/>
            </a:pPr>
            <a:r>
              <a:rPr lang="en-US" sz="2900" b="1" dirty="0">
                <a:solidFill>
                  <a:srgbClr val="12233B"/>
                </a:solidFill>
                <a:latin typeface="Cambria" pitchFamily="34" charset="0"/>
                <a:ea typeface="Cambria" pitchFamily="34" charset="-122"/>
                <a:cs typeface="Cambria" pitchFamily="34" charset="-120"/>
              </a:rPr>
              <a:t>Two research questions</a:t>
            </a:r>
            <a:endParaRPr lang="en-US" sz="2900" dirty="0"/>
          </a:p>
        </p:txBody>
      </p:sp>
      <p:sp>
        <p:nvSpPr>
          <p:cNvPr id="4" name="Shape 2"/>
          <p:cNvSpPr/>
          <p:nvPr/>
        </p:nvSpPr>
        <p:spPr>
          <a:xfrm>
            <a:off x="548640" y="1645920"/>
            <a:ext cx="5394960" cy="2286000"/>
          </a:xfrm>
          <a:prstGeom prst="roundRect">
            <a:avLst>
              <a:gd name="adj" fmla="val 4800"/>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5" name="Shape 3"/>
          <p:cNvSpPr/>
          <p:nvPr/>
        </p:nvSpPr>
        <p:spPr>
          <a:xfrm>
            <a:off x="6245352" y="1645920"/>
            <a:ext cx="5394960" cy="2286000"/>
          </a:xfrm>
          <a:prstGeom prst="roundRect">
            <a:avLst>
              <a:gd name="adj" fmla="val 4800"/>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6" name="Shape 4"/>
          <p:cNvSpPr/>
          <p:nvPr/>
        </p:nvSpPr>
        <p:spPr>
          <a:xfrm>
            <a:off x="822960" y="1920240"/>
            <a:ext cx="658368" cy="658368"/>
          </a:xfrm>
          <a:prstGeom prst="ellipse">
            <a:avLst/>
          </a:prstGeom>
          <a:solidFill>
            <a:srgbClr val="3E7CB1"/>
          </a:solidFill>
          <a:ln/>
          <a:effectLst>
            <a:outerShdw sx="100000" sy="100000" kx="0" ky="0" algn="bl" rotWithShape="0" blurRad="76200" dist="38100" dir="5400000">
              <a:srgbClr val="8FA3B5">
                <a:alpha val="35000"/>
              </a:srgbClr>
            </a:outerShdw>
          </a:effectLst>
        </p:spPr>
      </p:sp>
      <p:sp>
        <p:nvSpPr>
          <p:cNvPr id="7" name="Text 5"/>
          <p:cNvSpPr/>
          <p:nvPr/>
        </p:nvSpPr>
        <p:spPr>
          <a:xfrm>
            <a:off x="822960" y="1920240"/>
            <a:ext cx="658368" cy="65836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Q1</a:t>
            </a:r>
            <a:endParaRPr lang="en-US" sz="1500" dirty="0"/>
          </a:p>
        </p:txBody>
      </p:sp>
      <p:sp>
        <p:nvSpPr>
          <p:cNvPr id="8" name="Shape 6"/>
          <p:cNvSpPr/>
          <p:nvPr/>
        </p:nvSpPr>
        <p:spPr>
          <a:xfrm>
            <a:off x="6519672" y="1920240"/>
            <a:ext cx="658368" cy="658368"/>
          </a:xfrm>
          <a:prstGeom prst="ellipse">
            <a:avLst/>
          </a:prstGeom>
          <a:solidFill>
            <a:srgbClr val="E8871E"/>
          </a:solidFill>
          <a:ln/>
          <a:effectLst>
            <a:outerShdw sx="100000" sy="100000" kx="0" ky="0" algn="bl" rotWithShape="0" blurRad="76200" dist="38100" dir="5400000">
              <a:srgbClr val="8FA3B5">
                <a:alpha val="35000"/>
              </a:srgbClr>
            </a:outerShdw>
          </a:effectLst>
        </p:spPr>
      </p:sp>
      <p:sp>
        <p:nvSpPr>
          <p:cNvPr id="9" name="Text 7"/>
          <p:cNvSpPr/>
          <p:nvPr/>
        </p:nvSpPr>
        <p:spPr>
          <a:xfrm>
            <a:off x="6519672" y="1920240"/>
            <a:ext cx="658368" cy="65836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Q2</a:t>
            </a:r>
            <a:endParaRPr lang="en-US" sz="1500" dirty="0"/>
          </a:p>
        </p:txBody>
      </p:sp>
      <p:sp>
        <p:nvSpPr>
          <p:cNvPr id="10" name="Text 8"/>
          <p:cNvSpPr/>
          <p:nvPr/>
        </p:nvSpPr>
        <p:spPr>
          <a:xfrm>
            <a:off x="1645920" y="1965960"/>
            <a:ext cx="4114800" cy="548640"/>
          </a:xfrm>
          <a:prstGeom prst="rect">
            <a:avLst/>
          </a:prstGeom>
          <a:noFill/>
          <a:ln/>
        </p:spPr>
        <p:txBody>
          <a:bodyPr wrap="square" rtlCol="0" anchor="ctr"/>
          <a:lstStyle/>
          <a:p>
            <a:pPr indent="0" marL="0">
              <a:buNone/>
            </a:pPr>
            <a:r>
              <a:rPr lang="en-US" sz="1700" b="1" dirty="0">
                <a:solidFill>
                  <a:srgbClr val="12233B"/>
                </a:solidFill>
                <a:latin typeface="Cambria" pitchFamily="34" charset="0"/>
                <a:ea typeface="Cambria" pitchFamily="34" charset="-122"/>
                <a:cs typeface="Cambria" pitchFamily="34" charset="-120"/>
              </a:rPr>
              <a:t>How is the hand interfaced?</a:t>
            </a:r>
            <a:endParaRPr lang="en-US" sz="1700" dirty="0"/>
          </a:p>
        </p:txBody>
      </p:sp>
      <p:sp>
        <p:nvSpPr>
          <p:cNvPr id="11" name="Text 9"/>
          <p:cNvSpPr/>
          <p:nvPr/>
        </p:nvSpPr>
        <p:spPr>
          <a:xfrm>
            <a:off x="868680" y="2743200"/>
            <a:ext cx="4892040" cy="1005840"/>
          </a:xfrm>
          <a:prstGeom prst="rect">
            <a:avLst/>
          </a:prstGeom>
          <a:noFill/>
          <a:ln/>
        </p:spPr>
        <p:txBody>
          <a:bodyPr wrap="square" rtlCol="0" anchor="ctr"/>
          <a:lstStyle/>
          <a:p>
            <a:pPr indent="0" marL="0">
              <a:buNone/>
            </a:pPr>
            <a:r>
              <a:rPr lang="en-US" sz="1400" dirty="0">
                <a:solidFill>
                  <a:srgbClr val="1A2733"/>
                </a:solidFill>
                <a:latin typeface="Calibri" pitchFamily="34" charset="0"/>
                <a:ea typeface="Calibri" pitchFamily="34" charset="-122"/>
                <a:cs typeface="Calibri" pitchFamily="34" charset="-120"/>
              </a:rPr>
              <a:t>Mechanically, electrically, and in software — so that arm and hand are driven from one coherent control stack.</a:t>
            </a:r>
            <a:endParaRPr lang="en-US" sz="1400" dirty="0"/>
          </a:p>
        </p:txBody>
      </p:sp>
      <p:sp>
        <p:nvSpPr>
          <p:cNvPr id="12" name="Text 10"/>
          <p:cNvSpPr/>
          <p:nvPr/>
        </p:nvSpPr>
        <p:spPr>
          <a:xfrm>
            <a:off x="7342632" y="1965960"/>
            <a:ext cx="4114800" cy="548640"/>
          </a:xfrm>
          <a:prstGeom prst="rect">
            <a:avLst/>
          </a:prstGeom>
          <a:noFill/>
          <a:ln/>
        </p:spPr>
        <p:txBody>
          <a:bodyPr wrap="square" rtlCol="0" anchor="ctr"/>
          <a:lstStyle/>
          <a:p>
            <a:pPr indent="0" marL="0">
              <a:buNone/>
            </a:pPr>
            <a:r>
              <a:rPr lang="en-US" sz="1700" b="1" dirty="0">
                <a:solidFill>
                  <a:srgbClr val="12233B"/>
                </a:solidFill>
                <a:latin typeface="Cambria" pitchFamily="34" charset="0"/>
                <a:ea typeface="Cambria" pitchFamily="34" charset="-122"/>
                <a:cs typeface="Cambria" pitchFamily="34" charset="-120"/>
              </a:rPr>
              <a:t>What does it make possible?</a:t>
            </a:r>
            <a:endParaRPr lang="en-US" sz="1700" dirty="0"/>
          </a:p>
        </p:txBody>
      </p:sp>
      <p:sp>
        <p:nvSpPr>
          <p:cNvPr id="13" name="Text 11"/>
          <p:cNvSpPr/>
          <p:nvPr/>
        </p:nvSpPr>
        <p:spPr>
          <a:xfrm>
            <a:off x="6565392" y="2743200"/>
            <a:ext cx="4892040" cy="1005840"/>
          </a:xfrm>
          <a:prstGeom prst="rect">
            <a:avLst/>
          </a:prstGeom>
          <a:noFill/>
          <a:ln/>
        </p:spPr>
        <p:txBody>
          <a:bodyPr wrap="square" rtlCol="0" anchor="ctr"/>
          <a:lstStyle/>
          <a:p>
            <a:pPr indent="0" marL="0">
              <a:buNone/>
            </a:pPr>
            <a:r>
              <a:rPr lang="en-US" sz="1400" dirty="0">
                <a:solidFill>
                  <a:srgbClr val="1A2733"/>
                </a:solidFill>
                <a:latin typeface="Calibri" pitchFamily="34" charset="0"/>
                <a:ea typeface="Calibri" pitchFamily="34" charset="-122"/>
                <a:cs typeface="Calibri" pitchFamily="34" charset="-120"/>
              </a:rPr>
              <a:t>Which application classes become feasible that a parallel gripper cannot deliver, within the scope of a student project.</a:t>
            </a:r>
            <a:endParaRPr lang="en-US" sz="1400" dirty="0"/>
          </a:p>
        </p:txBody>
      </p:sp>
      <p:sp>
        <p:nvSpPr>
          <p:cNvPr id="14" name="Text 12"/>
          <p:cNvSpPr/>
          <p:nvPr/>
        </p:nvSpPr>
        <p:spPr>
          <a:xfrm>
            <a:off x="548640" y="4206240"/>
            <a:ext cx="10972800" cy="320040"/>
          </a:xfrm>
          <a:prstGeom prst="rect">
            <a:avLst/>
          </a:prstGeom>
          <a:noFill/>
          <a:ln/>
        </p:spPr>
        <p:txBody>
          <a:bodyPr wrap="square" rtlCol="0" anchor="ctr"/>
          <a:lstStyle/>
          <a:p>
            <a:pPr indent="0" marL="0">
              <a:buNone/>
            </a:pPr>
            <a:r>
              <a:rPr lang="en-US" sz="1400" b="1" dirty="0">
                <a:solidFill>
                  <a:srgbClr val="12233B"/>
                </a:solidFill>
                <a:latin typeface="Calibri" pitchFamily="34" charset="0"/>
                <a:ea typeface="Calibri" pitchFamily="34" charset="-122"/>
                <a:cs typeface="Calibri" pitchFamily="34" charset="-120"/>
              </a:rPr>
              <a:t>The paper answers both at the design level and contributes:</a:t>
            </a:r>
            <a:endParaRPr lang="en-US" sz="1400" dirty="0"/>
          </a:p>
        </p:txBody>
      </p:sp>
      <p:sp>
        <p:nvSpPr>
          <p:cNvPr id="15" name="Shape 13"/>
          <p:cNvSpPr/>
          <p:nvPr/>
        </p:nvSpPr>
        <p:spPr>
          <a:xfrm>
            <a:off x="548640" y="4617720"/>
            <a:ext cx="2606040" cy="1417320"/>
          </a:xfrm>
          <a:prstGeom prst="roundRect">
            <a:avLst>
              <a:gd name="adj" fmla="val 6452"/>
            </a:avLst>
          </a:prstGeom>
          <a:solidFill>
            <a:srgbClr val="F3F7FB"/>
          </a:solidFill>
          <a:ln w="12700">
            <a:solidFill>
              <a:srgbClr val="D5DEE8"/>
            </a:solidFill>
            <a:prstDash val="solid"/>
          </a:ln>
        </p:spPr>
      </p:sp>
      <p:sp>
        <p:nvSpPr>
          <p:cNvPr id="16" name="Shape 14"/>
          <p:cNvSpPr/>
          <p:nvPr/>
        </p:nvSpPr>
        <p:spPr>
          <a:xfrm>
            <a:off x="749808" y="4800600"/>
            <a:ext cx="457200" cy="457200"/>
          </a:xfrm>
          <a:prstGeom prst="ellipse">
            <a:avLst/>
          </a:prstGeom>
          <a:solidFill>
            <a:srgbClr val="1B3A5B"/>
          </a:solidFill>
          <a:ln/>
          <a:effectLst>
            <a:outerShdw sx="100000" sy="100000" kx="0" ky="0" algn="bl" rotWithShape="0" blurRad="76200" dist="38100" dir="5400000">
              <a:srgbClr val="8FA3B5">
                <a:alpha val="35000"/>
              </a:srgbClr>
            </a:outerShdw>
          </a:effectLst>
        </p:spPr>
      </p:sp>
      <p:sp>
        <p:nvSpPr>
          <p:cNvPr id="17" name="Text 15"/>
          <p:cNvSpPr/>
          <p:nvPr/>
        </p:nvSpPr>
        <p:spPr>
          <a:xfrm>
            <a:off x="749808" y="480060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8" name="Text 16"/>
          <p:cNvSpPr/>
          <p:nvPr/>
        </p:nvSpPr>
        <p:spPr>
          <a:xfrm>
            <a:off x="731520" y="5303520"/>
            <a:ext cx="2286000" cy="320040"/>
          </a:xfrm>
          <a:prstGeom prst="rect">
            <a:avLst/>
          </a:prstGeom>
          <a:noFill/>
          <a:ln/>
        </p:spPr>
        <p:txBody>
          <a:bodyPr wrap="square" rtlCol="0" anchor="ctr"/>
          <a:lstStyle/>
          <a:p>
            <a:pPr indent="0" marL="0">
              <a:buNone/>
            </a:pPr>
            <a:r>
              <a:rPr lang="en-US" sz="1350" b="1" dirty="0">
                <a:solidFill>
                  <a:srgbClr val="E8871E"/>
                </a:solidFill>
                <a:latin typeface="Cambria" pitchFamily="34" charset="0"/>
                <a:ea typeface="Cambria" pitchFamily="34" charset="-122"/>
                <a:cs typeface="Cambria" pitchFamily="34" charset="-120"/>
              </a:rPr>
              <a:t>Characterisation</a:t>
            </a:r>
            <a:endParaRPr lang="en-US" sz="1350" dirty="0"/>
          </a:p>
        </p:txBody>
      </p:sp>
      <p:sp>
        <p:nvSpPr>
          <p:cNvPr id="19" name="Text 17"/>
          <p:cNvSpPr/>
          <p:nvPr/>
        </p:nvSpPr>
        <p:spPr>
          <a:xfrm>
            <a:off x="731520" y="5596128"/>
            <a:ext cx="2331720" cy="457200"/>
          </a:xfrm>
          <a:prstGeom prst="rect">
            <a:avLst/>
          </a:prstGeom>
          <a:noFill/>
          <a:ln/>
        </p:spPr>
        <p:txBody>
          <a:bodyPr wrap="square" rtlCol="0" anchor="ctr"/>
          <a:lstStyle/>
          <a:p>
            <a:pPr indent="0" marL="0">
              <a:buNone/>
            </a:pPr>
            <a:r>
              <a:rPr lang="en-US" sz="1100" dirty="0">
                <a:solidFill>
                  <a:srgbClr val="1A2733"/>
                </a:solidFill>
                <a:latin typeface="Calibri" pitchFamily="34" charset="0"/>
                <a:ea typeface="Calibri" pitchFamily="34" charset="-122"/>
                <a:cs typeface="Calibri" pitchFamily="34" charset="-120"/>
              </a:rPr>
              <a:t>of both platforms from vendor documentation</a:t>
            </a:r>
            <a:endParaRPr lang="en-US" sz="1100" dirty="0"/>
          </a:p>
        </p:txBody>
      </p:sp>
      <p:sp>
        <p:nvSpPr>
          <p:cNvPr id="20" name="Shape 18"/>
          <p:cNvSpPr/>
          <p:nvPr/>
        </p:nvSpPr>
        <p:spPr>
          <a:xfrm>
            <a:off x="3337560" y="4617720"/>
            <a:ext cx="2606040" cy="1417320"/>
          </a:xfrm>
          <a:prstGeom prst="roundRect">
            <a:avLst>
              <a:gd name="adj" fmla="val 6452"/>
            </a:avLst>
          </a:prstGeom>
          <a:solidFill>
            <a:srgbClr val="F3F7FB"/>
          </a:solidFill>
          <a:ln w="12700">
            <a:solidFill>
              <a:srgbClr val="D5DEE8"/>
            </a:solidFill>
            <a:prstDash val="solid"/>
          </a:ln>
        </p:spPr>
      </p:sp>
      <p:sp>
        <p:nvSpPr>
          <p:cNvPr id="21" name="Shape 19"/>
          <p:cNvSpPr/>
          <p:nvPr/>
        </p:nvSpPr>
        <p:spPr>
          <a:xfrm>
            <a:off x="3538728" y="4800600"/>
            <a:ext cx="457200" cy="457200"/>
          </a:xfrm>
          <a:prstGeom prst="ellipse">
            <a:avLst/>
          </a:prstGeom>
          <a:solidFill>
            <a:srgbClr val="1B3A5B"/>
          </a:solidFill>
          <a:ln/>
          <a:effectLst>
            <a:outerShdw sx="100000" sy="100000" kx="0" ky="0" algn="bl" rotWithShape="0" blurRad="76200" dist="38100" dir="5400000">
              <a:srgbClr val="8FA3B5">
                <a:alpha val="35000"/>
              </a:srgbClr>
            </a:outerShdw>
          </a:effectLst>
        </p:spPr>
      </p:sp>
      <p:sp>
        <p:nvSpPr>
          <p:cNvPr id="22" name="Text 20"/>
          <p:cNvSpPr/>
          <p:nvPr/>
        </p:nvSpPr>
        <p:spPr>
          <a:xfrm>
            <a:off x="3538728" y="480060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23" name="Text 21"/>
          <p:cNvSpPr/>
          <p:nvPr/>
        </p:nvSpPr>
        <p:spPr>
          <a:xfrm>
            <a:off x="3520440" y="5303520"/>
            <a:ext cx="2286000" cy="320040"/>
          </a:xfrm>
          <a:prstGeom prst="rect">
            <a:avLst/>
          </a:prstGeom>
          <a:noFill/>
          <a:ln/>
        </p:spPr>
        <p:txBody>
          <a:bodyPr wrap="square" rtlCol="0" anchor="ctr"/>
          <a:lstStyle/>
          <a:p>
            <a:pPr indent="0" marL="0">
              <a:buNone/>
            </a:pPr>
            <a:r>
              <a:rPr lang="en-US" sz="1350" b="1" dirty="0">
                <a:solidFill>
                  <a:srgbClr val="E8871E"/>
                </a:solidFill>
                <a:latin typeface="Cambria" pitchFamily="34" charset="0"/>
                <a:ea typeface="Cambria" pitchFamily="34" charset="-122"/>
                <a:cs typeface="Cambria" pitchFamily="34" charset="-120"/>
              </a:rPr>
              <a:t>Integration design</a:t>
            </a:r>
            <a:endParaRPr lang="en-US" sz="1350" dirty="0"/>
          </a:p>
        </p:txBody>
      </p:sp>
      <p:sp>
        <p:nvSpPr>
          <p:cNvPr id="24" name="Text 22"/>
          <p:cNvSpPr/>
          <p:nvPr/>
        </p:nvSpPr>
        <p:spPr>
          <a:xfrm>
            <a:off x="3520440" y="5596128"/>
            <a:ext cx="2331720" cy="457200"/>
          </a:xfrm>
          <a:prstGeom prst="rect">
            <a:avLst/>
          </a:prstGeom>
          <a:noFill/>
          <a:ln/>
        </p:spPr>
        <p:txBody>
          <a:bodyPr wrap="square" rtlCol="0" anchor="ctr"/>
          <a:lstStyle/>
          <a:p>
            <a:pPr indent="0" marL="0">
              <a:buNone/>
            </a:pPr>
            <a:r>
              <a:rPr lang="en-US" sz="1100" dirty="0">
                <a:solidFill>
                  <a:srgbClr val="1A2733"/>
                </a:solidFill>
                <a:latin typeface="Calibri" pitchFamily="34" charset="0"/>
                <a:ea typeface="Calibri" pitchFamily="34" charset="-122"/>
                <a:cs typeface="Calibri" pitchFamily="34" charset="-120"/>
              </a:rPr>
              <a:t>mechanics, power, comms, software</a:t>
            </a:r>
            <a:endParaRPr lang="en-US" sz="1100" dirty="0"/>
          </a:p>
        </p:txBody>
      </p:sp>
      <p:sp>
        <p:nvSpPr>
          <p:cNvPr id="25" name="Shape 23"/>
          <p:cNvSpPr/>
          <p:nvPr/>
        </p:nvSpPr>
        <p:spPr>
          <a:xfrm>
            <a:off x="6126480" y="4617720"/>
            <a:ext cx="2606040" cy="1417320"/>
          </a:xfrm>
          <a:prstGeom prst="roundRect">
            <a:avLst>
              <a:gd name="adj" fmla="val 6452"/>
            </a:avLst>
          </a:prstGeom>
          <a:solidFill>
            <a:srgbClr val="F3F7FB"/>
          </a:solidFill>
          <a:ln w="12700">
            <a:solidFill>
              <a:srgbClr val="D5DEE8"/>
            </a:solidFill>
            <a:prstDash val="solid"/>
          </a:ln>
        </p:spPr>
      </p:sp>
      <p:sp>
        <p:nvSpPr>
          <p:cNvPr id="26" name="Shape 24"/>
          <p:cNvSpPr/>
          <p:nvPr/>
        </p:nvSpPr>
        <p:spPr>
          <a:xfrm>
            <a:off x="6327648" y="4800600"/>
            <a:ext cx="457200" cy="457200"/>
          </a:xfrm>
          <a:prstGeom prst="ellipse">
            <a:avLst/>
          </a:prstGeom>
          <a:solidFill>
            <a:srgbClr val="1B3A5B"/>
          </a:solidFill>
          <a:ln/>
          <a:effectLst>
            <a:outerShdw sx="100000" sy="100000" kx="0" ky="0" algn="bl" rotWithShape="0" blurRad="76200" dist="38100" dir="5400000">
              <a:srgbClr val="8FA3B5">
                <a:alpha val="35000"/>
              </a:srgbClr>
            </a:outerShdw>
          </a:effectLst>
        </p:spPr>
      </p:sp>
      <p:sp>
        <p:nvSpPr>
          <p:cNvPr id="27" name="Text 25"/>
          <p:cNvSpPr/>
          <p:nvPr/>
        </p:nvSpPr>
        <p:spPr>
          <a:xfrm>
            <a:off x="6327648" y="480060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8" name="Text 26"/>
          <p:cNvSpPr/>
          <p:nvPr/>
        </p:nvSpPr>
        <p:spPr>
          <a:xfrm>
            <a:off x="6309360" y="5303520"/>
            <a:ext cx="2286000" cy="320040"/>
          </a:xfrm>
          <a:prstGeom prst="rect">
            <a:avLst/>
          </a:prstGeom>
          <a:noFill/>
          <a:ln/>
        </p:spPr>
        <p:txBody>
          <a:bodyPr wrap="square" rtlCol="0" anchor="ctr"/>
          <a:lstStyle/>
          <a:p>
            <a:pPr indent="0" marL="0">
              <a:buNone/>
            </a:pPr>
            <a:r>
              <a:rPr lang="en-US" sz="1350" b="1" dirty="0">
                <a:solidFill>
                  <a:srgbClr val="E8871E"/>
                </a:solidFill>
                <a:latin typeface="Cambria" pitchFamily="34" charset="0"/>
                <a:ea typeface="Cambria" pitchFamily="34" charset="-122"/>
                <a:cs typeface="Cambria" pitchFamily="34" charset="-120"/>
              </a:rPr>
              <a:t>Use-case mapping</a:t>
            </a:r>
            <a:endParaRPr lang="en-US" sz="1350" dirty="0"/>
          </a:p>
        </p:txBody>
      </p:sp>
      <p:sp>
        <p:nvSpPr>
          <p:cNvPr id="29" name="Text 27"/>
          <p:cNvSpPr/>
          <p:nvPr/>
        </p:nvSpPr>
        <p:spPr>
          <a:xfrm>
            <a:off x="6309360" y="5596128"/>
            <a:ext cx="2331720" cy="457200"/>
          </a:xfrm>
          <a:prstGeom prst="rect">
            <a:avLst/>
          </a:prstGeom>
          <a:noFill/>
          <a:ln/>
        </p:spPr>
        <p:txBody>
          <a:bodyPr wrap="square" rtlCol="0" anchor="ctr"/>
          <a:lstStyle/>
          <a:p>
            <a:pPr indent="0" marL="0">
              <a:buNone/>
            </a:pPr>
            <a:r>
              <a:rPr lang="en-US" sz="1100" dirty="0">
                <a:solidFill>
                  <a:srgbClr val="1A2733"/>
                </a:solidFill>
                <a:latin typeface="Calibri" pitchFamily="34" charset="0"/>
                <a:ea typeface="Calibri" pitchFamily="34" charset="-122"/>
                <a:cs typeface="Calibri" pitchFamily="34" charset="-120"/>
              </a:rPr>
              <a:t>five families onto verified capability</a:t>
            </a:r>
            <a:endParaRPr lang="en-US" sz="1100" dirty="0"/>
          </a:p>
        </p:txBody>
      </p:sp>
      <p:sp>
        <p:nvSpPr>
          <p:cNvPr id="30" name="Shape 28"/>
          <p:cNvSpPr/>
          <p:nvPr/>
        </p:nvSpPr>
        <p:spPr>
          <a:xfrm>
            <a:off x="8915400" y="4617720"/>
            <a:ext cx="2606040" cy="1417320"/>
          </a:xfrm>
          <a:prstGeom prst="roundRect">
            <a:avLst>
              <a:gd name="adj" fmla="val 6452"/>
            </a:avLst>
          </a:prstGeom>
          <a:solidFill>
            <a:srgbClr val="F3F7FB"/>
          </a:solidFill>
          <a:ln w="12700">
            <a:solidFill>
              <a:srgbClr val="D5DEE8"/>
            </a:solidFill>
            <a:prstDash val="solid"/>
          </a:ln>
        </p:spPr>
      </p:sp>
      <p:sp>
        <p:nvSpPr>
          <p:cNvPr id="31" name="Shape 29"/>
          <p:cNvSpPr/>
          <p:nvPr/>
        </p:nvSpPr>
        <p:spPr>
          <a:xfrm>
            <a:off x="9116568" y="4800600"/>
            <a:ext cx="457200" cy="457200"/>
          </a:xfrm>
          <a:prstGeom prst="ellipse">
            <a:avLst/>
          </a:prstGeom>
          <a:solidFill>
            <a:srgbClr val="1B3A5B"/>
          </a:solidFill>
          <a:ln/>
          <a:effectLst>
            <a:outerShdw sx="100000" sy="100000" kx="0" ky="0" algn="bl" rotWithShape="0" blurRad="76200" dist="38100" dir="5400000">
              <a:srgbClr val="8FA3B5">
                <a:alpha val="35000"/>
              </a:srgbClr>
            </a:outerShdw>
          </a:effectLst>
        </p:spPr>
      </p:sp>
      <p:sp>
        <p:nvSpPr>
          <p:cNvPr id="32" name="Text 30"/>
          <p:cNvSpPr/>
          <p:nvPr/>
        </p:nvSpPr>
        <p:spPr>
          <a:xfrm>
            <a:off x="9116568" y="480060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33" name="Text 31"/>
          <p:cNvSpPr/>
          <p:nvPr/>
        </p:nvSpPr>
        <p:spPr>
          <a:xfrm>
            <a:off x="9098280" y="5303520"/>
            <a:ext cx="2286000" cy="320040"/>
          </a:xfrm>
          <a:prstGeom prst="rect">
            <a:avLst/>
          </a:prstGeom>
          <a:noFill/>
          <a:ln/>
        </p:spPr>
        <p:txBody>
          <a:bodyPr wrap="square" rtlCol="0" anchor="ctr"/>
          <a:lstStyle/>
          <a:p>
            <a:pPr indent="0" marL="0">
              <a:buNone/>
            </a:pPr>
            <a:r>
              <a:rPr lang="en-US" sz="1350" b="1" dirty="0">
                <a:solidFill>
                  <a:srgbClr val="E8871E"/>
                </a:solidFill>
                <a:latin typeface="Cambria" pitchFamily="34" charset="0"/>
                <a:ea typeface="Cambria" pitchFamily="34" charset="-122"/>
                <a:cs typeface="Cambria" pitchFamily="34" charset="-120"/>
              </a:rPr>
              <a:t>Evaluation plan</a:t>
            </a:r>
            <a:endParaRPr lang="en-US" sz="1350" dirty="0"/>
          </a:p>
        </p:txBody>
      </p:sp>
      <p:sp>
        <p:nvSpPr>
          <p:cNvPr id="34" name="Text 32"/>
          <p:cNvSpPr/>
          <p:nvPr/>
        </p:nvSpPr>
        <p:spPr>
          <a:xfrm>
            <a:off x="9098280" y="5596128"/>
            <a:ext cx="2331720" cy="457200"/>
          </a:xfrm>
          <a:prstGeom prst="rect">
            <a:avLst/>
          </a:prstGeom>
          <a:noFill/>
          <a:ln/>
        </p:spPr>
        <p:txBody>
          <a:bodyPr wrap="square" rtlCol="0" anchor="ctr"/>
          <a:lstStyle/>
          <a:p>
            <a:pPr indent="0" marL="0">
              <a:buNone/>
            </a:pPr>
            <a:r>
              <a:rPr lang="en-US" sz="1100" dirty="0">
                <a:solidFill>
                  <a:srgbClr val="1A2733"/>
                </a:solidFill>
                <a:latin typeface="Calibri" pitchFamily="34" charset="0"/>
                <a:ea typeface="Calibri" pitchFamily="34" charset="-122"/>
                <a:cs typeface="Calibri" pitchFamily="34" charset="-120"/>
              </a:rPr>
              <a:t>a pre-registered three-stage protocol</a:t>
            </a:r>
            <a:endParaRPr lang="en-US" sz="1100" dirty="0"/>
          </a:p>
        </p:txBody>
      </p:sp>
      <p:sp>
        <p:nvSpPr>
          <p:cNvPr id="35" name="Text 33"/>
          <p:cNvSpPr/>
          <p:nvPr/>
        </p:nvSpPr>
        <p:spPr>
          <a:xfrm>
            <a:off x="457200" y="6473952"/>
            <a:ext cx="8961120" cy="274320"/>
          </a:xfrm>
          <a:prstGeom prst="rect">
            <a:avLst/>
          </a:prstGeom>
          <a:noFill/>
          <a:ln/>
        </p:spPr>
        <p:txBody>
          <a:bodyPr wrap="square" rtlCol="0" anchor="ctr"/>
          <a:lstStyle/>
          <a:p>
            <a:pPr indent="0" marL="0">
              <a:buNone/>
            </a:pPr>
            <a:r>
              <a:rPr lang="en-US" sz="900" dirty="0">
                <a:solidFill>
                  <a:srgbClr val="5A6B7A"/>
                </a:solidFill>
                <a:latin typeface="Calibri" pitchFamily="34" charset="0"/>
                <a:ea typeface="Calibri" pitchFamily="34" charset="-122"/>
                <a:cs typeface="Calibri" pitchFamily="34" charset="-120"/>
              </a:rPr>
              <a:t>RH56F1-E2R-T1  ×  UR5e  —  Integration Design &amp; Evaluation Plan</a:t>
            </a:r>
            <a:endParaRPr lang="en-US" sz="900" dirty="0"/>
          </a:p>
        </p:txBody>
      </p:sp>
      <p:sp>
        <p:nvSpPr>
          <p:cNvPr id="36" name="Text 34"/>
          <p:cNvSpPr/>
          <p:nvPr/>
        </p:nvSpPr>
        <p:spPr>
          <a:xfrm>
            <a:off x="11475720" y="6473952"/>
            <a:ext cx="4114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SCOPE</a:t>
            </a:r>
            <a:endParaRPr lang="en-US" sz="1200" dirty="0"/>
          </a:p>
        </p:txBody>
      </p:sp>
      <p:sp>
        <p:nvSpPr>
          <p:cNvPr id="3" name="Text 1"/>
          <p:cNvSpPr/>
          <p:nvPr/>
        </p:nvSpPr>
        <p:spPr>
          <a:xfrm>
            <a:off x="530352" y="658368"/>
            <a:ext cx="11109960" cy="731520"/>
          </a:xfrm>
          <a:prstGeom prst="rect">
            <a:avLst/>
          </a:prstGeom>
          <a:noFill/>
          <a:ln/>
        </p:spPr>
        <p:txBody>
          <a:bodyPr wrap="square" rtlCol="0" anchor="ctr"/>
          <a:lstStyle/>
          <a:p>
            <a:pPr indent="0" marL="0">
              <a:buNone/>
            </a:pPr>
            <a:r>
              <a:rPr lang="en-US" sz="2900" b="1" dirty="0">
                <a:solidFill>
                  <a:srgbClr val="12233B"/>
                </a:solidFill>
                <a:latin typeface="Cambria" pitchFamily="34" charset="0"/>
                <a:ea typeface="Cambria" pitchFamily="34" charset="-122"/>
                <a:cs typeface="Cambria" pitchFamily="34" charset="-120"/>
              </a:rPr>
              <a:t>What this study is — and is not</a:t>
            </a:r>
            <a:endParaRPr lang="en-US" sz="2900" dirty="0"/>
          </a:p>
        </p:txBody>
      </p:sp>
      <p:sp>
        <p:nvSpPr>
          <p:cNvPr id="4" name="Shape 2"/>
          <p:cNvSpPr/>
          <p:nvPr/>
        </p:nvSpPr>
        <p:spPr>
          <a:xfrm>
            <a:off x="548640" y="1691640"/>
            <a:ext cx="5394960" cy="3931920"/>
          </a:xfrm>
          <a:prstGeom prst="roundRect">
            <a:avLst>
              <a:gd name="adj" fmla="val 2791"/>
            </a:avLst>
          </a:prstGeom>
          <a:solidFill>
            <a:srgbClr val="F3F7FB"/>
          </a:solidFill>
          <a:ln w="12700">
            <a:solidFill>
              <a:srgbClr val="CFE0D8"/>
            </a:solidFill>
            <a:prstDash val="solid"/>
          </a:ln>
          <a:effectLst>
            <a:outerShdw sx="100000" sy="100000" kx="0" ky="0" algn="bl" rotWithShape="0" blurRad="76200" dist="38100" dir="5400000">
              <a:srgbClr val="8FA3B5">
                <a:alpha val="35000"/>
              </a:srgbClr>
            </a:outerShdw>
          </a:effectLst>
        </p:spPr>
      </p:sp>
      <p:sp>
        <p:nvSpPr>
          <p:cNvPr id="5" name="Text 3"/>
          <p:cNvSpPr/>
          <p:nvPr/>
        </p:nvSpPr>
        <p:spPr>
          <a:xfrm>
            <a:off x="868680" y="1920240"/>
            <a:ext cx="4572000" cy="320040"/>
          </a:xfrm>
          <a:prstGeom prst="rect">
            <a:avLst/>
          </a:prstGeom>
          <a:noFill/>
          <a:ln/>
        </p:spPr>
        <p:txBody>
          <a:bodyPr wrap="square" rtlCol="0" anchor="ctr"/>
          <a:lstStyle/>
          <a:p>
            <a:pPr indent="0" marL="0">
              <a:buNone/>
            </a:pPr>
            <a:r>
              <a:rPr lang="en-US" sz="1300" b="1" spc="200" kern="0" dirty="0">
                <a:solidFill>
                  <a:srgbClr val="2E8B6F"/>
                </a:solidFill>
                <a:latin typeface="Calibri" pitchFamily="34" charset="0"/>
                <a:ea typeface="Calibri" pitchFamily="34" charset="-122"/>
                <a:cs typeface="Calibri" pitchFamily="34" charset="-120"/>
              </a:rPr>
              <a:t>IT IS</a:t>
            </a:r>
            <a:endParaRPr lang="en-US" sz="1300" dirty="0"/>
          </a:p>
        </p:txBody>
      </p:sp>
      <p:sp>
        <p:nvSpPr>
          <p:cNvPr id="6" name="Text 4"/>
          <p:cNvSpPr/>
          <p:nvPr/>
        </p:nvSpPr>
        <p:spPr>
          <a:xfrm>
            <a:off x="914400" y="2377440"/>
            <a:ext cx="4754880" cy="2926080"/>
          </a:xfrm>
          <a:prstGeom prst="rect">
            <a:avLst/>
          </a:prstGeom>
          <a:noFill/>
          <a:ln/>
        </p:spPr>
        <p:txBody>
          <a:bodyPr wrap="square" rtlCol="0" anchor="ctr"/>
          <a:lstStyle/>
          <a:p>
            <a:pPr marL="342900" indent="-342900">
              <a:lnSpc>
                <a:spcPct val="100000"/>
              </a:lnSpc>
              <a:spcAft>
                <a:spcPts val="500"/>
              </a:spcAft>
              <a:buSzPct val="100000"/>
              <a:buChar char="•"/>
            </a:pPr>
            <a:r>
              <a:rPr lang="en-US" sz="1450" b="1" dirty="0">
                <a:solidFill>
                  <a:srgbClr val="1A2733"/>
                </a:solidFill>
                <a:latin typeface="Calibri" pitchFamily="34" charset="0"/>
                <a:ea typeface="Calibri" pitchFamily="34" charset="-122"/>
                <a:cs typeface="Calibri" pitchFamily="34" charset="-120"/>
              </a:rPr>
              <a:t>A verified integration design</a:t>
            </a:r>
            <a:endParaRPr lang="en-US" sz="1450" dirty="0"/>
          </a:p>
          <a:p>
            <a:pPr indent="0" marL="0">
              <a:lnSpc>
                <a:spcPct val="100000"/>
              </a:lnSpc>
              <a:spcAft>
                <a:spcPts val="500"/>
              </a:spcAft>
              <a:buNone/>
            </a:pPr>
            <a:r>
              <a:rPr lang="en-US" sz="1200" dirty="0">
                <a:solidFill>
                  <a:srgbClr val="5A6B7A"/>
                </a:solidFill>
                <a:latin typeface="Calibri" pitchFamily="34" charset="0"/>
                <a:ea typeface="Calibri" pitchFamily="34" charset="-122"/>
                <a:cs typeface="Calibri" pitchFamily="34" charset="-120"/>
              </a:rPr>
              <a:t>grounded entirely in vendor specifications</a:t>
            </a:r>
            <a:endParaRPr lang="en-US" sz="1450" dirty="0"/>
          </a:p>
          <a:p>
            <a:pPr marL="342900" indent="-342900">
              <a:lnSpc>
                <a:spcPct val="100000"/>
              </a:lnSpc>
              <a:spcAft>
                <a:spcPts val="500"/>
              </a:spcAft>
              <a:buSzPct val="100000"/>
              <a:buChar char="•"/>
            </a:pPr>
            <a:r>
              <a:rPr lang="en-US" sz="1450" b="1" dirty="0">
                <a:solidFill>
                  <a:srgbClr val="1A2733"/>
                </a:solidFill>
                <a:latin typeface="Calibri" pitchFamily="34" charset="0"/>
                <a:ea typeface="Calibri" pitchFamily="34" charset="-122"/>
                <a:cs typeface="Calibri" pitchFamily="34" charset="-120"/>
              </a:rPr>
              <a:t>An engineering analysis of the constraints</a:t>
            </a:r>
            <a:endParaRPr lang="en-US" sz="1450" dirty="0"/>
          </a:p>
          <a:p>
            <a:pPr indent="0" marL="0">
              <a:lnSpc>
                <a:spcPct val="100000"/>
              </a:lnSpc>
              <a:spcAft>
                <a:spcPts val="500"/>
              </a:spcAft>
              <a:buNone/>
            </a:pPr>
            <a:r>
              <a:rPr lang="en-US" sz="1200" dirty="0">
                <a:solidFill>
                  <a:srgbClr val="5A6B7A"/>
                </a:solidFill>
                <a:latin typeface="Calibri" pitchFamily="34" charset="0"/>
                <a:ea typeface="Calibri" pitchFamily="34" charset="-122"/>
                <a:cs typeface="Calibri" pitchFamily="34" charset="-120"/>
              </a:rPr>
              <a:t>— the power budget, the interface, the mounting</a:t>
            </a:r>
            <a:endParaRPr lang="en-US" sz="1450" dirty="0"/>
          </a:p>
          <a:p>
            <a:pPr marL="342900" indent="-342900">
              <a:lnSpc>
                <a:spcPct val="100000"/>
              </a:lnSpc>
              <a:spcAft>
                <a:spcPts val="500"/>
              </a:spcAft>
              <a:buSzPct val="100000"/>
              <a:buChar char="•"/>
            </a:pPr>
            <a:r>
              <a:rPr lang="en-US" sz="1450" b="1" dirty="0">
                <a:solidFill>
                  <a:srgbClr val="1A2733"/>
                </a:solidFill>
                <a:latin typeface="Calibri" pitchFamily="34" charset="0"/>
                <a:ea typeface="Calibri" pitchFamily="34" charset="-122"/>
                <a:cs typeface="Calibri" pitchFamily="34" charset="-120"/>
              </a:rPr>
              <a:t>A pre-registered evaluation plan</a:t>
            </a:r>
            <a:endParaRPr lang="en-US" sz="1450" dirty="0"/>
          </a:p>
          <a:p>
            <a:pPr indent="0" marL="0">
              <a:lnSpc>
                <a:spcPct val="100000"/>
              </a:lnSpc>
              <a:spcAft>
                <a:spcPts val="500"/>
              </a:spcAft>
              <a:buNone/>
            </a:pPr>
            <a:r>
              <a:rPr lang="en-US" sz="1200" dirty="0">
                <a:solidFill>
                  <a:srgbClr val="5A6B7A"/>
                </a:solidFill>
                <a:latin typeface="Calibri" pitchFamily="34" charset="0"/>
                <a:ea typeface="Calibri" pitchFamily="34" charset="-122"/>
                <a:cs typeface="Calibri" pitchFamily="34" charset="-120"/>
              </a:rPr>
              <a:t>with measurable metrics for each stage</a:t>
            </a:r>
            <a:endParaRPr lang="en-US" sz="1450" dirty="0"/>
          </a:p>
        </p:txBody>
      </p:sp>
      <p:sp>
        <p:nvSpPr>
          <p:cNvPr id="7" name="Shape 5"/>
          <p:cNvSpPr/>
          <p:nvPr/>
        </p:nvSpPr>
        <p:spPr>
          <a:xfrm>
            <a:off x="6245352" y="1691640"/>
            <a:ext cx="5394960" cy="3931920"/>
          </a:xfrm>
          <a:prstGeom prst="roundRect">
            <a:avLst>
              <a:gd name="adj" fmla="val 2791"/>
            </a:avLst>
          </a:prstGeom>
          <a:solidFill>
            <a:srgbClr val="14304C"/>
          </a:solidFill>
          <a:ln/>
          <a:effectLst>
            <a:outerShdw sx="100000" sy="100000" kx="0" ky="0" algn="bl" rotWithShape="0" blurRad="114300" dist="50800" dir="5400000">
              <a:srgbClr val="0B1728">
                <a:alpha val="40000"/>
              </a:srgbClr>
            </a:outerShdw>
          </a:effectLst>
        </p:spPr>
      </p:sp>
      <p:sp>
        <p:nvSpPr>
          <p:cNvPr id="8" name="Text 6"/>
          <p:cNvSpPr/>
          <p:nvPr/>
        </p:nvSpPr>
        <p:spPr>
          <a:xfrm>
            <a:off x="6565392" y="1920240"/>
            <a:ext cx="4572000" cy="320040"/>
          </a:xfrm>
          <a:prstGeom prst="rect">
            <a:avLst/>
          </a:prstGeom>
          <a:noFill/>
          <a:ln/>
        </p:spPr>
        <p:txBody>
          <a:bodyPr wrap="square" rtlCol="0" anchor="ctr"/>
          <a:lstStyle/>
          <a:p>
            <a:pPr indent="0" marL="0">
              <a:buNone/>
            </a:pPr>
            <a:r>
              <a:rPr lang="en-US" sz="1300" b="1" spc="200" kern="0" dirty="0">
                <a:solidFill>
                  <a:srgbClr val="E8871E"/>
                </a:solidFill>
                <a:latin typeface="Calibri" pitchFamily="34" charset="0"/>
                <a:ea typeface="Calibri" pitchFamily="34" charset="-122"/>
                <a:cs typeface="Calibri" pitchFamily="34" charset="-120"/>
              </a:rPr>
              <a:t>IT IS NOT</a:t>
            </a:r>
            <a:endParaRPr lang="en-US" sz="1300" dirty="0"/>
          </a:p>
        </p:txBody>
      </p:sp>
      <p:sp>
        <p:nvSpPr>
          <p:cNvPr id="9" name="Text 7"/>
          <p:cNvSpPr/>
          <p:nvPr/>
        </p:nvSpPr>
        <p:spPr>
          <a:xfrm>
            <a:off x="6611112" y="2377440"/>
            <a:ext cx="4754880" cy="2926080"/>
          </a:xfrm>
          <a:prstGeom prst="rect">
            <a:avLst/>
          </a:prstGeom>
          <a:noFill/>
          <a:ln/>
        </p:spPr>
        <p:txBody>
          <a:bodyPr wrap="square" rtlCol="0" anchor="ctr"/>
          <a:lstStyle/>
          <a:p>
            <a:pPr marL="342900" indent="-342900">
              <a:lnSpc>
                <a:spcPct val="100000"/>
              </a:lnSpc>
              <a:spcAft>
                <a:spcPts val="500"/>
              </a:spcAft>
              <a:buSzPct val="100000"/>
              <a:buChar char="•"/>
            </a:pPr>
            <a:r>
              <a:rPr lang="en-US" sz="1450" b="1" dirty="0">
                <a:solidFill>
                  <a:srgbClr val="FFFFFF"/>
                </a:solidFill>
                <a:latin typeface="Calibri" pitchFamily="34" charset="0"/>
                <a:ea typeface="Calibri" pitchFamily="34" charset="-122"/>
                <a:cs typeface="Calibri" pitchFamily="34" charset="-120"/>
              </a:rPr>
              <a:t>An experimental paper</a:t>
            </a:r>
            <a:endParaRPr lang="en-US" sz="1450" dirty="0"/>
          </a:p>
          <a:p>
            <a:pPr indent="0" marL="0">
              <a:lnSpc>
                <a:spcPct val="100000"/>
              </a:lnSpc>
              <a:spcAft>
                <a:spcPts val="500"/>
              </a:spcAft>
              <a:buNone/>
            </a:pPr>
            <a:r>
              <a:rPr lang="en-US" sz="1200" dirty="0">
                <a:solidFill>
                  <a:srgbClr val="CADCFC"/>
                </a:solidFill>
                <a:latin typeface="Calibri" pitchFamily="34" charset="0"/>
                <a:ea typeface="Calibri" pitchFamily="34" charset="-122"/>
                <a:cs typeface="Calibri" pitchFamily="34" charset="-120"/>
              </a:rPr>
              <a:t>the hardware is ordered, not yet integrated</a:t>
            </a:r>
            <a:endParaRPr lang="en-US" sz="1450" dirty="0"/>
          </a:p>
          <a:p>
            <a:pPr marL="342900" indent="-342900">
              <a:lnSpc>
                <a:spcPct val="100000"/>
              </a:lnSpc>
              <a:spcAft>
                <a:spcPts val="500"/>
              </a:spcAft>
              <a:buSzPct val="100000"/>
              <a:buChar char="•"/>
            </a:pPr>
            <a:r>
              <a:rPr lang="en-US" sz="1450" b="1" dirty="0">
                <a:solidFill>
                  <a:srgbClr val="FFFFFF"/>
                </a:solidFill>
                <a:latin typeface="Calibri" pitchFamily="34" charset="0"/>
                <a:ea typeface="Calibri" pitchFamily="34" charset="-122"/>
                <a:cs typeface="Calibri" pitchFamily="34" charset="-120"/>
              </a:rPr>
              <a:t>A source of measured results</a:t>
            </a:r>
            <a:endParaRPr lang="en-US" sz="1450" dirty="0"/>
          </a:p>
          <a:p>
            <a:pPr indent="0" marL="0">
              <a:lnSpc>
                <a:spcPct val="100000"/>
              </a:lnSpc>
              <a:spcAft>
                <a:spcPts val="500"/>
              </a:spcAft>
              <a:buNone/>
            </a:pPr>
            <a:r>
              <a:rPr lang="en-US" sz="1200" dirty="0">
                <a:solidFill>
                  <a:srgbClr val="CADCFC"/>
                </a:solidFill>
                <a:latin typeface="Calibri" pitchFamily="34" charset="0"/>
                <a:ea typeface="Calibri" pitchFamily="34" charset="-122"/>
                <a:cs typeface="Calibri" pitchFamily="34" charset="-120"/>
              </a:rPr>
              <a:t>no current, latency, or success rates are reported</a:t>
            </a:r>
            <a:endParaRPr lang="en-US" sz="1450" dirty="0"/>
          </a:p>
          <a:p>
            <a:pPr marL="342900" indent="-342900">
              <a:lnSpc>
                <a:spcPct val="100000"/>
              </a:lnSpc>
              <a:spcAft>
                <a:spcPts val="500"/>
              </a:spcAft>
              <a:buSzPct val="100000"/>
              <a:buChar char="•"/>
            </a:pPr>
            <a:r>
              <a:rPr lang="en-US" sz="1450" b="1" dirty="0">
                <a:solidFill>
                  <a:srgbClr val="FFFFFF"/>
                </a:solidFill>
                <a:latin typeface="Calibri" pitchFamily="34" charset="0"/>
                <a:ea typeface="Calibri" pitchFamily="34" charset="-122"/>
                <a:cs typeface="Calibri" pitchFamily="34" charset="-120"/>
              </a:rPr>
              <a:t>A new algorithm or controller</a:t>
            </a:r>
            <a:endParaRPr lang="en-US" sz="1450" dirty="0"/>
          </a:p>
          <a:p>
            <a:pPr indent="0" marL="0">
              <a:lnSpc>
                <a:spcPct val="100000"/>
              </a:lnSpc>
              <a:spcAft>
                <a:spcPts val="500"/>
              </a:spcAft>
              <a:buNone/>
            </a:pPr>
            <a:r>
              <a:rPr lang="en-US" sz="1200" dirty="0">
                <a:solidFill>
                  <a:srgbClr val="CADCFC"/>
                </a:solidFill>
                <a:latin typeface="Calibri" pitchFamily="34" charset="0"/>
                <a:ea typeface="Calibri" pitchFamily="34" charset="-122"/>
                <a:cs typeface="Calibri" pitchFamily="34" charset="-120"/>
              </a:rPr>
              <a:t>the contribution is the integration, not new theory</a:t>
            </a:r>
            <a:endParaRPr lang="en-US" sz="1450" dirty="0"/>
          </a:p>
        </p:txBody>
      </p:sp>
      <p:sp>
        <p:nvSpPr>
          <p:cNvPr id="10" name="Text 8"/>
          <p:cNvSpPr/>
          <p:nvPr/>
        </p:nvSpPr>
        <p:spPr>
          <a:xfrm>
            <a:off x="548640" y="5806440"/>
            <a:ext cx="11064240" cy="365760"/>
          </a:xfrm>
          <a:prstGeom prst="rect">
            <a:avLst/>
          </a:prstGeom>
          <a:noFill/>
          <a:ln/>
        </p:spPr>
        <p:txBody>
          <a:bodyPr wrap="square" rtlCol="0" anchor="ctr"/>
          <a:lstStyle/>
          <a:p>
            <a:pPr algn="ctr" indent="0" marL="0">
              <a:buNone/>
            </a:pPr>
            <a:r>
              <a:rPr lang="en-US" sz="1300" b="1" i="1" dirty="0">
                <a:solidFill>
                  <a:srgbClr val="12233B"/>
                </a:solidFill>
                <a:latin typeface="Calibri" pitchFamily="34" charset="0"/>
                <a:ea typeface="Calibri" pitchFamily="34" charset="-122"/>
                <a:cs typeface="Calibri" pitchFamily="34" charset="-120"/>
              </a:rPr>
              <a:t>Verified specifications, engineering reasoning, and planned work are kept explicitly distinct throughout the paper.</a:t>
            </a:r>
            <a:endParaRPr lang="en-US" sz="1300" dirty="0"/>
          </a:p>
        </p:txBody>
      </p:sp>
      <p:sp>
        <p:nvSpPr>
          <p:cNvPr id="11" name="Text 9"/>
          <p:cNvSpPr/>
          <p:nvPr/>
        </p:nvSpPr>
        <p:spPr>
          <a:xfrm>
            <a:off x="457200" y="6473952"/>
            <a:ext cx="8961120" cy="274320"/>
          </a:xfrm>
          <a:prstGeom prst="rect">
            <a:avLst/>
          </a:prstGeom>
          <a:noFill/>
          <a:ln/>
        </p:spPr>
        <p:txBody>
          <a:bodyPr wrap="square" rtlCol="0" anchor="ctr"/>
          <a:lstStyle/>
          <a:p>
            <a:pPr indent="0" marL="0">
              <a:buNone/>
            </a:pPr>
            <a:r>
              <a:rPr lang="en-US" sz="900" dirty="0">
                <a:solidFill>
                  <a:srgbClr val="5A6B7A"/>
                </a:solidFill>
                <a:latin typeface="Calibri" pitchFamily="34" charset="0"/>
                <a:ea typeface="Calibri" pitchFamily="34" charset="-122"/>
                <a:cs typeface="Calibri" pitchFamily="34" charset="-120"/>
              </a:rPr>
              <a:t>RH56F1-E2R-T1  ×  UR5e  —  Integration Design &amp; Evaluation Plan</a:t>
            </a:r>
            <a:endParaRPr lang="en-US" sz="900" dirty="0"/>
          </a:p>
        </p:txBody>
      </p:sp>
      <p:sp>
        <p:nvSpPr>
          <p:cNvPr id="12" name="Text 10"/>
          <p:cNvSpPr/>
          <p:nvPr/>
        </p:nvSpPr>
        <p:spPr>
          <a:xfrm>
            <a:off x="11475720" y="6473952"/>
            <a:ext cx="4114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33B"/>
        </a:solidFill>
      </p:bgPr>
    </p:bg>
    <p:spTree>
      <p:nvGrpSpPr>
        <p:cNvPr id="1" name=""/>
        <p:cNvGrpSpPr/>
        <p:nvPr/>
      </p:nvGrpSpPr>
      <p:grpSpPr>
        <a:xfrm>
          <a:off x="0" y="0"/>
          <a:ext cx="0" cy="0"/>
          <a:chOff x="0" y="0"/>
          <a:chExt cx="0" cy="0"/>
        </a:xfrm>
      </p:grpSpPr>
      <p:sp>
        <p:nvSpPr>
          <p:cNvPr id="2" name="Shape 0"/>
          <p:cNvSpPr/>
          <p:nvPr/>
        </p:nvSpPr>
        <p:spPr>
          <a:xfrm>
            <a:off x="914400" y="3063240"/>
            <a:ext cx="1005840" cy="0"/>
          </a:xfrm>
          <a:prstGeom prst="line">
            <a:avLst/>
          </a:prstGeom>
          <a:noFill/>
          <a:ln w="38100">
            <a:solidFill>
              <a:srgbClr val="E8871E"/>
            </a:solidFill>
            <a:prstDash val="solid"/>
          </a:ln>
        </p:spPr>
      </p:sp>
      <p:sp>
        <p:nvSpPr>
          <p:cNvPr id="3" name="Text 1"/>
          <p:cNvSpPr/>
          <p:nvPr/>
        </p:nvSpPr>
        <p:spPr>
          <a:xfrm>
            <a:off x="914400" y="2331720"/>
            <a:ext cx="8229600" cy="365760"/>
          </a:xfrm>
          <a:prstGeom prst="rect">
            <a:avLst/>
          </a:prstGeom>
          <a:noFill/>
          <a:ln/>
        </p:spPr>
        <p:txBody>
          <a:bodyPr wrap="square" rtlCol="0" anchor="ctr"/>
          <a:lstStyle/>
          <a:p>
            <a:pPr indent="0" marL="0">
              <a:buNone/>
            </a:pPr>
            <a:r>
              <a:rPr lang="en-US" sz="1500" b="1" spc="300" kern="0" dirty="0">
                <a:solidFill>
                  <a:srgbClr val="E8871E"/>
                </a:solidFill>
                <a:latin typeface="Calibri" pitchFamily="34" charset="0"/>
                <a:ea typeface="Calibri" pitchFamily="34" charset="-122"/>
                <a:cs typeface="Calibri" pitchFamily="34" charset="-120"/>
              </a:rPr>
              <a:t>PART II</a:t>
            </a:r>
            <a:endParaRPr lang="en-US" sz="1500" dirty="0"/>
          </a:p>
        </p:txBody>
      </p:sp>
      <p:sp>
        <p:nvSpPr>
          <p:cNvPr id="4" name="Text 2"/>
          <p:cNvSpPr/>
          <p:nvPr/>
        </p:nvSpPr>
        <p:spPr>
          <a:xfrm>
            <a:off x="877824" y="3246120"/>
            <a:ext cx="8686800" cy="13716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Approach &amp; System Design</a:t>
            </a:r>
            <a:endParaRPr lang="en-US" sz="4400" dirty="0"/>
          </a:p>
        </p:txBody>
      </p:sp>
      <p:sp>
        <p:nvSpPr>
          <p:cNvPr id="5" name="Text 3"/>
          <p:cNvSpPr/>
          <p:nvPr/>
        </p:nvSpPr>
        <p:spPr>
          <a:xfrm>
            <a:off x="914400" y="4617720"/>
            <a:ext cx="7772400" cy="73152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From two datasheets to an integration design</a:t>
            </a:r>
            <a:endParaRPr lang="en-US" sz="1600" dirty="0"/>
          </a:p>
        </p:txBody>
      </p:sp>
      <p:sp>
        <p:nvSpPr>
          <p:cNvPr id="6" name="Text 4"/>
          <p:cNvSpPr/>
          <p:nvPr/>
        </p:nvSpPr>
        <p:spPr>
          <a:xfrm>
            <a:off x="8869680" y="1554480"/>
            <a:ext cx="2743200" cy="3291840"/>
          </a:xfrm>
          <a:prstGeom prst="rect">
            <a:avLst/>
          </a:prstGeom>
          <a:noFill/>
          <a:ln/>
        </p:spPr>
        <p:txBody>
          <a:bodyPr wrap="square" rtlCol="0" anchor="ctr"/>
          <a:lstStyle/>
          <a:p>
            <a:pPr algn="r" indent="0" marL="0">
              <a:buNone/>
            </a:pPr>
            <a:r>
              <a:rPr lang="en-US" sz="19000" b="1" dirty="0">
                <a:solidFill>
                  <a:srgbClr val="1A3350"/>
                </a:solidFill>
                <a:latin typeface="Cambria" pitchFamily="34" charset="0"/>
                <a:ea typeface="Cambria" pitchFamily="34" charset="-122"/>
                <a:cs typeface="Cambria" pitchFamily="34" charset="-120"/>
              </a:rPr>
              <a:t>II</a:t>
            </a:r>
            <a:endParaRPr lang="en-US" sz="19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THE HARDWARE</a:t>
            </a:r>
            <a:endParaRPr lang="en-US" sz="1200" dirty="0"/>
          </a:p>
        </p:txBody>
      </p:sp>
      <p:sp>
        <p:nvSpPr>
          <p:cNvPr id="3" name="Text 1"/>
          <p:cNvSpPr/>
          <p:nvPr/>
        </p:nvSpPr>
        <p:spPr>
          <a:xfrm>
            <a:off x="530352" y="658368"/>
            <a:ext cx="11109960" cy="731520"/>
          </a:xfrm>
          <a:prstGeom prst="rect">
            <a:avLst/>
          </a:prstGeom>
          <a:noFill/>
          <a:ln/>
        </p:spPr>
        <p:txBody>
          <a:bodyPr wrap="square" rtlCol="0" anchor="ctr"/>
          <a:lstStyle/>
          <a:p>
            <a:pPr indent="0" marL="0">
              <a:buNone/>
            </a:pPr>
            <a:r>
              <a:rPr lang="en-US" sz="2900" b="1" dirty="0">
                <a:solidFill>
                  <a:srgbClr val="12233B"/>
                </a:solidFill>
                <a:latin typeface="Cambria" pitchFamily="34" charset="0"/>
                <a:ea typeface="Cambria" pitchFamily="34" charset="-122"/>
                <a:cs typeface="Cambria" pitchFamily="34" charset="-120"/>
              </a:rPr>
              <a:t>Two vendor-specified platforms</a:t>
            </a:r>
            <a:endParaRPr lang="en-US" sz="2900" dirty="0"/>
          </a:p>
        </p:txBody>
      </p:sp>
      <p:sp>
        <p:nvSpPr>
          <p:cNvPr id="4" name="Shape 2"/>
          <p:cNvSpPr/>
          <p:nvPr/>
        </p:nvSpPr>
        <p:spPr>
          <a:xfrm>
            <a:off x="548640" y="1554480"/>
            <a:ext cx="5394960" cy="4160520"/>
          </a:xfrm>
          <a:prstGeom prst="roundRect">
            <a:avLst>
              <a:gd name="adj" fmla="val 2637"/>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5" name="Shape 3"/>
          <p:cNvSpPr/>
          <p:nvPr/>
        </p:nvSpPr>
        <p:spPr>
          <a:xfrm>
            <a:off x="6245352" y="1554480"/>
            <a:ext cx="5394960" cy="4160520"/>
          </a:xfrm>
          <a:prstGeom prst="roundRect">
            <a:avLst>
              <a:gd name="adj" fmla="val 2637"/>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6" name="Text 4"/>
          <p:cNvSpPr/>
          <p:nvPr/>
        </p:nvSpPr>
        <p:spPr>
          <a:xfrm>
            <a:off x="868680" y="1783080"/>
            <a:ext cx="4754880" cy="365760"/>
          </a:xfrm>
          <a:prstGeom prst="rect">
            <a:avLst/>
          </a:prstGeom>
          <a:noFill/>
          <a:ln/>
        </p:spPr>
        <p:txBody>
          <a:bodyPr wrap="square" rtlCol="0" anchor="ctr"/>
          <a:lstStyle/>
          <a:p>
            <a:pPr indent="0" marL="0">
              <a:buNone/>
            </a:pPr>
            <a:r>
              <a:rPr lang="en-US" sz="1800" b="1" dirty="0">
                <a:solidFill>
                  <a:srgbClr val="12233B"/>
                </a:solidFill>
                <a:latin typeface="Cambria" pitchFamily="34" charset="0"/>
                <a:ea typeface="Cambria" pitchFamily="34" charset="-122"/>
                <a:cs typeface="Cambria" pitchFamily="34" charset="-120"/>
              </a:rPr>
              <a:t>Inspire RH56F1-E2R-T1</a:t>
            </a:r>
            <a:endParaRPr lang="en-US" sz="1800" dirty="0"/>
          </a:p>
        </p:txBody>
      </p:sp>
      <p:sp>
        <p:nvSpPr>
          <p:cNvPr id="7" name="Text 5"/>
          <p:cNvSpPr/>
          <p:nvPr/>
        </p:nvSpPr>
        <p:spPr>
          <a:xfrm>
            <a:off x="868680" y="2157984"/>
            <a:ext cx="4754880" cy="274320"/>
          </a:xfrm>
          <a:prstGeom prst="rect">
            <a:avLst/>
          </a:prstGeom>
          <a:noFill/>
          <a:ln/>
        </p:spPr>
        <p:txBody>
          <a:bodyPr wrap="square" rtlCol="0" anchor="ctr"/>
          <a:lstStyle/>
          <a:p>
            <a:pPr indent="0" marL="0">
              <a:buNone/>
            </a:pPr>
            <a:r>
              <a:rPr lang="en-US" sz="1200" i="1" dirty="0">
                <a:solidFill>
                  <a:srgbClr val="5A6B7A"/>
                </a:solidFill>
                <a:latin typeface="Calibri" pitchFamily="34" charset="0"/>
                <a:ea typeface="Calibri" pitchFamily="34" charset="-122"/>
                <a:cs typeface="Calibri" pitchFamily="34" charset="-120"/>
              </a:rPr>
              <a:t>Right hand · tactile · RS-485</a:t>
            </a:r>
            <a:endParaRPr lang="en-US" sz="1200" dirty="0"/>
          </a:p>
        </p:txBody>
      </p:sp>
      <p:sp>
        <p:nvSpPr>
          <p:cNvPr id="8" name="Text 6"/>
          <p:cNvSpPr/>
          <p:nvPr/>
        </p:nvSpPr>
        <p:spPr>
          <a:xfrm>
            <a:off x="868680" y="2606040"/>
            <a:ext cx="2331720" cy="384048"/>
          </a:xfrm>
          <a:prstGeom prst="rect">
            <a:avLst/>
          </a:prstGeom>
          <a:noFill/>
          <a:ln/>
        </p:spPr>
        <p:txBody>
          <a:bodyPr wrap="square" rtlCol="0" anchor="ctr"/>
          <a:lstStyle/>
          <a:p>
            <a:pPr indent="0" marL="0">
              <a:buNone/>
            </a:pPr>
            <a:r>
              <a:rPr lang="en-US" sz="2100" b="1" dirty="0">
                <a:solidFill>
                  <a:srgbClr val="E8871E"/>
                </a:solidFill>
                <a:latin typeface="Cambria" pitchFamily="34" charset="0"/>
                <a:ea typeface="Cambria" pitchFamily="34" charset="-122"/>
                <a:cs typeface="Cambria" pitchFamily="34" charset="-120"/>
              </a:rPr>
              <a:t>6 / 12</a:t>
            </a:r>
            <a:endParaRPr lang="en-US" sz="2100" dirty="0"/>
          </a:p>
        </p:txBody>
      </p:sp>
      <p:sp>
        <p:nvSpPr>
          <p:cNvPr id="9" name="Text 7"/>
          <p:cNvSpPr/>
          <p:nvPr/>
        </p:nvSpPr>
        <p:spPr>
          <a:xfrm>
            <a:off x="868680" y="3008376"/>
            <a:ext cx="2331720" cy="292608"/>
          </a:xfrm>
          <a:prstGeom prst="rect">
            <a:avLst/>
          </a:prstGeom>
          <a:noFill/>
          <a:ln/>
        </p:spPr>
        <p:txBody>
          <a:bodyPr wrap="square" rtlCol="0" anchor="ctr"/>
          <a:lstStyle/>
          <a:p>
            <a:pPr indent="0" marL="0">
              <a:buNone/>
            </a:pPr>
            <a:r>
              <a:rPr lang="en-US" sz="1150" dirty="0">
                <a:solidFill>
                  <a:srgbClr val="5A6B7A"/>
                </a:solidFill>
                <a:latin typeface="Calibri" pitchFamily="34" charset="0"/>
                <a:ea typeface="Calibri" pitchFamily="34" charset="-122"/>
                <a:cs typeface="Calibri" pitchFamily="34" charset="-120"/>
              </a:rPr>
              <a:t>actuators / joints</a:t>
            </a:r>
            <a:endParaRPr lang="en-US" sz="1150" dirty="0"/>
          </a:p>
        </p:txBody>
      </p:sp>
      <p:sp>
        <p:nvSpPr>
          <p:cNvPr id="10" name="Text 8"/>
          <p:cNvSpPr/>
          <p:nvPr/>
        </p:nvSpPr>
        <p:spPr>
          <a:xfrm>
            <a:off x="3337560" y="2606040"/>
            <a:ext cx="2331720" cy="384048"/>
          </a:xfrm>
          <a:prstGeom prst="rect">
            <a:avLst/>
          </a:prstGeom>
          <a:noFill/>
          <a:ln/>
        </p:spPr>
        <p:txBody>
          <a:bodyPr wrap="square" rtlCol="0" anchor="ctr"/>
          <a:lstStyle/>
          <a:p>
            <a:pPr indent="0" marL="0">
              <a:buNone/>
            </a:pPr>
            <a:r>
              <a:rPr lang="en-US" sz="2100" b="1" dirty="0">
                <a:solidFill>
                  <a:srgbClr val="E8871E"/>
                </a:solidFill>
                <a:latin typeface="Cambria" pitchFamily="34" charset="0"/>
                <a:ea typeface="Cambria" pitchFamily="34" charset="-122"/>
                <a:cs typeface="Cambria" pitchFamily="34" charset="-120"/>
              </a:rPr>
              <a:t>630 g</a:t>
            </a:r>
            <a:endParaRPr lang="en-US" sz="2100" dirty="0"/>
          </a:p>
        </p:txBody>
      </p:sp>
      <p:sp>
        <p:nvSpPr>
          <p:cNvPr id="11" name="Text 9"/>
          <p:cNvSpPr/>
          <p:nvPr/>
        </p:nvSpPr>
        <p:spPr>
          <a:xfrm>
            <a:off x="3337560" y="3008376"/>
            <a:ext cx="2331720" cy="292608"/>
          </a:xfrm>
          <a:prstGeom prst="rect">
            <a:avLst/>
          </a:prstGeom>
          <a:noFill/>
          <a:ln/>
        </p:spPr>
        <p:txBody>
          <a:bodyPr wrap="square" rtlCol="0" anchor="ctr"/>
          <a:lstStyle/>
          <a:p>
            <a:pPr indent="0" marL="0">
              <a:buNone/>
            </a:pPr>
            <a:r>
              <a:rPr lang="en-US" sz="1150" dirty="0">
                <a:solidFill>
                  <a:srgbClr val="5A6B7A"/>
                </a:solidFill>
                <a:latin typeface="Calibri" pitchFamily="34" charset="0"/>
                <a:ea typeface="Calibri" pitchFamily="34" charset="-122"/>
                <a:cs typeface="Calibri" pitchFamily="34" charset="-120"/>
              </a:rPr>
              <a:t>mass</a:t>
            </a:r>
            <a:endParaRPr lang="en-US" sz="1150" dirty="0"/>
          </a:p>
        </p:txBody>
      </p:sp>
      <p:sp>
        <p:nvSpPr>
          <p:cNvPr id="12" name="Text 10"/>
          <p:cNvSpPr/>
          <p:nvPr/>
        </p:nvSpPr>
        <p:spPr>
          <a:xfrm>
            <a:off x="868680" y="3538728"/>
            <a:ext cx="2331720" cy="384048"/>
          </a:xfrm>
          <a:prstGeom prst="rect">
            <a:avLst/>
          </a:prstGeom>
          <a:noFill/>
          <a:ln/>
        </p:spPr>
        <p:txBody>
          <a:bodyPr wrap="square" rtlCol="0" anchor="ctr"/>
          <a:lstStyle/>
          <a:p>
            <a:pPr indent="0" marL="0">
              <a:buNone/>
            </a:pPr>
            <a:r>
              <a:rPr lang="en-US" sz="2100" b="1" dirty="0">
                <a:solidFill>
                  <a:srgbClr val="E8871E"/>
                </a:solidFill>
                <a:latin typeface="Cambria" pitchFamily="34" charset="0"/>
                <a:ea typeface="Cambria" pitchFamily="34" charset="-122"/>
                <a:cs typeface="Cambria" pitchFamily="34" charset="-120"/>
              </a:rPr>
              <a:t>5 A</a:t>
            </a:r>
            <a:endParaRPr lang="en-US" sz="2100" dirty="0"/>
          </a:p>
        </p:txBody>
      </p:sp>
      <p:sp>
        <p:nvSpPr>
          <p:cNvPr id="13" name="Text 11"/>
          <p:cNvSpPr/>
          <p:nvPr/>
        </p:nvSpPr>
        <p:spPr>
          <a:xfrm>
            <a:off x="868680" y="3941064"/>
            <a:ext cx="2331720" cy="292608"/>
          </a:xfrm>
          <a:prstGeom prst="rect">
            <a:avLst/>
          </a:prstGeom>
          <a:noFill/>
          <a:ln/>
        </p:spPr>
        <p:txBody>
          <a:bodyPr wrap="square" rtlCol="0" anchor="ctr"/>
          <a:lstStyle/>
          <a:p>
            <a:pPr indent="0" marL="0">
              <a:buNone/>
            </a:pPr>
            <a:r>
              <a:rPr lang="en-US" sz="1150" dirty="0">
                <a:solidFill>
                  <a:srgbClr val="5A6B7A"/>
                </a:solidFill>
                <a:latin typeface="Calibri" pitchFamily="34" charset="0"/>
                <a:ea typeface="Calibri" pitchFamily="34" charset="-122"/>
                <a:cs typeface="Calibri" pitchFamily="34" charset="-120"/>
              </a:rPr>
              <a:t>peak current (24 V)</a:t>
            </a:r>
            <a:endParaRPr lang="en-US" sz="1150" dirty="0"/>
          </a:p>
        </p:txBody>
      </p:sp>
      <p:sp>
        <p:nvSpPr>
          <p:cNvPr id="14" name="Text 12"/>
          <p:cNvSpPr/>
          <p:nvPr/>
        </p:nvSpPr>
        <p:spPr>
          <a:xfrm>
            <a:off x="3337560" y="3538728"/>
            <a:ext cx="2331720" cy="384048"/>
          </a:xfrm>
          <a:prstGeom prst="rect">
            <a:avLst/>
          </a:prstGeom>
          <a:noFill/>
          <a:ln/>
        </p:spPr>
        <p:txBody>
          <a:bodyPr wrap="square" rtlCol="0" anchor="ctr"/>
          <a:lstStyle/>
          <a:p>
            <a:pPr indent="0" marL="0">
              <a:buNone/>
            </a:pPr>
            <a:r>
              <a:rPr lang="en-US" sz="2100" b="1" dirty="0">
                <a:solidFill>
                  <a:srgbClr val="E8871E"/>
                </a:solidFill>
                <a:latin typeface="Cambria" pitchFamily="34" charset="0"/>
                <a:ea typeface="Cambria" pitchFamily="34" charset="-122"/>
                <a:cs typeface="Cambria" pitchFamily="34" charset="-120"/>
              </a:rPr>
              <a:t>≥15 N</a:t>
            </a:r>
            <a:endParaRPr lang="en-US" sz="2100" dirty="0"/>
          </a:p>
        </p:txBody>
      </p:sp>
      <p:sp>
        <p:nvSpPr>
          <p:cNvPr id="15" name="Text 13"/>
          <p:cNvSpPr/>
          <p:nvPr/>
        </p:nvSpPr>
        <p:spPr>
          <a:xfrm>
            <a:off x="3337560" y="3941064"/>
            <a:ext cx="2331720" cy="292608"/>
          </a:xfrm>
          <a:prstGeom prst="rect">
            <a:avLst/>
          </a:prstGeom>
          <a:noFill/>
          <a:ln/>
        </p:spPr>
        <p:txBody>
          <a:bodyPr wrap="square" rtlCol="0" anchor="ctr"/>
          <a:lstStyle/>
          <a:p>
            <a:pPr indent="0" marL="0">
              <a:buNone/>
            </a:pPr>
            <a:r>
              <a:rPr lang="en-US" sz="1150" dirty="0">
                <a:solidFill>
                  <a:srgbClr val="5A6B7A"/>
                </a:solidFill>
                <a:latin typeface="Calibri" pitchFamily="34" charset="0"/>
                <a:ea typeface="Calibri" pitchFamily="34" charset="-122"/>
                <a:cs typeface="Calibri" pitchFamily="34" charset="-120"/>
              </a:rPr>
              <a:t>thumb fingertip force</a:t>
            </a:r>
            <a:endParaRPr lang="en-US" sz="1150" dirty="0"/>
          </a:p>
        </p:txBody>
      </p:sp>
      <p:sp>
        <p:nvSpPr>
          <p:cNvPr id="16" name="Text 14"/>
          <p:cNvSpPr/>
          <p:nvPr/>
        </p:nvSpPr>
        <p:spPr>
          <a:xfrm>
            <a:off x="868680" y="4471416"/>
            <a:ext cx="2331720" cy="384048"/>
          </a:xfrm>
          <a:prstGeom prst="rect">
            <a:avLst/>
          </a:prstGeom>
          <a:noFill/>
          <a:ln/>
        </p:spPr>
        <p:txBody>
          <a:bodyPr wrap="square" rtlCol="0" anchor="ctr"/>
          <a:lstStyle/>
          <a:p>
            <a:pPr indent="0" marL="0">
              <a:buNone/>
            </a:pPr>
            <a:r>
              <a:rPr lang="en-US" sz="2100" b="1" dirty="0">
                <a:solidFill>
                  <a:srgbClr val="E8871E"/>
                </a:solidFill>
                <a:latin typeface="Cambria" pitchFamily="34" charset="0"/>
                <a:ea typeface="Cambria" pitchFamily="34" charset="-122"/>
                <a:cs typeface="Cambria" pitchFamily="34" charset="-120"/>
              </a:rPr>
              <a:t>8</a:t>
            </a:r>
            <a:endParaRPr lang="en-US" sz="2100" dirty="0"/>
          </a:p>
        </p:txBody>
      </p:sp>
      <p:sp>
        <p:nvSpPr>
          <p:cNvPr id="17" name="Text 15"/>
          <p:cNvSpPr/>
          <p:nvPr/>
        </p:nvSpPr>
        <p:spPr>
          <a:xfrm>
            <a:off x="868680" y="4873752"/>
            <a:ext cx="2331720" cy="292608"/>
          </a:xfrm>
          <a:prstGeom prst="rect">
            <a:avLst/>
          </a:prstGeom>
          <a:noFill/>
          <a:ln/>
        </p:spPr>
        <p:txBody>
          <a:bodyPr wrap="square" rtlCol="0" anchor="ctr"/>
          <a:lstStyle/>
          <a:p>
            <a:pPr indent="0" marL="0">
              <a:buNone/>
            </a:pPr>
            <a:r>
              <a:rPr lang="en-US" sz="1150" dirty="0">
                <a:solidFill>
                  <a:srgbClr val="5A6B7A"/>
                </a:solidFill>
                <a:latin typeface="Calibri" pitchFamily="34" charset="0"/>
                <a:ea typeface="Calibri" pitchFamily="34" charset="-122"/>
                <a:cs typeface="Calibri" pitchFamily="34" charset="-120"/>
              </a:rPr>
              <a:t>tactile sensors</a:t>
            </a:r>
            <a:endParaRPr lang="en-US" sz="1150" dirty="0"/>
          </a:p>
        </p:txBody>
      </p:sp>
      <p:sp>
        <p:nvSpPr>
          <p:cNvPr id="18" name="Text 16"/>
          <p:cNvSpPr/>
          <p:nvPr/>
        </p:nvSpPr>
        <p:spPr>
          <a:xfrm>
            <a:off x="3337560" y="4471416"/>
            <a:ext cx="2331720" cy="384048"/>
          </a:xfrm>
          <a:prstGeom prst="rect">
            <a:avLst/>
          </a:prstGeom>
          <a:noFill/>
          <a:ln/>
        </p:spPr>
        <p:txBody>
          <a:bodyPr wrap="square" rtlCol="0" anchor="ctr"/>
          <a:lstStyle/>
          <a:p>
            <a:pPr indent="0" marL="0">
              <a:buNone/>
            </a:pPr>
            <a:r>
              <a:rPr lang="en-US" sz="2100" b="1" dirty="0">
                <a:solidFill>
                  <a:srgbClr val="E8871E"/>
                </a:solidFill>
                <a:latin typeface="Cambria" pitchFamily="34" charset="0"/>
                <a:ea typeface="Cambria" pitchFamily="34" charset="-122"/>
                <a:cs typeface="Cambria" pitchFamily="34" charset="-120"/>
              </a:rPr>
              <a:t>RS-485</a:t>
            </a:r>
            <a:endParaRPr lang="en-US" sz="2100" dirty="0"/>
          </a:p>
        </p:txBody>
      </p:sp>
      <p:sp>
        <p:nvSpPr>
          <p:cNvPr id="19" name="Text 17"/>
          <p:cNvSpPr/>
          <p:nvPr/>
        </p:nvSpPr>
        <p:spPr>
          <a:xfrm>
            <a:off x="3337560" y="4873752"/>
            <a:ext cx="2331720" cy="292608"/>
          </a:xfrm>
          <a:prstGeom prst="rect">
            <a:avLst/>
          </a:prstGeom>
          <a:noFill/>
          <a:ln/>
        </p:spPr>
        <p:txBody>
          <a:bodyPr wrap="square" rtlCol="0" anchor="ctr"/>
          <a:lstStyle/>
          <a:p>
            <a:pPr indent="0" marL="0">
              <a:buNone/>
            </a:pPr>
            <a:r>
              <a:rPr lang="en-US" sz="1150" dirty="0">
                <a:solidFill>
                  <a:srgbClr val="5A6B7A"/>
                </a:solidFill>
                <a:latin typeface="Calibri" pitchFamily="34" charset="0"/>
                <a:ea typeface="Calibri" pitchFamily="34" charset="-122"/>
                <a:cs typeface="Calibri" pitchFamily="34" charset="-120"/>
              </a:rPr>
              <a:t>control interface</a:t>
            </a:r>
            <a:endParaRPr lang="en-US" sz="1150" dirty="0"/>
          </a:p>
        </p:txBody>
      </p:sp>
      <p:sp>
        <p:nvSpPr>
          <p:cNvPr id="20" name="Text 18"/>
          <p:cNvSpPr/>
          <p:nvPr/>
        </p:nvSpPr>
        <p:spPr>
          <a:xfrm>
            <a:off x="6565392" y="1783080"/>
            <a:ext cx="4754880" cy="365760"/>
          </a:xfrm>
          <a:prstGeom prst="rect">
            <a:avLst/>
          </a:prstGeom>
          <a:noFill/>
          <a:ln/>
        </p:spPr>
        <p:txBody>
          <a:bodyPr wrap="square" rtlCol="0" anchor="ctr"/>
          <a:lstStyle/>
          <a:p>
            <a:pPr indent="0" marL="0">
              <a:buNone/>
            </a:pPr>
            <a:r>
              <a:rPr lang="en-US" sz="1800" b="1" dirty="0">
                <a:solidFill>
                  <a:srgbClr val="12233B"/>
                </a:solidFill>
                <a:latin typeface="Cambria" pitchFamily="34" charset="0"/>
                <a:ea typeface="Cambria" pitchFamily="34" charset="-122"/>
                <a:cs typeface="Cambria" pitchFamily="34" charset="-120"/>
              </a:rPr>
              <a:t>Universal Robots UR5e</a:t>
            </a:r>
            <a:endParaRPr lang="en-US" sz="1800" dirty="0"/>
          </a:p>
        </p:txBody>
      </p:sp>
      <p:sp>
        <p:nvSpPr>
          <p:cNvPr id="21" name="Text 19"/>
          <p:cNvSpPr/>
          <p:nvPr/>
        </p:nvSpPr>
        <p:spPr>
          <a:xfrm>
            <a:off x="6565392" y="2157984"/>
            <a:ext cx="4754880" cy="274320"/>
          </a:xfrm>
          <a:prstGeom prst="rect">
            <a:avLst/>
          </a:prstGeom>
          <a:noFill/>
          <a:ln/>
        </p:spPr>
        <p:txBody>
          <a:bodyPr wrap="square" rtlCol="0" anchor="ctr"/>
          <a:lstStyle/>
          <a:p>
            <a:pPr indent="0" marL="0">
              <a:buNone/>
            </a:pPr>
            <a:r>
              <a:rPr lang="en-US" sz="1200" i="1" dirty="0">
                <a:solidFill>
                  <a:srgbClr val="5A6B7A"/>
                </a:solidFill>
                <a:latin typeface="Calibri" pitchFamily="34" charset="0"/>
                <a:ea typeface="Calibri" pitchFamily="34" charset="-122"/>
                <a:cs typeface="Calibri" pitchFamily="34" charset="-120"/>
              </a:rPr>
              <a:t>Collaborative six-axis arm</a:t>
            </a:r>
            <a:endParaRPr lang="en-US" sz="1200" dirty="0"/>
          </a:p>
        </p:txBody>
      </p:sp>
      <p:sp>
        <p:nvSpPr>
          <p:cNvPr id="22" name="Text 20"/>
          <p:cNvSpPr/>
          <p:nvPr/>
        </p:nvSpPr>
        <p:spPr>
          <a:xfrm>
            <a:off x="6565392" y="2606040"/>
            <a:ext cx="2331720" cy="384048"/>
          </a:xfrm>
          <a:prstGeom prst="rect">
            <a:avLst/>
          </a:prstGeom>
          <a:noFill/>
          <a:ln/>
        </p:spPr>
        <p:txBody>
          <a:bodyPr wrap="square" rtlCol="0" anchor="ctr"/>
          <a:lstStyle/>
          <a:p>
            <a:pPr indent="0" marL="0">
              <a:buNone/>
            </a:pPr>
            <a:r>
              <a:rPr lang="en-US" sz="2100" b="1" dirty="0">
                <a:solidFill>
                  <a:srgbClr val="3E7CB1"/>
                </a:solidFill>
                <a:latin typeface="Cambria" pitchFamily="34" charset="0"/>
                <a:ea typeface="Cambria" pitchFamily="34" charset="-122"/>
                <a:cs typeface="Cambria" pitchFamily="34" charset="-120"/>
              </a:rPr>
              <a:t>5 kg</a:t>
            </a:r>
            <a:endParaRPr lang="en-US" sz="2100" dirty="0"/>
          </a:p>
        </p:txBody>
      </p:sp>
      <p:sp>
        <p:nvSpPr>
          <p:cNvPr id="23" name="Text 21"/>
          <p:cNvSpPr/>
          <p:nvPr/>
        </p:nvSpPr>
        <p:spPr>
          <a:xfrm>
            <a:off x="6565392" y="3008376"/>
            <a:ext cx="2331720" cy="292608"/>
          </a:xfrm>
          <a:prstGeom prst="rect">
            <a:avLst/>
          </a:prstGeom>
          <a:noFill/>
          <a:ln/>
        </p:spPr>
        <p:txBody>
          <a:bodyPr wrap="square" rtlCol="0" anchor="ctr"/>
          <a:lstStyle/>
          <a:p>
            <a:pPr indent="0" marL="0">
              <a:buNone/>
            </a:pPr>
            <a:r>
              <a:rPr lang="en-US" sz="1150" dirty="0">
                <a:solidFill>
                  <a:srgbClr val="5A6B7A"/>
                </a:solidFill>
                <a:latin typeface="Calibri" pitchFamily="34" charset="0"/>
                <a:ea typeface="Calibri" pitchFamily="34" charset="-122"/>
                <a:cs typeface="Calibri" pitchFamily="34" charset="-120"/>
              </a:rPr>
              <a:t>payload</a:t>
            </a:r>
            <a:endParaRPr lang="en-US" sz="1150" dirty="0"/>
          </a:p>
        </p:txBody>
      </p:sp>
      <p:sp>
        <p:nvSpPr>
          <p:cNvPr id="24" name="Text 22"/>
          <p:cNvSpPr/>
          <p:nvPr/>
        </p:nvSpPr>
        <p:spPr>
          <a:xfrm>
            <a:off x="9034272" y="2606040"/>
            <a:ext cx="2331720" cy="384048"/>
          </a:xfrm>
          <a:prstGeom prst="rect">
            <a:avLst/>
          </a:prstGeom>
          <a:noFill/>
          <a:ln/>
        </p:spPr>
        <p:txBody>
          <a:bodyPr wrap="square" rtlCol="0" anchor="ctr"/>
          <a:lstStyle/>
          <a:p>
            <a:pPr indent="0" marL="0">
              <a:buNone/>
            </a:pPr>
            <a:r>
              <a:rPr lang="en-US" sz="2100" b="1" dirty="0">
                <a:solidFill>
                  <a:srgbClr val="3E7CB1"/>
                </a:solidFill>
                <a:latin typeface="Cambria" pitchFamily="34" charset="0"/>
                <a:ea typeface="Cambria" pitchFamily="34" charset="-122"/>
                <a:cs typeface="Cambria" pitchFamily="34" charset="-120"/>
              </a:rPr>
              <a:t>850 mm</a:t>
            </a:r>
            <a:endParaRPr lang="en-US" sz="2100" dirty="0"/>
          </a:p>
        </p:txBody>
      </p:sp>
      <p:sp>
        <p:nvSpPr>
          <p:cNvPr id="25" name="Text 23"/>
          <p:cNvSpPr/>
          <p:nvPr/>
        </p:nvSpPr>
        <p:spPr>
          <a:xfrm>
            <a:off x="9034272" y="3008376"/>
            <a:ext cx="2331720" cy="292608"/>
          </a:xfrm>
          <a:prstGeom prst="rect">
            <a:avLst/>
          </a:prstGeom>
          <a:noFill/>
          <a:ln/>
        </p:spPr>
        <p:txBody>
          <a:bodyPr wrap="square" rtlCol="0" anchor="ctr"/>
          <a:lstStyle/>
          <a:p>
            <a:pPr indent="0" marL="0">
              <a:buNone/>
            </a:pPr>
            <a:r>
              <a:rPr lang="en-US" sz="1150" dirty="0">
                <a:solidFill>
                  <a:srgbClr val="5A6B7A"/>
                </a:solidFill>
                <a:latin typeface="Calibri" pitchFamily="34" charset="0"/>
                <a:ea typeface="Calibri" pitchFamily="34" charset="-122"/>
                <a:cs typeface="Calibri" pitchFamily="34" charset="-120"/>
              </a:rPr>
              <a:t>reach</a:t>
            </a:r>
            <a:endParaRPr lang="en-US" sz="1150" dirty="0"/>
          </a:p>
        </p:txBody>
      </p:sp>
      <p:sp>
        <p:nvSpPr>
          <p:cNvPr id="26" name="Text 24"/>
          <p:cNvSpPr/>
          <p:nvPr/>
        </p:nvSpPr>
        <p:spPr>
          <a:xfrm>
            <a:off x="6565392" y="3538728"/>
            <a:ext cx="2331720" cy="384048"/>
          </a:xfrm>
          <a:prstGeom prst="rect">
            <a:avLst/>
          </a:prstGeom>
          <a:noFill/>
          <a:ln/>
        </p:spPr>
        <p:txBody>
          <a:bodyPr wrap="square" rtlCol="0" anchor="ctr"/>
          <a:lstStyle/>
          <a:p>
            <a:pPr indent="0" marL="0">
              <a:buNone/>
            </a:pPr>
            <a:r>
              <a:rPr lang="en-US" sz="2100" b="1" dirty="0">
                <a:solidFill>
                  <a:srgbClr val="3E7CB1"/>
                </a:solidFill>
                <a:latin typeface="Cambria" pitchFamily="34" charset="0"/>
                <a:ea typeface="Cambria" pitchFamily="34" charset="-122"/>
                <a:cs typeface="Cambria" pitchFamily="34" charset="-120"/>
              </a:rPr>
              <a:t>±0.03 mm</a:t>
            </a:r>
            <a:endParaRPr lang="en-US" sz="2100" dirty="0"/>
          </a:p>
        </p:txBody>
      </p:sp>
      <p:sp>
        <p:nvSpPr>
          <p:cNvPr id="27" name="Text 25"/>
          <p:cNvSpPr/>
          <p:nvPr/>
        </p:nvSpPr>
        <p:spPr>
          <a:xfrm>
            <a:off x="6565392" y="3941064"/>
            <a:ext cx="2331720" cy="292608"/>
          </a:xfrm>
          <a:prstGeom prst="rect">
            <a:avLst/>
          </a:prstGeom>
          <a:noFill/>
          <a:ln/>
        </p:spPr>
        <p:txBody>
          <a:bodyPr wrap="square" rtlCol="0" anchor="ctr"/>
          <a:lstStyle/>
          <a:p>
            <a:pPr indent="0" marL="0">
              <a:buNone/>
            </a:pPr>
            <a:r>
              <a:rPr lang="en-US" sz="1150" dirty="0">
                <a:solidFill>
                  <a:srgbClr val="5A6B7A"/>
                </a:solidFill>
                <a:latin typeface="Calibri" pitchFamily="34" charset="0"/>
                <a:ea typeface="Calibri" pitchFamily="34" charset="-122"/>
                <a:cs typeface="Calibri" pitchFamily="34" charset="-120"/>
              </a:rPr>
              <a:t>repeatability</a:t>
            </a:r>
            <a:endParaRPr lang="en-US" sz="1150" dirty="0"/>
          </a:p>
        </p:txBody>
      </p:sp>
      <p:sp>
        <p:nvSpPr>
          <p:cNvPr id="28" name="Text 26"/>
          <p:cNvSpPr/>
          <p:nvPr/>
        </p:nvSpPr>
        <p:spPr>
          <a:xfrm>
            <a:off x="9034272" y="3538728"/>
            <a:ext cx="2331720" cy="384048"/>
          </a:xfrm>
          <a:prstGeom prst="rect">
            <a:avLst/>
          </a:prstGeom>
          <a:noFill/>
          <a:ln/>
        </p:spPr>
        <p:txBody>
          <a:bodyPr wrap="square" rtlCol="0" anchor="ctr"/>
          <a:lstStyle/>
          <a:p>
            <a:pPr indent="0" marL="0">
              <a:buNone/>
            </a:pPr>
            <a:r>
              <a:rPr lang="en-US" sz="2100" b="1" dirty="0">
                <a:solidFill>
                  <a:srgbClr val="3E7CB1"/>
                </a:solidFill>
                <a:latin typeface="Cambria" pitchFamily="34" charset="0"/>
                <a:ea typeface="Cambria" pitchFamily="34" charset="-122"/>
                <a:cs typeface="Cambria" pitchFamily="34" charset="-120"/>
              </a:rPr>
              <a:t>1.5 A</a:t>
            </a:r>
            <a:endParaRPr lang="en-US" sz="2100" dirty="0"/>
          </a:p>
        </p:txBody>
      </p:sp>
      <p:sp>
        <p:nvSpPr>
          <p:cNvPr id="29" name="Text 27"/>
          <p:cNvSpPr/>
          <p:nvPr/>
        </p:nvSpPr>
        <p:spPr>
          <a:xfrm>
            <a:off x="9034272" y="3941064"/>
            <a:ext cx="2331720" cy="292608"/>
          </a:xfrm>
          <a:prstGeom prst="rect">
            <a:avLst/>
          </a:prstGeom>
          <a:noFill/>
          <a:ln/>
        </p:spPr>
        <p:txBody>
          <a:bodyPr wrap="square" rtlCol="0" anchor="ctr"/>
          <a:lstStyle/>
          <a:p>
            <a:pPr indent="0" marL="0">
              <a:buNone/>
            </a:pPr>
            <a:r>
              <a:rPr lang="en-US" sz="1150" dirty="0">
                <a:solidFill>
                  <a:srgbClr val="5A6B7A"/>
                </a:solidFill>
                <a:latin typeface="Calibri" pitchFamily="34" charset="0"/>
                <a:ea typeface="Calibri" pitchFamily="34" charset="-122"/>
                <a:cs typeface="Calibri" pitchFamily="34" charset="-120"/>
              </a:rPr>
              <a:t>tool I/O supply</a:t>
            </a:r>
            <a:endParaRPr lang="en-US" sz="1150" dirty="0"/>
          </a:p>
        </p:txBody>
      </p:sp>
      <p:sp>
        <p:nvSpPr>
          <p:cNvPr id="30" name="Text 28"/>
          <p:cNvSpPr/>
          <p:nvPr/>
        </p:nvSpPr>
        <p:spPr>
          <a:xfrm>
            <a:off x="6565392" y="4471416"/>
            <a:ext cx="2331720" cy="384048"/>
          </a:xfrm>
          <a:prstGeom prst="rect">
            <a:avLst/>
          </a:prstGeom>
          <a:noFill/>
          <a:ln/>
        </p:spPr>
        <p:txBody>
          <a:bodyPr wrap="square" rtlCol="0" anchor="ctr"/>
          <a:lstStyle/>
          <a:p>
            <a:pPr indent="0" marL="0">
              <a:buNone/>
            </a:pPr>
            <a:r>
              <a:rPr lang="en-US" sz="2100" b="1" dirty="0">
                <a:solidFill>
                  <a:srgbClr val="3E7CB1"/>
                </a:solidFill>
                <a:latin typeface="Cambria" pitchFamily="34" charset="0"/>
                <a:ea typeface="Cambria" pitchFamily="34" charset="-122"/>
                <a:cs typeface="Cambria" pitchFamily="34" charset="-120"/>
              </a:rPr>
              <a:t>M8 8-pin</a:t>
            </a:r>
            <a:endParaRPr lang="en-US" sz="2100" dirty="0"/>
          </a:p>
        </p:txBody>
      </p:sp>
      <p:sp>
        <p:nvSpPr>
          <p:cNvPr id="31" name="Text 29"/>
          <p:cNvSpPr/>
          <p:nvPr/>
        </p:nvSpPr>
        <p:spPr>
          <a:xfrm>
            <a:off x="6565392" y="4873752"/>
            <a:ext cx="2331720" cy="292608"/>
          </a:xfrm>
          <a:prstGeom prst="rect">
            <a:avLst/>
          </a:prstGeom>
          <a:noFill/>
          <a:ln/>
        </p:spPr>
        <p:txBody>
          <a:bodyPr wrap="square" rtlCol="0" anchor="ctr"/>
          <a:lstStyle/>
          <a:p>
            <a:pPr indent="0" marL="0">
              <a:buNone/>
            </a:pPr>
            <a:r>
              <a:rPr lang="en-US" sz="1150" dirty="0">
                <a:solidFill>
                  <a:srgbClr val="5A6B7A"/>
                </a:solidFill>
                <a:latin typeface="Calibri" pitchFamily="34" charset="0"/>
                <a:ea typeface="Calibri" pitchFamily="34" charset="-122"/>
                <a:cs typeface="Calibri" pitchFamily="34" charset="-120"/>
              </a:rPr>
              <a:t>tool connector</a:t>
            </a:r>
            <a:endParaRPr lang="en-US" sz="1150" dirty="0"/>
          </a:p>
        </p:txBody>
      </p:sp>
      <p:sp>
        <p:nvSpPr>
          <p:cNvPr id="32" name="Text 30"/>
          <p:cNvSpPr/>
          <p:nvPr/>
        </p:nvSpPr>
        <p:spPr>
          <a:xfrm>
            <a:off x="9034272" y="4471416"/>
            <a:ext cx="2331720" cy="384048"/>
          </a:xfrm>
          <a:prstGeom prst="rect">
            <a:avLst/>
          </a:prstGeom>
          <a:noFill/>
          <a:ln/>
        </p:spPr>
        <p:txBody>
          <a:bodyPr wrap="square" rtlCol="0" anchor="ctr"/>
          <a:lstStyle/>
          <a:p>
            <a:pPr indent="0" marL="0">
              <a:buNone/>
            </a:pPr>
            <a:r>
              <a:rPr lang="en-US" sz="2100" b="1" dirty="0">
                <a:solidFill>
                  <a:srgbClr val="3E7CB1"/>
                </a:solidFill>
                <a:latin typeface="Cambria" pitchFamily="34" charset="0"/>
                <a:ea typeface="Cambria" pitchFamily="34" charset="-122"/>
                <a:cs typeface="Cambria" pitchFamily="34" charset="-120"/>
              </a:rPr>
              <a:t>RS-485</a:t>
            </a:r>
            <a:endParaRPr lang="en-US" sz="2100" dirty="0"/>
          </a:p>
        </p:txBody>
      </p:sp>
      <p:sp>
        <p:nvSpPr>
          <p:cNvPr id="33" name="Text 31"/>
          <p:cNvSpPr/>
          <p:nvPr/>
        </p:nvSpPr>
        <p:spPr>
          <a:xfrm>
            <a:off x="9034272" y="4873752"/>
            <a:ext cx="2331720" cy="292608"/>
          </a:xfrm>
          <a:prstGeom prst="rect">
            <a:avLst/>
          </a:prstGeom>
          <a:noFill/>
          <a:ln/>
        </p:spPr>
        <p:txBody>
          <a:bodyPr wrap="square" rtlCol="0" anchor="ctr"/>
          <a:lstStyle/>
          <a:p>
            <a:pPr indent="0" marL="0">
              <a:buNone/>
            </a:pPr>
            <a:r>
              <a:rPr lang="en-US" sz="1150" dirty="0">
                <a:solidFill>
                  <a:srgbClr val="5A6B7A"/>
                </a:solidFill>
                <a:latin typeface="Calibri" pitchFamily="34" charset="0"/>
                <a:ea typeface="Calibri" pitchFamily="34" charset="-122"/>
                <a:cs typeface="Calibri" pitchFamily="34" charset="-120"/>
              </a:rPr>
              <a:t>via Tool Comm. Interface</a:t>
            </a:r>
            <a:endParaRPr lang="en-US" sz="1150" dirty="0"/>
          </a:p>
        </p:txBody>
      </p:sp>
      <p:sp>
        <p:nvSpPr>
          <p:cNvPr id="34" name="Text 32"/>
          <p:cNvSpPr/>
          <p:nvPr/>
        </p:nvSpPr>
        <p:spPr>
          <a:xfrm>
            <a:off x="457200" y="6473952"/>
            <a:ext cx="8961120" cy="274320"/>
          </a:xfrm>
          <a:prstGeom prst="rect">
            <a:avLst/>
          </a:prstGeom>
          <a:noFill/>
          <a:ln/>
        </p:spPr>
        <p:txBody>
          <a:bodyPr wrap="square" rtlCol="0" anchor="ctr"/>
          <a:lstStyle/>
          <a:p>
            <a:pPr indent="0" marL="0">
              <a:buNone/>
            </a:pPr>
            <a:r>
              <a:rPr lang="en-US" sz="900" dirty="0">
                <a:solidFill>
                  <a:srgbClr val="5A6B7A"/>
                </a:solidFill>
                <a:latin typeface="Calibri" pitchFamily="34" charset="0"/>
                <a:ea typeface="Calibri" pitchFamily="34" charset="-122"/>
                <a:cs typeface="Calibri" pitchFamily="34" charset="-120"/>
              </a:rPr>
              <a:t>RH56F1-E2R-T1  ×  UR5e  —  Integration Design &amp; Evaluation Plan</a:t>
            </a:r>
            <a:endParaRPr lang="en-US" sz="900" dirty="0"/>
          </a:p>
        </p:txBody>
      </p:sp>
      <p:sp>
        <p:nvSpPr>
          <p:cNvPr id="35" name="Text 33"/>
          <p:cNvSpPr/>
          <p:nvPr/>
        </p:nvSpPr>
        <p:spPr>
          <a:xfrm>
            <a:off x="11475720" y="6473952"/>
            <a:ext cx="4114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DESIGN DECISION</a:t>
            </a:r>
            <a:endParaRPr lang="en-US" sz="1200" dirty="0"/>
          </a:p>
        </p:txBody>
      </p:sp>
      <p:sp>
        <p:nvSpPr>
          <p:cNvPr id="3" name="Text 1"/>
          <p:cNvSpPr/>
          <p:nvPr/>
        </p:nvSpPr>
        <p:spPr>
          <a:xfrm>
            <a:off x="530352" y="658368"/>
            <a:ext cx="11109960" cy="731520"/>
          </a:xfrm>
          <a:prstGeom prst="rect">
            <a:avLst/>
          </a:prstGeom>
          <a:noFill/>
          <a:ln/>
        </p:spPr>
        <p:txBody>
          <a:bodyPr wrap="square" rtlCol="0" anchor="ctr"/>
          <a:lstStyle/>
          <a:p>
            <a:pPr indent="0" marL="0">
              <a:buNone/>
            </a:pPr>
            <a:r>
              <a:rPr lang="en-US" sz="2900" b="1" dirty="0">
                <a:solidFill>
                  <a:srgbClr val="12233B"/>
                </a:solidFill>
                <a:latin typeface="Cambria" pitchFamily="34" charset="0"/>
                <a:ea typeface="Cambria" pitchFamily="34" charset="-122"/>
                <a:cs typeface="Cambria" pitchFamily="34" charset="-120"/>
              </a:rPr>
              <a:t>Why the E2R-T1 build is uniquely determined</a:t>
            </a:r>
            <a:endParaRPr lang="en-US" sz="2900" dirty="0"/>
          </a:p>
        </p:txBody>
      </p:sp>
      <p:sp>
        <p:nvSpPr>
          <p:cNvPr id="4" name="Text 2"/>
          <p:cNvSpPr/>
          <p:nvPr/>
        </p:nvSpPr>
        <p:spPr>
          <a:xfrm>
            <a:off x="548640" y="1463040"/>
            <a:ext cx="10972800" cy="457200"/>
          </a:xfrm>
          <a:prstGeom prst="rect">
            <a:avLst/>
          </a:prstGeom>
          <a:noFill/>
          <a:ln/>
        </p:spPr>
        <p:txBody>
          <a:bodyPr wrap="square" rtlCol="0" anchor="ctr"/>
          <a:lstStyle/>
          <a:p>
            <a:pPr indent="0" marL="0">
              <a:buNone/>
            </a:pPr>
            <a:r>
              <a:rPr lang="en-US" sz="1500" dirty="0">
                <a:solidFill>
                  <a:srgbClr val="1A2733"/>
                </a:solidFill>
                <a:latin typeface="Calibri" pitchFamily="34" charset="0"/>
                <a:ea typeface="Calibri" pitchFamily="34" charset="-122"/>
                <a:cs typeface="Calibri" pitchFamily="34" charset="-120"/>
              </a:rPr>
              <a:t>The series ships in four builds. The target arm — not the application — fixes the choice.</a:t>
            </a:r>
            <a:endParaRPr lang="en-US" sz="1500" dirty="0"/>
          </a:p>
        </p:txBody>
      </p:sp>
      <p:sp>
        <p:nvSpPr>
          <p:cNvPr id="5" name="Shape 3"/>
          <p:cNvSpPr/>
          <p:nvPr/>
        </p:nvSpPr>
        <p:spPr>
          <a:xfrm>
            <a:off x="548640" y="2194560"/>
            <a:ext cx="3246120" cy="2468880"/>
          </a:xfrm>
          <a:prstGeom prst="roundRect">
            <a:avLst>
              <a:gd name="adj" fmla="val 4444"/>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6" name="Shape 4"/>
          <p:cNvSpPr/>
          <p:nvPr/>
        </p:nvSpPr>
        <p:spPr>
          <a:xfrm>
            <a:off x="822960" y="2468880"/>
            <a:ext cx="566928" cy="566928"/>
          </a:xfrm>
          <a:prstGeom prst="ellipse">
            <a:avLst/>
          </a:prstGeom>
          <a:solidFill>
            <a:srgbClr val="3E7CB1"/>
          </a:solidFill>
          <a:ln/>
          <a:effectLst>
            <a:outerShdw sx="100000" sy="100000" kx="0" ky="0" algn="bl" rotWithShape="0" blurRad="76200" dist="38100" dir="5400000">
              <a:srgbClr val="8FA3B5">
                <a:alpha val="35000"/>
              </a:srgbClr>
            </a:outerShdw>
          </a:effectLst>
        </p:spPr>
      </p:sp>
      <p:sp>
        <p:nvSpPr>
          <p:cNvPr id="7" name="Text 5"/>
          <p:cNvSpPr/>
          <p:nvPr/>
        </p:nvSpPr>
        <p:spPr>
          <a:xfrm>
            <a:off x="822960" y="2468880"/>
            <a:ext cx="566928" cy="56692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804672" y="3154680"/>
            <a:ext cx="2734056" cy="640080"/>
          </a:xfrm>
          <a:prstGeom prst="rect">
            <a:avLst/>
          </a:prstGeom>
          <a:noFill/>
          <a:ln/>
        </p:spPr>
        <p:txBody>
          <a:bodyPr wrap="square" rtlCol="0" anchor="ctr"/>
          <a:lstStyle/>
          <a:p>
            <a:pPr indent="0" marL="0">
              <a:buNone/>
            </a:pPr>
            <a:r>
              <a:rPr lang="en-US" sz="1550" b="1" dirty="0">
                <a:solidFill>
                  <a:srgbClr val="12233B"/>
                </a:solidFill>
                <a:latin typeface="Cambria" pitchFamily="34" charset="0"/>
                <a:ea typeface="Cambria" pitchFamily="34" charset="-122"/>
                <a:cs typeface="Cambria" pitchFamily="34" charset="-120"/>
              </a:rPr>
              <a:t>Interface must be RS-485</a:t>
            </a:r>
            <a:endParaRPr lang="en-US" sz="1550" dirty="0"/>
          </a:p>
        </p:txBody>
      </p:sp>
      <p:sp>
        <p:nvSpPr>
          <p:cNvPr id="9" name="Text 7"/>
          <p:cNvSpPr/>
          <p:nvPr/>
        </p:nvSpPr>
        <p:spPr>
          <a:xfrm>
            <a:off x="804672" y="3749040"/>
            <a:ext cx="2734056" cy="54864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The UR5e flange carries RS-485, not CAN FD</a:t>
            </a:r>
            <a:endParaRPr lang="en-US" sz="1200" dirty="0"/>
          </a:p>
        </p:txBody>
      </p:sp>
      <p:sp>
        <p:nvSpPr>
          <p:cNvPr id="10" name="Text 8"/>
          <p:cNvSpPr/>
          <p:nvPr/>
        </p:nvSpPr>
        <p:spPr>
          <a:xfrm>
            <a:off x="804672" y="4242816"/>
            <a:ext cx="2734056" cy="365760"/>
          </a:xfrm>
          <a:prstGeom prst="rect">
            <a:avLst/>
          </a:prstGeom>
          <a:noFill/>
          <a:ln/>
        </p:spPr>
        <p:txBody>
          <a:bodyPr wrap="square" rtlCol="0" anchor="ctr"/>
          <a:lstStyle/>
          <a:p>
            <a:pPr indent="0" marL="0">
              <a:buNone/>
            </a:pPr>
            <a:r>
              <a:rPr lang="en-US" sz="1150" b="1" i="1" dirty="0">
                <a:solidFill>
                  <a:srgbClr val="3E7CB1"/>
                </a:solidFill>
                <a:latin typeface="Calibri" pitchFamily="34" charset="0"/>
                <a:ea typeface="Calibri" pitchFamily="34" charset="-122"/>
                <a:cs typeface="Calibri" pitchFamily="34" charset="-120"/>
              </a:rPr>
              <a:t>Rules out the E4 (CAN FD) builds</a:t>
            </a:r>
            <a:endParaRPr lang="en-US" sz="1150" dirty="0"/>
          </a:p>
        </p:txBody>
      </p:sp>
      <p:sp>
        <p:nvSpPr>
          <p:cNvPr id="11" name="Text 9"/>
          <p:cNvSpPr/>
          <p:nvPr/>
        </p:nvSpPr>
        <p:spPr>
          <a:xfrm>
            <a:off x="3776472" y="3017520"/>
            <a:ext cx="420624" cy="548640"/>
          </a:xfrm>
          <a:prstGeom prst="rect">
            <a:avLst/>
          </a:prstGeom>
          <a:noFill/>
          <a:ln/>
        </p:spPr>
        <p:txBody>
          <a:bodyPr wrap="square" rtlCol="0" anchor="ctr"/>
          <a:lstStyle/>
          <a:p>
            <a:pPr algn="ctr" indent="0" marL="0">
              <a:buNone/>
            </a:pPr>
            <a:r>
              <a:rPr lang="en-US" sz="2600" b="1" dirty="0">
                <a:solidFill>
                  <a:srgbClr val="5A6B7A"/>
                </a:solidFill>
                <a:latin typeface="Cambria" pitchFamily="34" charset="0"/>
                <a:ea typeface="Cambria" pitchFamily="34" charset="-122"/>
                <a:cs typeface="Cambria" pitchFamily="34" charset="-120"/>
              </a:rPr>
              <a:t>→</a:t>
            </a:r>
            <a:endParaRPr lang="en-US" sz="2600" dirty="0"/>
          </a:p>
        </p:txBody>
      </p:sp>
      <p:sp>
        <p:nvSpPr>
          <p:cNvPr id="12" name="Shape 10"/>
          <p:cNvSpPr/>
          <p:nvPr/>
        </p:nvSpPr>
        <p:spPr>
          <a:xfrm>
            <a:off x="4178808" y="2194560"/>
            <a:ext cx="3246120" cy="2468880"/>
          </a:xfrm>
          <a:prstGeom prst="roundRect">
            <a:avLst>
              <a:gd name="adj" fmla="val 4444"/>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13" name="Shape 11"/>
          <p:cNvSpPr/>
          <p:nvPr/>
        </p:nvSpPr>
        <p:spPr>
          <a:xfrm>
            <a:off x="4453128" y="2468880"/>
            <a:ext cx="566928" cy="566928"/>
          </a:xfrm>
          <a:prstGeom prst="ellipse">
            <a:avLst/>
          </a:prstGeom>
          <a:solidFill>
            <a:srgbClr val="E8871E"/>
          </a:solidFill>
          <a:ln/>
          <a:effectLst>
            <a:outerShdw sx="100000" sy="100000" kx="0" ky="0" algn="bl" rotWithShape="0" blurRad="76200" dist="38100" dir="5400000">
              <a:srgbClr val="8FA3B5">
                <a:alpha val="35000"/>
              </a:srgbClr>
            </a:outerShdw>
          </a:effectLst>
        </p:spPr>
      </p:sp>
      <p:sp>
        <p:nvSpPr>
          <p:cNvPr id="14" name="Text 12"/>
          <p:cNvSpPr/>
          <p:nvPr/>
        </p:nvSpPr>
        <p:spPr>
          <a:xfrm>
            <a:off x="4453128" y="2468880"/>
            <a:ext cx="566928" cy="56692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p:nvPr/>
        </p:nvSpPr>
        <p:spPr>
          <a:xfrm>
            <a:off x="4434840" y="3154680"/>
            <a:ext cx="2734056" cy="640080"/>
          </a:xfrm>
          <a:prstGeom prst="rect">
            <a:avLst/>
          </a:prstGeom>
          <a:noFill/>
          <a:ln/>
        </p:spPr>
        <p:txBody>
          <a:bodyPr wrap="square" rtlCol="0" anchor="ctr"/>
          <a:lstStyle/>
          <a:p>
            <a:pPr indent="0" marL="0">
              <a:buNone/>
            </a:pPr>
            <a:r>
              <a:rPr lang="en-US" sz="1550" b="1" dirty="0">
                <a:solidFill>
                  <a:srgbClr val="12233B"/>
                </a:solidFill>
                <a:latin typeface="Cambria" pitchFamily="34" charset="0"/>
                <a:ea typeface="Cambria" pitchFamily="34" charset="-122"/>
                <a:cs typeface="Cambria" pitchFamily="34" charset="-120"/>
              </a:rPr>
              <a:t>Force control needs touch</a:t>
            </a:r>
            <a:endParaRPr lang="en-US" sz="1550" dirty="0"/>
          </a:p>
        </p:txBody>
      </p:sp>
      <p:sp>
        <p:nvSpPr>
          <p:cNvPr id="16" name="Text 14"/>
          <p:cNvSpPr/>
          <p:nvPr/>
        </p:nvSpPr>
        <p:spPr>
          <a:xfrm>
            <a:off x="4434840" y="3749040"/>
            <a:ext cx="2734056" cy="54864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Fragile-object grasping needs tactile feedback</a:t>
            </a:r>
            <a:endParaRPr lang="en-US" sz="1200" dirty="0"/>
          </a:p>
        </p:txBody>
      </p:sp>
      <p:sp>
        <p:nvSpPr>
          <p:cNvPr id="17" name="Text 15"/>
          <p:cNvSpPr/>
          <p:nvPr/>
        </p:nvSpPr>
        <p:spPr>
          <a:xfrm>
            <a:off x="4434840" y="4242816"/>
            <a:ext cx="2734056" cy="365760"/>
          </a:xfrm>
          <a:prstGeom prst="rect">
            <a:avLst/>
          </a:prstGeom>
          <a:noFill/>
          <a:ln/>
        </p:spPr>
        <p:txBody>
          <a:bodyPr wrap="square" rtlCol="0" anchor="ctr"/>
          <a:lstStyle/>
          <a:p>
            <a:pPr indent="0" marL="0">
              <a:buNone/>
            </a:pPr>
            <a:r>
              <a:rPr lang="en-US" sz="1150" b="1" i="1" dirty="0">
                <a:solidFill>
                  <a:srgbClr val="E8871E"/>
                </a:solidFill>
                <a:latin typeface="Calibri" pitchFamily="34" charset="0"/>
                <a:ea typeface="Calibri" pitchFamily="34" charset="-122"/>
                <a:cs typeface="Calibri" pitchFamily="34" charset="-120"/>
              </a:rPr>
              <a:t>Requires the “-T1” tactile build</a:t>
            </a:r>
            <a:endParaRPr lang="en-US" sz="1150" dirty="0"/>
          </a:p>
        </p:txBody>
      </p:sp>
      <p:sp>
        <p:nvSpPr>
          <p:cNvPr id="18" name="Text 16"/>
          <p:cNvSpPr/>
          <p:nvPr/>
        </p:nvSpPr>
        <p:spPr>
          <a:xfrm>
            <a:off x="7406640" y="3017520"/>
            <a:ext cx="420624" cy="548640"/>
          </a:xfrm>
          <a:prstGeom prst="rect">
            <a:avLst/>
          </a:prstGeom>
          <a:noFill/>
          <a:ln/>
        </p:spPr>
        <p:txBody>
          <a:bodyPr wrap="square" rtlCol="0" anchor="ctr"/>
          <a:lstStyle/>
          <a:p>
            <a:pPr algn="ctr" indent="0" marL="0">
              <a:buNone/>
            </a:pPr>
            <a:r>
              <a:rPr lang="en-US" sz="2600" b="1" dirty="0">
                <a:solidFill>
                  <a:srgbClr val="5A6B7A"/>
                </a:solidFill>
                <a:latin typeface="Cambria" pitchFamily="34" charset="0"/>
                <a:ea typeface="Cambria" pitchFamily="34" charset="-122"/>
                <a:cs typeface="Cambria" pitchFamily="34" charset="-120"/>
              </a:rPr>
              <a:t>→</a:t>
            </a:r>
            <a:endParaRPr lang="en-US" sz="2600" dirty="0"/>
          </a:p>
        </p:txBody>
      </p:sp>
      <p:sp>
        <p:nvSpPr>
          <p:cNvPr id="19" name="Shape 17"/>
          <p:cNvSpPr/>
          <p:nvPr/>
        </p:nvSpPr>
        <p:spPr>
          <a:xfrm>
            <a:off x="7808976" y="2194560"/>
            <a:ext cx="3246120" cy="2468880"/>
          </a:xfrm>
          <a:prstGeom prst="roundRect">
            <a:avLst>
              <a:gd name="adj" fmla="val 4444"/>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20" name="Shape 18"/>
          <p:cNvSpPr/>
          <p:nvPr/>
        </p:nvSpPr>
        <p:spPr>
          <a:xfrm>
            <a:off x="8083296" y="2468880"/>
            <a:ext cx="566928" cy="566928"/>
          </a:xfrm>
          <a:prstGeom prst="ellipse">
            <a:avLst/>
          </a:prstGeom>
          <a:solidFill>
            <a:srgbClr val="1B3A5B"/>
          </a:solidFill>
          <a:ln/>
          <a:effectLst>
            <a:outerShdw sx="100000" sy="100000" kx="0" ky="0" algn="bl" rotWithShape="0" blurRad="76200" dist="38100" dir="5400000">
              <a:srgbClr val="8FA3B5">
                <a:alpha val="35000"/>
              </a:srgbClr>
            </a:outerShdw>
          </a:effectLst>
        </p:spPr>
      </p:sp>
      <p:sp>
        <p:nvSpPr>
          <p:cNvPr id="21" name="Text 19"/>
          <p:cNvSpPr/>
          <p:nvPr/>
        </p:nvSpPr>
        <p:spPr>
          <a:xfrm>
            <a:off x="8083296" y="2468880"/>
            <a:ext cx="566928" cy="56692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2" name="Text 20"/>
          <p:cNvSpPr/>
          <p:nvPr/>
        </p:nvSpPr>
        <p:spPr>
          <a:xfrm>
            <a:off x="8065008" y="3154680"/>
            <a:ext cx="2734056" cy="640080"/>
          </a:xfrm>
          <a:prstGeom prst="rect">
            <a:avLst/>
          </a:prstGeom>
          <a:noFill/>
          <a:ln/>
        </p:spPr>
        <p:txBody>
          <a:bodyPr wrap="square" rtlCol="0" anchor="ctr"/>
          <a:lstStyle/>
          <a:p>
            <a:pPr indent="0" marL="0">
              <a:buNone/>
            </a:pPr>
            <a:r>
              <a:rPr lang="en-US" sz="1550" b="1" dirty="0">
                <a:solidFill>
                  <a:srgbClr val="12233B"/>
                </a:solidFill>
                <a:latin typeface="Cambria" pitchFamily="34" charset="0"/>
                <a:ea typeface="Cambria" pitchFamily="34" charset="-122"/>
                <a:cs typeface="Cambria" pitchFamily="34" charset="-120"/>
              </a:rPr>
              <a:t>Right hand ordered</a:t>
            </a:r>
            <a:endParaRPr lang="en-US" sz="1550" dirty="0"/>
          </a:p>
        </p:txBody>
      </p:sp>
      <p:sp>
        <p:nvSpPr>
          <p:cNvPr id="23" name="Text 21"/>
          <p:cNvSpPr/>
          <p:nvPr/>
        </p:nvSpPr>
        <p:spPr>
          <a:xfrm>
            <a:off x="8065008" y="3749040"/>
            <a:ext cx="2734056" cy="54864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Handedness set by procurement</a:t>
            </a:r>
            <a:endParaRPr lang="en-US" sz="1200" dirty="0"/>
          </a:p>
        </p:txBody>
      </p:sp>
      <p:sp>
        <p:nvSpPr>
          <p:cNvPr id="24" name="Text 22"/>
          <p:cNvSpPr/>
          <p:nvPr/>
        </p:nvSpPr>
        <p:spPr>
          <a:xfrm>
            <a:off x="8065008" y="4242816"/>
            <a:ext cx="2734056" cy="365760"/>
          </a:xfrm>
          <a:prstGeom prst="rect">
            <a:avLst/>
          </a:prstGeom>
          <a:noFill/>
          <a:ln/>
        </p:spPr>
        <p:txBody>
          <a:bodyPr wrap="square" rtlCol="0" anchor="ctr"/>
          <a:lstStyle/>
          <a:p>
            <a:pPr indent="0" marL="0">
              <a:buNone/>
            </a:pPr>
            <a:r>
              <a:rPr lang="en-US" sz="1150" b="1" i="1" dirty="0">
                <a:solidFill>
                  <a:srgbClr val="1B3A5B"/>
                </a:solidFill>
                <a:latin typeface="Calibri" pitchFamily="34" charset="0"/>
                <a:ea typeface="Calibri" pitchFamily="34" charset="-122"/>
                <a:cs typeface="Calibri" pitchFamily="34" charset="-120"/>
              </a:rPr>
              <a:t>Selects the “R” models</a:t>
            </a:r>
            <a:endParaRPr lang="en-US" sz="1150" dirty="0"/>
          </a:p>
        </p:txBody>
      </p:sp>
      <p:sp>
        <p:nvSpPr>
          <p:cNvPr id="25" name="Shape 23"/>
          <p:cNvSpPr/>
          <p:nvPr/>
        </p:nvSpPr>
        <p:spPr>
          <a:xfrm>
            <a:off x="548640" y="5074920"/>
            <a:ext cx="11091672" cy="914400"/>
          </a:xfrm>
          <a:prstGeom prst="roundRect">
            <a:avLst>
              <a:gd name="adj" fmla="val 12000"/>
            </a:avLst>
          </a:prstGeom>
          <a:solidFill>
            <a:srgbClr val="14304C"/>
          </a:solidFill>
          <a:ln/>
          <a:effectLst>
            <a:outerShdw sx="100000" sy="100000" kx="0" ky="0" algn="bl" rotWithShape="0" blurRad="114300" dist="50800" dir="5400000">
              <a:srgbClr val="0B1728">
                <a:alpha val="40000"/>
              </a:srgbClr>
            </a:outerShdw>
          </a:effectLst>
        </p:spPr>
      </p:sp>
      <p:sp>
        <p:nvSpPr>
          <p:cNvPr id="26" name="Text 24"/>
          <p:cNvSpPr/>
          <p:nvPr/>
        </p:nvSpPr>
        <p:spPr>
          <a:xfrm>
            <a:off x="868680" y="5074920"/>
            <a:ext cx="10424160" cy="914400"/>
          </a:xfrm>
          <a:prstGeom prst="rect">
            <a:avLst/>
          </a:prstGeom>
          <a:noFill/>
          <a:ln/>
        </p:spPr>
        <p:txBody>
          <a:bodyPr wrap="square" rtlCol="0" anchor="ctr"/>
          <a:lstStyle/>
          <a:p>
            <a:pPr indent="0" marL="0">
              <a:buNone/>
            </a:pPr>
            <a:r>
              <a:rPr lang="en-US" sz="1900" b="1" dirty="0">
                <a:solidFill>
                  <a:srgbClr val="E8871E"/>
                </a:solidFill>
                <a:latin typeface="Cambria" pitchFamily="34" charset="0"/>
                <a:ea typeface="Cambria" pitchFamily="34" charset="-122"/>
                <a:cs typeface="Cambria" pitchFamily="34" charset="-120"/>
              </a:rPr>
              <a:t>Result:  </a:t>
            </a:r>
            <a:pPr indent="0" marL="0">
              <a:buNone/>
            </a:pPr>
            <a:r>
              <a:rPr lang="en-US" sz="1900" b="1" dirty="0">
                <a:solidFill>
                  <a:srgbClr val="FFFFFF"/>
                </a:solidFill>
                <a:latin typeface="Cambria" pitchFamily="34" charset="0"/>
                <a:ea typeface="Cambria" pitchFamily="34" charset="-122"/>
                <a:cs typeface="Cambria" pitchFamily="34" charset="-120"/>
              </a:rPr>
              <a:t>RH56F1-E2R-T1</a:t>
            </a:r>
            <a:pPr indent="0" marL="0">
              <a:buNone/>
            </a:pPr>
            <a:r>
              <a:rPr lang="en-US" sz="1900" dirty="0">
                <a:solidFill>
                  <a:srgbClr val="CADCFC"/>
                </a:solidFill>
                <a:latin typeface="Cambria" pitchFamily="34" charset="0"/>
                <a:ea typeface="Cambria" pitchFamily="34" charset="-122"/>
                <a:cs typeface="Cambria" pitchFamily="34" charset="-120"/>
              </a:rPr>
              <a:t>  — the only build that satisfies all three constraints.</a:t>
            </a:r>
            <a:endParaRPr lang="en-US" sz="1900" dirty="0"/>
          </a:p>
        </p:txBody>
      </p:sp>
      <p:sp>
        <p:nvSpPr>
          <p:cNvPr id="27" name="Text 25"/>
          <p:cNvSpPr/>
          <p:nvPr/>
        </p:nvSpPr>
        <p:spPr>
          <a:xfrm>
            <a:off x="457200" y="6473952"/>
            <a:ext cx="8961120" cy="274320"/>
          </a:xfrm>
          <a:prstGeom prst="rect">
            <a:avLst/>
          </a:prstGeom>
          <a:noFill/>
          <a:ln/>
        </p:spPr>
        <p:txBody>
          <a:bodyPr wrap="square" rtlCol="0" anchor="ctr"/>
          <a:lstStyle/>
          <a:p>
            <a:pPr indent="0" marL="0">
              <a:buNone/>
            </a:pPr>
            <a:r>
              <a:rPr lang="en-US" sz="900" dirty="0">
                <a:solidFill>
                  <a:srgbClr val="5A6B7A"/>
                </a:solidFill>
                <a:latin typeface="Calibri" pitchFamily="34" charset="0"/>
                <a:ea typeface="Calibri" pitchFamily="34" charset="-122"/>
                <a:cs typeface="Calibri" pitchFamily="34" charset="-120"/>
              </a:rPr>
              <a:t>RH56F1-E2R-T1  ×  UR5e  —  Integration Design &amp; Evaluation Plan</a:t>
            </a:r>
            <a:endParaRPr lang="en-US" sz="900" dirty="0"/>
          </a:p>
        </p:txBody>
      </p:sp>
      <p:sp>
        <p:nvSpPr>
          <p:cNvPr id="28" name="Text 26"/>
          <p:cNvSpPr/>
          <p:nvPr/>
        </p:nvSpPr>
        <p:spPr>
          <a:xfrm>
            <a:off x="11475720" y="6473952"/>
            <a:ext cx="4114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33B"/>
        </a:solidFill>
      </p:bgPr>
    </p:bg>
    <p:spTree>
      <p:nvGrpSpPr>
        <p:cNvPr id="1" name=""/>
        <p:cNvGrpSpPr/>
        <p:nvPr/>
      </p:nvGrpSpPr>
      <p:grpSpPr>
        <a:xfrm>
          <a:off x="0" y="0"/>
          <a:ext cx="0" cy="0"/>
          <a:chOff x="0" y="0"/>
          <a:chExt cx="0" cy="0"/>
        </a:xfrm>
      </p:grpSpPr>
      <p:sp>
        <p:nvSpPr>
          <p:cNvPr id="2" name="Text 0"/>
          <p:cNvSpPr/>
          <p:nvPr/>
        </p:nvSpPr>
        <p:spPr>
          <a:xfrm>
            <a:off x="548640" y="457200"/>
            <a:ext cx="10058400" cy="320040"/>
          </a:xfrm>
          <a:prstGeom prst="rect">
            <a:avLst/>
          </a:prstGeom>
          <a:noFill/>
          <a:ln/>
        </p:spPr>
        <p:txBody>
          <a:bodyPr wrap="square" rtlCol="0" anchor="ctr"/>
          <a:lstStyle/>
          <a:p>
            <a:pPr indent="0" marL="0">
              <a:buNone/>
            </a:pPr>
            <a:r>
              <a:rPr lang="en-US" sz="1300" b="1" spc="200" kern="0" dirty="0">
                <a:solidFill>
                  <a:srgbClr val="E8871E"/>
                </a:solidFill>
                <a:latin typeface="Calibri" pitchFamily="34" charset="0"/>
                <a:ea typeface="Calibri" pitchFamily="34" charset="-122"/>
                <a:cs typeface="Calibri" pitchFamily="34" charset="-120"/>
              </a:rPr>
              <a:t>THE CENTRAL FINDING</a:t>
            </a:r>
            <a:endParaRPr lang="en-US" sz="1300" dirty="0"/>
          </a:p>
        </p:txBody>
      </p:sp>
      <p:sp>
        <p:nvSpPr>
          <p:cNvPr id="3" name="Text 1"/>
          <p:cNvSpPr/>
          <p:nvPr/>
        </p:nvSpPr>
        <p:spPr>
          <a:xfrm>
            <a:off x="530352" y="777240"/>
            <a:ext cx="109728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binding constraint is electrical</a:t>
            </a:r>
            <a:endParaRPr lang="en-US" sz="3200" dirty="0"/>
          </a:p>
        </p:txBody>
      </p:sp>
      <p:sp>
        <p:nvSpPr>
          <p:cNvPr id="4" name="Shape 2"/>
          <p:cNvSpPr/>
          <p:nvPr/>
        </p:nvSpPr>
        <p:spPr>
          <a:xfrm>
            <a:off x="640080" y="1828800"/>
            <a:ext cx="3566160" cy="1874520"/>
          </a:xfrm>
          <a:prstGeom prst="roundRect">
            <a:avLst>
              <a:gd name="adj" fmla="val 5854"/>
            </a:avLst>
          </a:prstGeom>
          <a:solidFill>
            <a:srgbClr val="16304C"/>
          </a:solidFill>
          <a:ln w="12700">
            <a:solidFill>
              <a:srgbClr val="26445F"/>
            </a:solidFill>
            <a:prstDash val="solid"/>
          </a:ln>
          <a:effectLst>
            <a:outerShdw sx="100000" sy="100000" kx="0" ky="0" algn="bl" rotWithShape="0" blurRad="114300" dist="50800" dir="5400000">
              <a:srgbClr val="0B1728">
                <a:alpha val="40000"/>
              </a:srgbClr>
            </a:outerShdw>
          </a:effectLst>
        </p:spPr>
      </p:sp>
      <p:sp>
        <p:nvSpPr>
          <p:cNvPr id="5" name="Text 3"/>
          <p:cNvSpPr/>
          <p:nvPr/>
        </p:nvSpPr>
        <p:spPr>
          <a:xfrm>
            <a:off x="640080" y="2084832"/>
            <a:ext cx="3566160" cy="868680"/>
          </a:xfrm>
          <a:prstGeom prst="rect">
            <a:avLst/>
          </a:prstGeom>
          <a:noFill/>
          <a:ln/>
        </p:spPr>
        <p:txBody>
          <a:bodyPr wrap="square" rtlCol="0" anchor="ctr"/>
          <a:lstStyle/>
          <a:p>
            <a:pPr algn="ctr" indent="0" marL="0">
              <a:buNone/>
            </a:pPr>
            <a:r>
              <a:rPr lang="en-US" sz="4400" b="1" dirty="0">
                <a:solidFill>
                  <a:srgbClr val="E8871E"/>
                </a:solidFill>
                <a:latin typeface="Cambria" pitchFamily="34" charset="0"/>
                <a:ea typeface="Cambria" pitchFamily="34" charset="-122"/>
                <a:cs typeface="Cambria" pitchFamily="34" charset="-120"/>
              </a:rPr>
              <a:t>120 W</a:t>
            </a:r>
            <a:endParaRPr lang="en-US" sz="4400" dirty="0"/>
          </a:p>
        </p:txBody>
      </p:sp>
      <p:sp>
        <p:nvSpPr>
          <p:cNvPr id="6" name="Text 4"/>
          <p:cNvSpPr/>
          <p:nvPr/>
        </p:nvSpPr>
        <p:spPr>
          <a:xfrm>
            <a:off x="822960" y="2999232"/>
            <a:ext cx="3200400" cy="502920"/>
          </a:xfrm>
          <a:prstGeom prst="rect">
            <a:avLst/>
          </a:prstGeom>
          <a:noFill/>
          <a:ln/>
        </p:spPr>
        <p:txBody>
          <a:bodyPr wrap="square" rtlCol="0" anchor="ctr"/>
          <a:lstStyle/>
          <a:p>
            <a:pPr algn="ctr" indent="0" marL="0">
              <a:buNone/>
            </a:pPr>
            <a:r>
              <a:rPr lang="en-US" sz="1350" dirty="0">
                <a:solidFill>
                  <a:srgbClr val="CADCFC"/>
                </a:solidFill>
                <a:latin typeface="Calibri" pitchFamily="34" charset="0"/>
                <a:ea typeface="Calibri" pitchFamily="34" charset="-122"/>
                <a:cs typeface="Calibri" pitchFamily="34" charset="-120"/>
              </a:rPr>
              <a:t>Hand peak demand</a:t>
            </a:r>
            <a:endParaRPr lang="en-US" sz="1350" dirty="0"/>
          </a:p>
        </p:txBody>
      </p:sp>
      <p:sp>
        <p:nvSpPr>
          <p:cNvPr id="7" name="Text 5"/>
          <p:cNvSpPr/>
          <p:nvPr/>
        </p:nvSpPr>
        <p:spPr>
          <a:xfrm>
            <a:off x="640080" y="3401568"/>
            <a:ext cx="3566160" cy="274320"/>
          </a:xfrm>
          <a:prstGeom prst="rect">
            <a:avLst/>
          </a:prstGeom>
          <a:noFill/>
          <a:ln/>
        </p:spPr>
        <p:txBody>
          <a:bodyPr wrap="square" rtlCol="0" anchor="ctr"/>
          <a:lstStyle/>
          <a:p>
            <a:pPr algn="ctr" indent="0" marL="0">
              <a:buNone/>
            </a:pPr>
            <a:r>
              <a:rPr lang="en-US" sz="1200" i="1" dirty="0">
                <a:solidFill>
                  <a:srgbClr val="5A6B7A"/>
                </a:solidFill>
                <a:latin typeface="Calibri" pitchFamily="34" charset="0"/>
                <a:ea typeface="Calibri" pitchFamily="34" charset="-122"/>
                <a:cs typeface="Calibri" pitchFamily="34" charset="-120"/>
              </a:rPr>
              <a:t>24 V × 5 A</a:t>
            </a:r>
            <a:endParaRPr lang="en-US" sz="1200" dirty="0"/>
          </a:p>
        </p:txBody>
      </p:sp>
      <p:sp>
        <p:nvSpPr>
          <p:cNvPr id="8" name="Shape 6"/>
          <p:cNvSpPr/>
          <p:nvPr/>
        </p:nvSpPr>
        <p:spPr>
          <a:xfrm>
            <a:off x="4526280" y="1828800"/>
            <a:ext cx="3566160" cy="1874520"/>
          </a:xfrm>
          <a:prstGeom prst="roundRect">
            <a:avLst>
              <a:gd name="adj" fmla="val 5854"/>
            </a:avLst>
          </a:prstGeom>
          <a:solidFill>
            <a:srgbClr val="16304C"/>
          </a:solidFill>
          <a:ln w="12700">
            <a:solidFill>
              <a:srgbClr val="26445F"/>
            </a:solidFill>
            <a:prstDash val="solid"/>
          </a:ln>
          <a:effectLst>
            <a:outerShdw sx="100000" sy="100000" kx="0" ky="0" algn="bl" rotWithShape="0" blurRad="114300" dist="50800" dir="5400000">
              <a:srgbClr val="0B1728">
                <a:alpha val="40000"/>
              </a:srgbClr>
            </a:outerShdw>
          </a:effectLst>
        </p:spPr>
      </p:sp>
      <p:sp>
        <p:nvSpPr>
          <p:cNvPr id="9" name="Text 7"/>
          <p:cNvSpPr/>
          <p:nvPr/>
        </p:nvSpPr>
        <p:spPr>
          <a:xfrm>
            <a:off x="4526280" y="2084832"/>
            <a:ext cx="3566160" cy="868680"/>
          </a:xfrm>
          <a:prstGeom prst="rect">
            <a:avLst/>
          </a:prstGeom>
          <a:noFill/>
          <a:ln/>
        </p:spPr>
        <p:txBody>
          <a:bodyPr wrap="square" rtlCol="0" anchor="ctr"/>
          <a:lstStyle/>
          <a:p>
            <a:pPr algn="ctr" indent="0" marL="0">
              <a:buNone/>
            </a:pPr>
            <a:r>
              <a:rPr lang="en-US" sz="4400" b="1" dirty="0">
                <a:solidFill>
                  <a:srgbClr val="3E7CB1"/>
                </a:solidFill>
                <a:latin typeface="Cambria" pitchFamily="34" charset="0"/>
                <a:ea typeface="Cambria" pitchFamily="34" charset="-122"/>
                <a:cs typeface="Cambria" pitchFamily="34" charset="-120"/>
              </a:rPr>
              <a:t>36 W</a:t>
            </a:r>
            <a:endParaRPr lang="en-US" sz="4400" dirty="0"/>
          </a:p>
        </p:txBody>
      </p:sp>
      <p:sp>
        <p:nvSpPr>
          <p:cNvPr id="10" name="Text 8"/>
          <p:cNvSpPr/>
          <p:nvPr/>
        </p:nvSpPr>
        <p:spPr>
          <a:xfrm>
            <a:off x="4709160" y="2999232"/>
            <a:ext cx="3200400" cy="502920"/>
          </a:xfrm>
          <a:prstGeom prst="rect">
            <a:avLst/>
          </a:prstGeom>
          <a:noFill/>
          <a:ln/>
        </p:spPr>
        <p:txBody>
          <a:bodyPr wrap="square" rtlCol="0" anchor="ctr"/>
          <a:lstStyle/>
          <a:p>
            <a:pPr algn="ctr" indent="0" marL="0">
              <a:buNone/>
            </a:pPr>
            <a:r>
              <a:rPr lang="en-US" sz="1350" dirty="0">
                <a:solidFill>
                  <a:srgbClr val="CADCFC"/>
                </a:solidFill>
                <a:latin typeface="Calibri" pitchFamily="34" charset="0"/>
                <a:ea typeface="Calibri" pitchFamily="34" charset="-122"/>
                <a:cs typeface="Calibri" pitchFamily="34" charset="-120"/>
              </a:rPr>
              <a:t>Tool connector limit</a:t>
            </a:r>
            <a:endParaRPr lang="en-US" sz="1350" dirty="0"/>
          </a:p>
        </p:txBody>
      </p:sp>
      <p:sp>
        <p:nvSpPr>
          <p:cNvPr id="11" name="Text 9"/>
          <p:cNvSpPr/>
          <p:nvPr/>
        </p:nvSpPr>
        <p:spPr>
          <a:xfrm>
            <a:off x="4526280" y="3401568"/>
            <a:ext cx="3566160" cy="274320"/>
          </a:xfrm>
          <a:prstGeom prst="rect">
            <a:avLst/>
          </a:prstGeom>
          <a:noFill/>
          <a:ln/>
        </p:spPr>
        <p:txBody>
          <a:bodyPr wrap="square" rtlCol="0" anchor="ctr"/>
          <a:lstStyle/>
          <a:p>
            <a:pPr algn="ctr" indent="0" marL="0">
              <a:buNone/>
            </a:pPr>
            <a:r>
              <a:rPr lang="en-US" sz="1200" i="1" dirty="0">
                <a:solidFill>
                  <a:srgbClr val="5A6B7A"/>
                </a:solidFill>
                <a:latin typeface="Calibri" pitchFamily="34" charset="0"/>
                <a:ea typeface="Calibri" pitchFamily="34" charset="-122"/>
                <a:cs typeface="Calibri" pitchFamily="34" charset="-120"/>
              </a:rPr>
              <a:t>24 V × 1.5 A</a:t>
            </a:r>
            <a:endParaRPr lang="en-US" sz="1200" dirty="0"/>
          </a:p>
        </p:txBody>
      </p:sp>
      <p:sp>
        <p:nvSpPr>
          <p:cNvPr id="12" name="Shape 10"/>
          <p:cNvSpPr/>
          <p:nvPr/>
        </p:nvSpPr>
        <p:spPr>
          <a:xfrm>
            <a:off x="8412480" y="1828800"/>
            <a:ext cx="3566160" cy="1874520"/>
          </a:xfrm>
          <a:prstGeom prst="roundRect">
            <a:avLst>
              <a:gd name="adj" fmla="val 5854"/>
            </a:avLst>
          </a:prstGeom>
          <a:solidFill>
            <a:srgbClr val="16304C"/>
          </a:solidFill>
          <a:ln w="19050">
            <a:solidFill>
              <a:srgbClr val="E8871E"/>
            </a:solidFill>
            <a:prstDash val="solid"/>
          </a:ln>
          <a:effectLst>
            <a:outerShdw sx="100000" sy="100000" kx="0" ky="0" algn="bl" rotWithShape="0" blurRad="114300" dist="50800" dir="5400000">
              <a:srgbClr val="0B1728">
                <a:alpha val="40000"/>
              </a:srgbClr>
            </a:outerShdw>
          </a:effectLst>
        </p:spPr>
      </p:sp>
      <p:sp>
        <p:nvSpPr>
          <p:cNvPr id="13" name="Text 11"/>
          <p:cNvSpPr/>
          <p:nvPr/>
        </p:nvSpPr>
        <p:spPr>
          <a:xfrm>
            <a:off x="8412480" y="2084832"/>
            <a:ext cx="3566160" cy="86868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 30%</a:t>
            </a:r>
            <a:endParaRPr lang="en-US" sz="4400" dirty="0"/>
          </a:p>
        </p:txBody>
      </p:sp>
      <p:sp>
        <p:nvSpPr>
          <p:cNvPr id="14" name="Text 12"/>
          <p:cNvSpPr/>
          <p:nvPr/>
        </p:nvSpPr>
        <p:spPr>
          <a:xfrm>
            <a:off x="8595360" y="2999232"/>
            <a:ext cx="3200400" cy="502920"/>
          </a:xfrm>
          <a:prstGeom prst="rect">
            <a:avLst/>
          </a:prstGeom>
          <a:noFill/>
          <a:ln/>
        </p:spPr>
        <p:txBody>
          <a:bodyPr wrap="square" rtlCol="0" anchor="ctr"/>
          <a:lstStyle/>
          <a:p>
            <a:pPr algn="ctr" indent="0" marL="0">
              <a:buNone/>
            </a:pPr>
            <a:r>
              <a:rPr lang="en-US" sz="1350" dirty="0">
                <a:solidFill>
                  <a:srgbClr val="CADCFC"/>
                </a:solidFill>
                <a:latin typeface="Calibri" pitchFamily="34" charset="0"/>
                <a:ea typeface="Calibri" pitchFamily="34" charset="-122"/>
                <a:cs typeface="Calibri" pitchFamily="34" charset="-120"/>
              </a:rPr>
              <a:t>of peak power available</a:t>
            </a:r>
            <a:endParaRPr lang="en-US" sz="1350" dirty="0"/>
          </a:p>
          <a:p>
            <a:pPr algn="ctr" indent="0" marL="0">
              <a:buNone/>
            </a:pPr>
            <a:r>
              <a:rPr lang="en-US" sz="1350" dirty="0">
                <a:solidFill>
                  <a:srgbClr val="CADCFC"/>
                </a:solidFill>
                <a:latin typeface="Calibri" pitchFamily="34" charset="0"/>
                <a:ea typeface="Calibri" pitchFamily="34" charset="-122"/>
                <a:cs typeface="Calibri" pitchFamily="34" charset="-120"/>
              </a:rPr>
              <a:t>at the flange</a:t>
            </a:r>
            <a:endParaRPr lang="en-US" sz="1350" dirty="0"/>
          </a:p>
        </p:txBody>
      </p:sp>
      <p:sp>
        <p:nvSpPr>
          <p:cNvPr id="15" name="Text 13"/>
          <p:cNvSpPr/>
          <p:nvPr/>
        </p:nvSpPr>
        <p:spPr>
          <a:xfrm>
            <a:off x="822960" y="4142232"/>
            <a:ext cx="1097280" cy="320040"/>
          </a:xfrm>
          <a:prstGeom prst="rect">
            <a:avLst/>
          </a:prstGeom>
          <a:noFill/>
          <a:ln/>
        </p:spPr>
        <p:txBody>
          <a:bodyPr wrap="square" rtlCol="0" anchor="ctr"/>
          <a:lstStyle/>
          <a:p>
            <a:pPr indent="0" marL="0">
              <a:buNone/>
            </a:pPr>
            <a:r>
              <a:rPr lang="en-US" sz="1200" b="1" dirty="0">
                <a:solidFill>
                  <a:srgbClr val="F6B860"/>
                </a:solidFill>
                <a:latin typeface="Calibri" pitchFamily="34" charset="0"/>
                <a:ea typeface="Calibri" pitchFamily="34" charset="-122"/>
                <a:cs typeface="Calibri" pitchFamily="34" charset="-120"/>
              </a:rPr>
              <a:t>120 W</a:t>
            </a:r>
            <a:endParaRPr lang="en-US" sz="1200" dirty="0"/>
          </a:p>
        </p:txBody>
      </p:sp>
      <p:sp>
        <p:nvSpPr>
          <p:cNvPr id="16" name="Shape 14"/>
          <p:cNvSpPr/>
          <p:nvPr/>
        </p:nvSpPr>
        <p:spPr>
          <a:xfrm>
            <a:off x="1965960" y="4160520"/>
            <a:ext cx="8549640" cy="384048"/>
          </a:xfrm>
          <a:prstGeom prst="roundRect">
            <a:avLst>
              <a:gd name="adj" fmla="val 14286"/>
            </a:avLst>
          </a:prstGeom>
          <a:solidFill>
            <a:srgbClr val="E8871E"/>
          </a:solidFill>
          <a:ln/>
        </p:spPr>
      </p:sp>
      <p:sp>
        <p:nvSpPr>
          <p:cNvPr id="17" name="Text 15"/>
          <p:cNvSpPr/>
          <p:nvPr/>
        </p:nvSpPr>
        <p:spPr>
          <a:xfrm>
            <a:off x="822960" y="4727448"/>
            <a:ext cx="1097280" cy="320040"/>
          </a:xfrm>
          <a:prstGeom prst="rect">
            <a:avLst/>
          </a:prstGeom>
          <a:noFill/>
          <a:ln/>
        </p:spPr>
        <p:txBody>
          <a:bodyPr wrap="square"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36 W</a:t>
            </a:r>
            <a:endParaRPr lang="en-US" sz="1200" dirty="0"/>
          </a:p>
        </p:txBody>
      </p:sp>
      <p:sp>
        <p:nvSpPr>
          <p:cNvPr id="18" name="Shape 16"/>
          <p:cNvSpPr/>
          <p:nvPr/>
        </p:nvSpPr>
        <p:spPr>
          <a:xfrm>
            <a:off x="1965960" y="4745736"/>
            <a:ext cx="2564892" cy="384048"/>
          </a:xfrm>
          <a:prstGeom prst="roundRect">
            <a:avLst>
              <a:gd name="adj" fmla="val 14286"/>
            </a:avLst>
          </a:prstGeom>
          <a:solidFill>
            <a:srgbClr val="3E7CB1"/>
          </a:solidFill>
          <a:ln/>
        </p:spPr>
      </p:sp>
      <p:sp>
        <p:nvSpPr>
          <p:cNvPr id="19" name="Shape 17"/>
          <p:cNvSpPr/>
          <p:nvPr/>
        </p:nvSpPr>
        <p:spPr>
          <a:xfrm>
            <a:off x="640080" y="5440680"/>
            <a:ext cx="10908792" cy="868680"/>
          </a:xfrm>
          <a:prstGeom prst="roundRect">
            <a:avLst>
              <a:gd name="adj" fmla="val 10526"/>
            </a:avLst>
          </a:prstGeom>
          <a:solidFill>
            <a:srgbClr val="16304C"/>
          </a:solidFill>
          <a:ln w="12700">
            <a:solidFill>
              <a:srgbClr val="26445F"/>
            </a:solidFill>
            <a:prstDash val="solid"/>
          </a:ln>
        </p:spPr>
      </p:sp>
      <p:sp>
        <p:nvSpPr>
          <p:cNvPr id="20" name="Text 18"/>
          <p:cNvSpPr/>
          <p:nvPr/>
        </p:nvSpPr>
        <p:spPr>
          <a:xfrm>
            <a:off x="868680" y="5440680"/>
            <a:ext cx="10515600" cy="86868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flange alone cannot drive high-force actuation of all fingers at once. </a:t>
            </a:r>
            <a:pPr indent="0" marL="0">
              <a:buNone/>
            </a:pPr>
            <a:r>
              <a:rPr lang="en-US" sz="1500" b="1" dirty="0">
                <a:solidFill>
                  <a:srgbClr val="F6B860"/>
                </a:solidFill>
                <a:latin typeface="Calibri" pitchFamily="34" charset="0"/>
                <a:ea typeface="Calibri" pitchFamily="34" charset="-122"/>
                <a:cs typeface="Calibri" pitchFamily="34" charset="-120"/>
              </a:rPr>
              <a:t>This single mismatch shapes the whole power design.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POWER DESIGN</a:t>
            </a:r>
            <a:endParaRPr lang="en-US" sz="1200" dirty="0"/>
          </a:p>
        </p:txBody>
      </p:sp>
      <p:sp>
        <p:nvSpPr>
          <p:cNvPr id="3" name="Text 1"/>
          <p:cNvSpPr/>
          <p:nvPr/>
        </p:nvSpPr>
        <p:spPr>
          <a:xfrm>
            <a:off x="530352" y="658368"/>
            <a:ext cx="11109960" cy="731520"/>
          </a:xfrm>
          <a:prstGeom prst="rect">
            <a:avLst/>
          </a:prstGeom>
          <a:noFill/>
          <a:ln/>
        </p:spPr>
        <p:txBody>
          <a:bodyPr wrap="square" rtlCol="0" anchor="ctr"/>
          <a:lstStyle/>
          <a:p>
            <a:pPr indent="0" marL="0">
              <a:buNone/>
            </a:pPr>
            <a:r>
              <a:rPr lang="en-US" sz="2900" b="1" dirty="0">
                <a:solidFill>
                  <a:srgbClr val="12233B"/>
                </a:solidFill>
                <a:latin typeface="Cambria" pitchFamily="34" charset="0"/>
                <a:ea typeface="Cambria" pitchFamily="34" charset="-122"/>
                <a:cs typeface="Cambria" pitchFamily="34" charset="-120"/>
              </a:rPr>
              <a:t>Two ways to resolve the mismatch</a:t>
            </a:r>
            <a:endParaRPr lang="en-US" sz="2900" dirty="0"/>
          </a:p>
        </p:txBody>
      </p:sp>
      <p:sp>
        <p:nvSpPr>
          <p:cNvPr id="4" name="Shape 2"/>
          <p:cNvSpPr/>
          <p:nvPr/>
        </p:nvSpPr>
        <p:spPr>
          <a:xfrm>
            <a:off x="548640" y="1600200"/>
            <a:ext cx="5394960" cy="3794760"/>
          </a:xfrm>
          <a:prstGeom prst="roundRect">
            <a:avLst>
              <a:gd name="adj" fmla="val 2892"/>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5" name="Text 3"/>
          <p:cNvSpPr/>
          <p:nvPr/>
        </p:nvSpPr>
        <p:spPr>
          <a:xfrm>
            <a:off x="868680" y="1828800"/>
            <a:ext cx="2743200" cy="411480"/>
          </a:xfrm>
          <a:prstGeom prst="rect">
            <a:avLst/>
          </a:prstGeom>
          <a:noFill/>
          <a:ln/>
        </p:spPr>
        <p:txBody>
          <a:bodyPr wrap="square" rtlCol="0" anchor="ctr"/>
          <a:lstStyle/>
          <a:p>
            <a:pPr indent="0" marL="0">
              <a:buNone/>
            </a:pPr>
            <a:r>
              <a:rPr lang="en-US" sz="2000" b="1" dirty="0">
                <a:solidFill>
                  <a:srgbClr val="12233B"/>
                </a:solidFill>
                <a:latin typeface="Cambria" pitchFamily="34" charset="0"/>
                <a:ea typeface="Cambria" pitchFamily="34" charset="-122"/>
                <a:cs typeface="Cambria" pitchFamily="34" charset="-120"/>
              </a:rPr>
              <a:t>Concept A</a:t>
            </a:r>
            <a:endParaRPr lang="en-US" sz="2000" dirty="0"/>
          </a:p>
        </p:txBody>
      </p:sp>
      <p:sp>
        <p:nvSpPr>
          <p:cNvPr id="6" name="Text 4"/>
          <p:cNvSpPr/>
          <p:nvPr/>
        </p:nvSpPr>
        <p:spPr>
          <a:xfrm>
            <a:off x="868680" y="2258568"/>
            <a:ext cx="4572000" cy="320040"/>
          </a:xfrm>
          <a:prstGeom prst="rect">
            <a:avLst/>
          </a:prstGeom>
          <a:noFill/>
          <a:ln/>
        </p:spPr>
        <p:txBody>
          <a:bodyPr wrap="square" rtlCol="0" anchor="ctr"/>
          <a:lstStyle/>
          <a:p>
            <a:pPr indent="0" marL="0">
              <a:buNone/>
            </a:pPr>
            <a:r>
              <a:rPr lang="en-US" sz="1300" i="1" dirty="0">
                <a:solidFill>
                  <a:srgbClr val="5A6B7A"/>
                </a:solidFill>
                <a:latin typeface="Calibri" pitchFamily="34" charset="0"/>
                <a:ea typeface="Calibri" pitchFamily="34" charset="-122"/>
                <a:cs typeface="Calibri" pitchFamily="34" charset="-120"/>
              </a:rPr>
              <a:t>Flange-integrated</a:t>
            </a:r>
            <a:endParaRPr lang="en-US" sz="1300" dirty="0"/>
          </a:p>
        </p:txBody>
      </p:sp>
      <p:sp>
        <p:nvSpPr>
          <p:cNvPr id="7" name="Text 5"/>
          <p:cNvSpPr/>
          <p:nvPr/>
        </p:nvSpPr>
        <p:spPr>
          <a:xfrm>
            <a:off x="914400" y="2743200"/>
            <a:ext cx="4754880" cy="2377440"/>
          </a:xfrm>
          <a:prstGeom prst="rect">
            <a:avLst/>
          </a:prstGeom>
          <a:noFill/>
          <a:ln/>
        </p:spPr>
        <p:txBody>
          <a:bodyPr wrap="square" rtlCol="0" anchor="ctr"/>
          <a:lstStyle/>
          <a:p>
            <a:pPr marL="342900" indent="-342900">
              <a:spcAft>
                <a:spcPts val="900"/>
              </a:spcAft>
              <a:buSzPct val="100000"/>
              <a:buChar char="•"/>
            </a:pPr>
            <a:r>
              <a:rPr lang="en-US" sz="1350" dirty="0">
                <a:solidFill>
                  <a:srgbClr val="1A2733"/>
                </a:solidFill>
                <a:latin typeface="Calibri" pitchFamily="34" charset="0"/>
                <a:ea typeface="Calibri" pitchFamily="34" charset="-122"/>
                <a:cs typeface="Calibri" pitchFamily="34" charset="-120"/>
              </a:rPr>
              <a:t>Powered from the 24 V tool supply over the TCI</a:t>
            </a:r>
            <a:endParaRPr lang="en-US" sz="1350" dirty="0"/>
          </a:p>
          <a:p>
            <a:pPr marL="342900" indent="-342900">
              <a:spcAft>
                <a:spcPts val="900"/>
              </a:spcAft>
              <a:buSzPct val="100000"/>
              <a:buChar char="•"/>
            </a:pPr>
            <a:r>
              <a:rPr lang="en-US" sz="1350" b="1" dirty="0">
                <a:solidFill>
                  <a:srgbClr val="2E8B6F"/>
                </a:solidFill>
                <a:latin typeface="Calibri" pitchFamily="34" charset="0"/>
                <a:ea typeface="Calibri" pitchFamily="34" charset="-122"/>
                <a:cs typeface="Calibri" pitchFamily="34" charset="-120"/>
              </a:rPr>
              <a:t>No external cable — mechanically simplest</a:t>
            </a:r>
            <a:endParaRPr lang="en-US" sz="1350" dirty="0"/>
          </a:p>
          <a:p>
            <a:pPr marL="342900" indent="-342900">
              <a:spcAft>
                <a:spcPts val="900"/>
              </a:spcAft>
              <a:buSzPct val="100000"/>
              <a:buChar char="•"/>
            </a:pPr>
            <a:r>
              <a:rPr lang="en-US" sz="1350" dirty="0">
                <a:solidFill>
                  <a:srgbClr val="1A2733"/>
                </a:solidFill>
                <a:latin typeface="Calibri" pitchFamily="34" charset="0"/>
                <a:ea typeface="Calibri" pitchFamily="34" charset="-122"/>
                <a:cs typeface="Calibri" pitchFamily="34" charset="-120"/>
              </a:rPr>
              <a:t>Current capped by the hand's registers</a:t>
            </a:r>
            <a:endParaRPr lang="en-US" sz="1350" dirty="0"/>
          </a:p>
          <a:p>
            <a:pPr marL="342900" indent="-342900">
              <a:spcAft>
                <a:spcPts val="900"/>
              </a:spcAft>
              <a:buSzPct val="100000"/>
              <a:buChar char="•"/>
            </a:pPr>
            <a:r>
              <a:rPr lang="en-US" sz="1350" dirty="0">
                <a:solidFill>
                  <a:srgbClr val="C0504D"/>
                </a:solidFill>
                <a:latin typeface="Calibri" pitchFamily="34" charset="0"/>
                <a:ea typeface="Calibri" pitchFamily="34" charset="-122"/>
                <a:cs typeface="Calibri" pitchFamily="34" charset="-120"/>
              </a:rPr>
              <a:t>Reduced grip force and slower closing</a:t>
            </a:r>
            <a:endParaRPr lang="en-US" sz="1350" dirty="0"/>
          </a:p>
          <a:p>
            <a:pPr marL="342900" indent="-342900">
              <a:spcAft>
                <a:spcPts val="900"/>
              </a:spcAft>
              <a:buSzPct val="100000"/>
              <a:buChar char="•"/>
            </a:pPr>
            <a:r>
              <a:rPr lang="en-US" sz="1350" dirty="0">
                <a:solidFill>
                  <a:srgbClr val="1A2733"/>
                </a:solidFill>
                <a:latin typeface="Calibri" pitchFamily="34" charset="0"/>
                <a:ea typeface="Calibri" pitchFamily="34" charset="-122"/>
                <a:cs typeface="Calibri" pitchFamily="34" charset="-120"/>
              </a:rPr>
              <a:t>Viable for light grasping only</a:t>
            </a:r>
            <a:endParaRPr lang="en-US" sz="1350" dirty="0"/>
          </a:p>
        </p:txBody>
      </p:sp>
      <p:sp>
        <p:nvSpPr>
          <p:cNvPr id="8" name="Shape 6"/>
          <p:cNvSpPr/>
          <p:nvPr/>
        </p:nvSpPr>
        <p:spPr>
          <a:xfrm>
            <a:off x="6245352" y="1600200"/>
            <a:ext cx="5394960" cy="3794760"/>
          </a:xfrm>
          <a:prstGeom prst="roundRect">
            <a:avLst>
              <a:gd name="adj" fmla="val 2892"/>
            </a:avLst>
          </a:prstGeom>
          <a:solidFill>
            <a:srgbClr val="14304C"/>
          </a:solidFill>
          <a:ln w="19050">
            <a:solidFill>
              <a:srgbClr val="E8871E"/>
            </a:solidFill>
            <a:prstDash val="solid"/>
          </a:ln>
          <a:effectLst>
            <a:outerShdw sx="100000" sy="100000" kx="0" ky="0" algn="bl" rotWithShape="0" blurRad="114300" dist="50800" dir="5400000">
              <a:srgbClr val="0B1728">
                <a:alpha val="40000"/>
              </a:srgbClr>
            </a:outerShdw>
          </a:effectLst>
        </p:spPr>
      </p:sp>
      <p:sp>
        <p:nvSpPr>
          <p:cNvPr id="9" name="Shape 7"/>
          <p:cNvSpPr/>
          <p:nvPr/>
        </p:nvSpPr>
        <p:spPr>
          <a:xfrm>
            <a:off x="10195560" y="1801368"/>
            <a:ext cx="1280160" cy="457200"/>
          </a:xfrm>
          <a:prstGeom prst="roundRect">
            <a:avLst>
              <a:gd name="adj" fmla="val 20000"/>
            </a:avLst>
          </a:prstGeom>
          <a:solidFill>
            <a:srgbClr val="E8871E"/>
          </a:solidFill>
          <a:ln/>
        </p:spPr>
      </p:sp>
      <p:sp>
        <p:nvSpPr>
          <p:cNvPr id="10" name="Text 8"/>
          <p:cNvSpPr/>
          <p:nvPr/>
        </p:nvSpPr>
        <p:spPr>
          <a:xfrm>
            <a:off x="10195560" y="1801368"/>
            <a:ext cx="1280160" cy="457200"/>
          </a:xfrm>
          <a:prstGeom prst="rect">
            <a:avLst/>
          </a:prstGeom>
          <a:noFill/>
          <a:ln/>
        </p:spPr>
        <p:txBody>
          <a:bodyPr wrap="square" rtlCol="0" anchor="ctr"/>
          <a:lstStyle/>
          <a:p>
            <a:pPr algn="ctr" indent="0" marL="0">
              <a:buNone/>
            </a:pPr>
            <a:r>
              <a:rPr lang="en-US" sz="1100" b="1" dirty="0">
                <a:solidFill>
                  <a:srgbClr val="14304C"/>
                </a:solidFill>
                <a:latin typeface="Calibri" pitchFamily="34" charset="0"/>
                <a:ea typeface="Calibri" pitchFamily="34" charset="-122"/>
                <a:cs typeface="Calibri" pitchFamily="34" charset="-120"/>
              </a:rPr>
              <a:t>DEFAULT</a:t>
            </a:r>
            <a:endParaRPr lang="en-US" sz="1100" dirty="0"/>
          </a:p>
        </p:txBody>
      </p:sp>
      <p:sp>
        <p:nvSpPr>
          <p:cNvPr id="11" name="Text 9"/>
          <p:cNvSpPr/>
          <p:nvPr/>
        </p:nvSpPr>
        <p:spPr>
          <a:xfrm>
            <a:off x="6565392" y="1828800"/>
            <a:ext cx="2743200" cy="41148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Concept B</a:t>
            </a:r>
            <a:endParaRPr lang="en-US" sz="2000" dirty="0"/>
          </a:p>
        </p:txBody>
      </p:sp>
      <p:sp>
        <p:nvSpPr>
          <p:cNvPr id="12" name="Text 10"/>
          <p:cNvSpPr/>
          <p:nvPr/>
        </p:nvSpPr>
        <p:spPr>
          <a:xfrm>
            <a:off x="6565392" y="2258568"/>
            <a:ext cx="4572000" cy="320040"/>
          </a:xfrm>
          <a:prstGeom prst="rect">
            <a:avLst/>
          </a:prstGeom>
          <a:noFill/>
          <a:ln/>
        </p:spPr>
        <p:txBody>
          <a:bodyPr wrap="square"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External supply, flange comms</a:t>
            </a:r>
            <a:endParaRPr lang="en-US" sz="1300" dirty="0"/>
          </a:p>
        </p:txBody>
      </p:sp>
      <p:sp>
        <p:nvSpPr>
          <p:cNvPr id="13" name="Text 11"/>
          <p:cNvSpPr/>
          <p:nvPr/>
        </p:nvSpPr>
        <p:spPr>
          <a:xfrm>
            <a:off x="6611112" y="2743200"/>
            <a:ext cx="4754880" cy="2377440"/>
          </a:xfrm>
          <a:prstGeom prst="rect">
            <a:avLst/>
          </a:prstGeom>
          <a:noFill/>
          <a:ln/>
        </p:spPr>
        <p:txBody>
          <a:bodyPr wrap="square" rtlCol="0" anchor="ctr"/>
          <a:lstStyle/>
          <a:p>
            <a:pPr marL="342900" indent="-342900">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Dedicated 24 V supply rated ≥ 5 A along the arm</a:t>
            </a:r>
            <a:endParaRPr lang="en-US" sz="1350" dirty="0"/>
          </a:p>
          <a:p>
            <a:pPr marL="342900" indent="-342900">
              <a:spcAft>
                <a:spcPts val="900"/>
              </a:spcAft>
              <a:buSzPct val="100000"/>
              <a:buChar char="•"/>
            </a:pPr>
            <a:r>
              <a:rPr lang="en-US" sz="1350" b="1" dirty="0">
                <a:solidFill>
                  <a:srgbClr val="F6B860"/>
                </a:solidFill>
                <a:latin typeface="Calibri" pitchFamily="34" charset="0"/>
                <a:ea typeface="Calibri" pitchFamily="34" charset="-122"/>
                <a:cs typeface="Calibri" pitchFamily="34" charset="-120"/>
              </a:rPr>
              <a:t>Full force and speed envelope preserved</a:t>
            </a:r>
            <a:endParaRPr lang="en-US" sz="1350" dirty="0"/>
          </a:p>
          <a:p>
            <a:pPr marL="342900" indent="-342900">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RS-485 still via the TCI (USB fallback)</a:t>
            </a:r>
            <a:endParaRPr lang="en-US" sz="1350" dirty="0"/>
          </a:p>
          <a:p>
            <a:pPr marL="342900" indent="-342900">
              <a:spcAft>
                <a:spcPts val="900"/>
              </a:spcAft>
              <a:buSzPct val="100000"/>
              <a:buChar char="•"/>
            </a:pPr>
            <a:r>
              <a:rPr lang="en-US" sz="1350" dirty="0">
                <a:solidFill>
                  <a:srgbClr val="CADCFC"/>
                </a:solidFill>
                <a:latin typeface="Calibri" pitchFamily="34" charset="0"/>
                <a:ea typeface="Calibri" pitchFamily="34" charset="-122"/>
                <a:cs typeface="Calibri" pitchFamily="34" charset="-120"/>
              </a:rPr>
              <a:t>One extra cable + shared-ground bonding</a:t>
            </a:r>
            <a:endParaRPr lang="en-US" sz="1350" dirty="0"/>
          </a:p>
          <a:p>
            <a:pPr marL="342900" indent="-342900">
              <a:spcAft>
                <a:spcPts val="900"/>
              </a:spcAft>
              <a:buSzPct val="100000"/>
              <a:buChar char="•"/>
            </a:pPr>
            <a:r>
              <a:rPr lang="en-US" sz="1350" dirty="0">
                <a:solidFill>
                  <a:srgbClr val="F6B860"/>
                </a:solidFill>
                <a:latin typeface="Calibri" pitchFamily="34" charset="0"/>
                <a:ea typeface="Calibri" pitchFamily="34" charset="-122"/>
                <a:cs typeface="Calibri" pitchFamily="34" charset="-120"/>
              </a:rPr>
              <a:t>Chosen: grasp-force experiments are planned</a:t>
            </a:r>
            <a:endParaRPr lang="en-US" sz="1350" dirty="0"/>
          </a:p>
        </p:txBody>
      </p:sp>
      <p:sp>
        <p:nvSpPr>
          <p:cNvPr id="14" name="Text 12"/>
          <p:cNvSpPr/>
          <p:nvPr/>
        </p:nvSpPr>
        <p:spPr>
          <a:xfrm>
            <a:off x="548640" y="5577840"/>
            <a:ext cx="11064240" cy="502920"/>
          </a:xfrm>
          <a:prstGeom prst="rect">
            <a:avLst/>
          </a:prstGeom>
          <a:noFill/>
          <a:ln/>
        </p:spPr>
        <p:txBody>
          <a:bodyPr wrap="square" rtlCol="0" anchor="ctr"/>
          <a:lstStyle/>
          <a:p>
            <a:pPr indent="0" marL="0">
              <a:buNone/>
            </a:pPr>
            <a:r>
              <a:rPr lang="en-US" sz="1250" i="1" dirty="0">
                <a:solidFill>
                  <a:srgbClr val="5A6B7A"/>
                </a:solidFill>
                <a:latin typeface="Calibri" pitchFamily="34" charset="0"/>
                <a:ea typeface="Calibri" pitchFamily="34" charset="-122"/>
                <a:cs typeface="Calibri" pitchFamily="34" charset="-120"/>
              </a:rPr>
              <a:t>Concept A stays as a demonstrator of the simplest integration — attempted once the true current profile is measured in Stage 1.</a:t>
            </a:r>
            <a:endParaRPr lang="en-US" sz="1250" dirty="0"/>
          </a:p>
        </p:txBody>
      </p:sp>
      <p:sp>
        <p:nvSpPr>
          <p:cNvPr id="15" name="Text 13"/>
          <p:cNvSpPr/>
          <p:nvPr/>
        </p:nvSpPr>
        <p:spPr>
          <a:xfrm>
            <a:off x="457200" y="6473952"/>
            <a:ext cx="8961120" cy="274320"/>
          </a:xfrm>
          <a:prstGeom prst="rect">
            <a:avLst/>
          </a:prstGeom>
          <a:noFill/>
          <a:ln/>
        </p:spPr>
        <p:txBody>
          <a:bodyPr wrap="square" rtlCol="0" anchor="ctr"/>
          <a:lstStyle/>
          <a:p>
            <a:pPr indent="0" marL="0">
              <a:buNone/>
            </a:pPr>
            <a:r>
              <a:rPr lang="en-US" sz="900" dirty="0">
                <a:solidFill>
                  <a:srgbClr val="5A6B7A"/>
                </a:solidFill>
                <a:latin typeface="Calibri" pitchFamily="34" charset="0"/>
                <a:ea typeface="Calibri" pitchFamily="34" charset="-122"/>
                <a:cs typeface="Calibri" pitchFamily="34" charset="-120"/>
              </a:rPr>
              <a:t>RH56F1-E2R-T1  ×  UR5e  —  Integration Design &amp; Evaluation Plan</a:t>
            </a:r>
            <a:endParaRPr lang="en-US" sz="900" dirty="0"/>
          </a:p>
        </p:txBody>
      </p:sp>
      <p:sp>
        <p:nvSpPr>
          <p:cNvPr id="16" name="Text 14"/>
          <p:cNvSpPr/>
          <p:nvPr/>
        </p:nvSpPr>
        <p:spPr>
          <a:xfrm>
            <a:off x="11475720" y="6473952"/>
            <a:ext cx="4114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SOFTWARE &amp; COMMUNICATION</a:t>
            </a:r>
            <a:endParaRPr lang="en-US" sz="1200" dirty="0"/>
          </a:p>
        </p:txBody>
      </p:sp>
      <p:sp>
        <p:nvSpPr>
          <p:cNvPr id="3" name="Text 1"/>
          <p:cNvSpPr/>
          <p:nvPr/>
        </p:nvSpPr>
        <p:spPr>
          <a:xfrm>
            <a:off x="530352" y="658368"/>
            <a:ext cx="11109960" cy="731520"/>
          </a:xfrm>
          <a:prstGeom prst="rect">
            <a:avLst/>
          </a:prstGeom>
          <a:noFill/>
          <a:ln/>
        </p:spPr>
        <p:txBody>
          <a:bodyPr wrap="square" rtlCol="0" anchor="ctr"/>
          <a:lstStyle/>
          <a:p>
            <a:pPr indent="0" marL="0">
              <a:buNone/>
            </a:pPr>
            <a:r>
              <a:rPr lang="en-US" sz="2900" b="1" dirty="0">
                <a:solidFill>
                  <a:srgbClr val="12233B"/>
                </a:solidFill>
                <a:latin typeface="Cambria" pitchFamily="34" charset="0"/>
                <a:ea typeface="Cambria" pitchFamily="34" charset="-122"/>
                <a:cs typeface="Cambria" pitchFamily="34" charset="-120"/>
              </a:rPr>
              <a:t>One control PC, two channels</a:t>
            </a:r>
            <a:endParaRPr lang="en-US" sz="2900" dirty="0"/>
          </a:p>
        </p:txBody>
      </p:sp>
      <p:sp>
        <p:nvSpPr>
          <p:cNvPr id="4" name="Shape 2"/>
          <p:cNvSpPr/>
          <p:nvPr/>
        </p:nvSpPr>
        <p:spPr>
          <a:xfrm>
            <a:off x="685800" y="2103120"/>
            <a:ext cx="2880360" cy="1554480"/>
          </a:xfrm>
          <a:prstGeom prst="roundRect">
            <a:avLst>
              <a:gd name="adj" fmla="val 7059"/>
            </a:avLst>
          </a:prstGeom>
          <a:solidFill>
            <a:srgbClr val="1B3A5B"/>
          </a:solidFill>
          <a:ln/>
          <a:effectLst>
            <a:outerShdw sx="100000" sy="100000" kx="0" ky="0" algn="bl" rotWithShape="0" blurRad="114300" dist="50800" dir="5400000">
              <a:srgbClr val="0B1728">
                <a:alpha val="40000"/>
              </a:srgbClr>
            </a:outerShdw>
          </a:effectLst>
        </p:spPr>
      </p:sp>
      <p:sp>
        <p:nvSpPr>
          <p:cNvPr id="5" name="Text 3"/>
          <p:cNvSpPr/>
          <p:nvPr/>
        </p:nvSpPr>
        <p:spPr>
          <a:xfrm>
            <a:off x="822960" y="2322576"/>
            <a:ext cx="2606040" cy="457200"/>
          </a:xfrm>
          <a:prstGeom prst="rect">
            <a:avLst/>
          </a:prstGeom>
          <a:noFill/>
          <a:ln/>
        </p:spPr>
        <p:txBody>
          <a:bodyPr wrap="square" rtlCol="0" anchor="ctr"/>
          <a:lstStyle/>
          <a:p>
            <a:pPr algn="ctr" indent="0" marL="0">
              <a:buNone/>
            </a:pPr>
            <a:r>
              <a:rPr lang="en-US" sz="1650" b="1" dirty="0">
                <a:solidFill>
                  <a:srgbClr val="FFFFFF"/>
                </a:solidFill>
                <a:latin typeface="Cambria" pitchFamily="34" charset="0"/>
                <a:ea typeface="Cambria" pitchFamily="34" charset="-122"/>
                <a:cs typeface="Cambria" pitchFamily="34" charset="-120"/>
              </a:rPr>
              <a:t>Control PC</a:t>
            </a:r>
            <a:endParaRPr lang="en-US" sz="1650" dirty="0"/>
          </a:p>
        </p:txBody>
      </p:sp>
      <p:sp>
        <p:nvSpPr>
          <p:cNvPr id="6" name="Text 4"/>
          <p:cNvSpPr/>
          <p:nvPr/>
        </p:nvSpPr>
        <p:spPr>
          <a:xfrm>
            <a:off x="822960" y="2834640"/>
            <a:ext cx="2606040" cy="68580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ROS 2 driver + hand node</a:t>
            </a: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MoveIt 2 · register I/O</a:t>
            </a:r>
            <a:endParaRPr lang="en-US" sz="1200" dirty="0"/>
          </a:p>
        </p:txBody>
      </p:sp>
      <p:sp>
        <p:nvSpPr>
          <p:cNvPr id="7" name="Text 5"/>
          <p:cNvSpPr/>
          <p:nvPr/>
        </p:nvSpPr>
        <p:spPr>
          <a:xfrm>
            <a:off x="3657600" y="2423160"/>
            <a:ext cx="1051560" cy="548640"/>
          </a:xfrm>
          <a:prstGeom prst="rect">
            <a:avLst/>
          </a:prstGeom>
          <a:noFill/>
          <a:ln/>
        </p:spPr>
        <p:txBody>
          <a:bodyPr wrap="square" rtlCol="0" anchor="ctr"/>
          <a:lstStyle/>
          <a:p>
            <a:pPr algn="ctr" indent="0" marL="0">
              <a:buNone/>
            </a:pPr>
            <a:r>
              <a:rPr lang="en-US" sz="3000" b="1" dirty="0">
                <a:solidFill>
                  <a:srgbClr val="5A6B7A"/>
                </a:solidFill>
                <a:latin typeface="Cambria" pitchFamily="34" charset="0"/>
                <a:ea typeface="Cambria" pitchFamily="34" charset="-122"/>
                <a:cs typeface="Cambria" pitchFamily="34" charset="-120"/>
              </a:rPr>
              <a:t>→</a:t>
            </a:r>
            <a:endParaRPr lang="en-US" sz="3000" dirty="0"/>
          </a:p>
        </p:txBody>
      </p:sp>
      <p:sp>
        <p:nvSpPr>
          <p:cNvPr id="8" name="Text 6"/>
          <p:cNvSpPr/>
          <p:nvPr/>
        </p:nvSpPr>
        <p:spPr>
          <a:xfrm>
            <a:off x="3520440" y="3035808"/>
            <a:ext cx="1325880" cy="320040"/>
          </a:xfrm>
          <a:prstGeom prst="rect">
            <a:avLst/>
          </a:prstGeom>
          <a:noFill/>
          <a:ln/>
        </p:spPr>
        <p:txBody>
          <a:bodyPr wrap="square" rtlCol="0" anchor="ctr"/>
          <a:lstStyle/>
          <a:p>
            <a:pPr algn="ctr" indent="0" marL="0">
              <a:buNone/>
            </a:pPr>
            <a:r>
              <a:rPr lang="en-US" sz="1100" b="1" dirty="0">
                <a:solidFill>
                  <a:srgbClr val="3E7CB1"/>
                </a:solidFill>
                <a:latin typeface="Calibri" pitchFamily="34" charset="0"/>
                <a:ea typeface="Calibri" pitchFamily="34" charset="-122"/>
                <a:cs typeface="Calibri" pitchFamily="34" charset="-120"/>
              </a:rPr>
              <a:t>TCP :54321</a:t>
            </a:r>
            <a:endParaRPr lang="en-US" sz="1100" dirty="0"/>
          </a:p>
        </p:txBody>
      </p:sp>
      <p:sp>
        <p:nvSpPr>
          <p:cNvPr id="9" name="Shape 7"/>
          <p:cNvSpPr/>
          <p:nvPr/>
        </p:nvSpPr>
        <p:spPr>
          <a:xfrm>
            <a:off x="4800600" y="2103120"/>
            <a:ext cx="2880360" cy="1554480"/>
          </a:xfrm>
          <a:prstGeom prst="roundRect">
            <a:avLst>
              <a:gd name="adj" fmla="val 7059"/>
            </a:avLst>
          </a:prstGeom>
          <a:solidFill>
            <a:srgbClr val="3E7CB1"/>
          </a:solidFill>
          <a:ln/>
          <a:effectLst>
            <a:outerShdw sx="100000" sy="100000" kx="0" ky="0" algn="bl" rotWithShape="0" blurRad="114300" dist="50800" dir="5400000">
              <a:srgbClr val="0B1728">
                <a:alpha val="40000"/>
              </a:srgbClr>
            </a:outerShdw>
          </a:effectLst>
        </p:spPr>
      </p:sp>
      <p:sp>
        <p:nvSpPr>
          <p:cNvPr id="10" name="Text 8"/>
          <p:cNvSpPr/>
          <p:nvPr/>
        </p:nvSpPr>
        <p:spPr>
          <a:xfrm>
            <a:off x="4937760" y="2322576"/>
            <a:ext cx="2606040" cy="457200"/>
          </a:xfrm>
          <a:prstGeom prst="rect">
            <a:avLst/>
          </a:prstGeom>
          <a:noFill/>
          <a:ln/>
        </p:spPr>
        <p:txBody>
          <a:bodyPr wrap="square" rtlCol="0" anchor="ctr"/>
          <a:lstStyle/>
          <a:p>
            <a:pPr algn="ctr" indent="0" marL="0">
              <a:buNone/>
            </a:pPr>
            <a:r>
              <a:rPr lang="en-US" sz="1650" b="1" dirty="0">
                <a:solidFill>
                  <a:srgbClr val="FFFFFF"/>
                </a:solidFill>
                <a:latin typeface="Cambria" pitchFamily="34" charset="0"/>
                <a:ea typeface="Cambria" pitchFamily="34" charset="-122"/>
                <a:cs typeface="Cambria" pitchFamily="34" charset="-120"/>
              </a:rPr>
              <a:t>UR controller</a:t>
            </a:r>
            <a:endParaRPr lang="en-US" sz="1650" dirty="0"/>
          </a:p>
        </p:txBody>
      </p:sp>
      <p:sp>
        <p:nvSpPr>
          <p:cNvPr id="11" name="Text 9"/>
          <p:cNvSpPr/>
          <p:nvPr/>
        </p:nvSpPr>
        <p:spPr>
          <a:xfrm>
            <a:off x="4937760" y="2834640"/>
            <a:ext cx="2606040" cy="68580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ToolComm URCap + socat</a:t>
            </a: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relay on port 54321</a:t>
            </a:r>
            <a:endParaRPr lang="en-US" sz="1200" dirty="0"/>
          </a:p>
        </p:txBody>
      </p:sp>
      <p:sp>
        <p:nvSpPr>
          <p:cNvPr id="12" name="Text 10"/>
          <p:cNvSpPr/>
          <p:nvPr/>
        </p:nvSpPr>
        <p:spPr>
          <a:xfrm>
            <a:off x="7772400" y="2423160"/>
            <a:ext cx="1051560" cy="548640"/>
          </a:xfrm>
          <a:prstGeom prst="rect">
            <a:avLst/>
          </a:prstGeom>
          <a:noFill/>
          <a:ln/>
        </p:spPr>
        <p:txBody>
          <a:bodyPr wrap="square" rtlCol="0" anchor="ctr"/>
          <a:lstStyle/>
          <a:p>
            <a:pPr algn="ctr" indent="0" marL="0">
              <a:buNone/>
            </a:pPr>
            <a:r>
              <a:rPr lang="en-US" sz="3000" b="1" dirty="0">
                <a:solidFill>
                  <a:srgbClr val="5A6B7A"/>
                </a:solidFill>
                <a:latin typeface="Cambria" pitchFamily="34" charset="0"/>
                <a:ea typeface="Cambria" pitchFamily="34" charset="-122"/>
                <a:cs typeface="Cambria" pitchFamily="34" charset="-120"/>
              </a:rPr>
              <a:t>→</a:t>
            </a:r>
            <a:endParaRPr lang="en-US" sz="3000" dirty="0"/>
          </a:p>
        </p:txBody>
      </p:sp>
      <p:sp>
        <p:nvSpPr>
          <p:cNvPr id="13" name="Text 11"/>
          <p:cNvSpPr/>
          <p:nvPr/>
        </p:nvSpPr>
        <p:spPr>
          <a:xfrm>
            <a:off x="7635240" y="3035808"/>
            <a:ext cx="1325880" cy="320040"/>
          </a:xfrm>
          <a:prstGeom prst="rect">
            <a:avLst/>
          </a:prstGeom>
          <a:noFill/>
          <a:ln/>
        </p:spPr>
        <p:txBody>
          <a:bodyPr wrap="square" rtlCol="0" anchor="ctr"/>
          <a:lstStyle/>
          <a:p>
            <a:pPr algn="ctr" indent="0" marL="0">
              <a:buNone/>
            </a:pPr>
            <a:r>
              <a:rPr lang="en-US" sz="1100" b="1" dirty="0">
                <a:solidFill>
                  <a:srgbClr val="3E7CB1"/>
                </a:solidFill>
                <a:latin typeface="Calibri" pitchFamily="34" charset="0"/>
                <a:ea typeface="Calibri" pitchFamily="34" charset="-122"/>
                <a:cs typeface="Calibri" pitchFamily="34" charset="-120"/>
              </a:rPr>
              <a:t>RS-485</a:t>
            </a:r>
            <a:endParaRPr lang="en-US" sz="1100" dirty="0"/>
          </a:p>
        </p:txBody>
      </p:sp>
      <p:sp>
        <p:nvSpPr>
          <p:cNvPr id="14" name="Shape 12"/>
          <p:cNvSpPr/>
          <p:nvPr/>
        </p:nvSpPr>
        <p:spPr>
          <a:xfrm>
            <a:off x="8915400" y="2103120"/>
            <a:ext cx="2880360" cy="1554480"/>
          </a:xfrm>
          <a:prstGeom prst="roundRect">
            <a:avLst>
              <a:gd name="adj" fmla="val 7059"/>
            </a:avLst>
          </a:prstGeom>
          <a:solidFill>
            <a:srgbClr val="E8871E"/>
          </a:solidFill>
          <a:ln/>
          <a:effectLst>
            <a:outerShdw sx="100000" sy="100000" kx="0" ky="0" algn="bl" rotWithShape="0" blurRad="114300" dist="50800" dir="5400000">
              <a:srgbClr val="0B1728">
                <a:alpha val="40000"/>
              </a:srgbClr>
            </a:outerShdw>
          </a:effectLst>
        </p:spPr>
      </p:sp>
      <p:sp>
        <p:nvSpPr>
          <p:cNvPr id="15" name="Text 13"/>
          <p:cNvSpPr/>
          <p:nvPr/>
        </p:nvSpPr>
        <p:spPr>
          <a:xfrm>
            <a:off x="9052560" y="2322576"/>
            <a:ext cx="2606040" cy="457200"/>
          </a:xfrm>
          <a:prstGeom prst="rect">
            <a:avLst/>
          </a:prstGeom>
          <a:noFill/>
          <a:ln/>
        </p:spPr>
        <p:txBody>
          <a:bodyPr wrap="square" rtlCol="0" anchor="ctr"/>
          <a:lstStyle/>
          <a:p>
            <a:pPr algn="ctr" indent="0" marL="0">
              <a:buNone/>
            </a:pPr>
            <a:r>
              <a:rPr lang="en-US" sz="1650" b="1" dirty="0">
                <a:solidFill>
                  <a:srgbClr val="14304C"/>
                </a:solidFill>
                <a:latin typeface="Cambria" pitchFamily="34" charset="0"/>
                <a:ea typeface="Cambria" pitchFamily="34" charset="-122"/>
                <a:cs typeface="Cambria" pitchFamily="34" charset="-120"/>
              </a:rPr>
              <a:t>RH56F1-E2R-T1</a:t>
            </a:r>
            <a:endParaRPr lang="en-US" sz="1650" dirty="0"/>
          </a:p>
        </p:txBody>
      </p:sp>
      <p:sp>
        <p:nvSpPr>
          <p:cNvPr id="16" name="Text 14"/>
          <p:cNvSpPr/>
          <p:nvPr/>
        </p:nvSpPr>
        <p:spPr>
          <a:xfrm>
            <a:off x="9052560" y="2834640"/>
            <a:ext cx="2606040" cy="685800"/>
          </a:xfrm>
          <a:prstGeom prst="rect">
            <a:avLst/>
          </a:prstGeom>
          <a:noFill/>
          <a:ln/>
        </p:spPr>
        <p:txBody>
          <a:bodyPr wrap="square" rtlCol="0" anchor="ctr"/>
          <a:lstStyle/>
          <a:p>
            <a:pPr algn="ctr" indent="0" marL="0">
              <a:buNone/>
            </a:pPr>
            <a:r>
              <a:rPr lang="en-US" sz="1200" dirty="0">
                <a:solidFill>
                  <a:srgbClr val="14304C"/>
                </a:solidFill>
                <a:latin typeface="Calibri" pitchFamily="34" charset="0"/>
                <a:ea typeface="Calibri" pitchFamily="34" charset="-122"/>
                <a:cs typeface="Calibri" pitchFamily="34" charset="-120"/>
              </a:rPr>
              <a:t>register-based hand</a:t>
            </a:r>
            <a:endParaRPr lang="en-US" sz="1200" dirty="0"/>
          </a:p>
          <a:p>
            <a:pPr algn="ctr" indent="0" marL="0">
              <a:buNone/>
            </a:pPr>
            <a:r>
              <a:rPr lang="en-US" sz="1200" dirty="0">
                <a:solidFill>
                  <a:srgbClr val="14304C"/>
                </a:solidFill>
                <a:latin typeface="Calibri" pitchFamily="34" charset="0"/>
                <a:ea typeface="Calibri" pitchFamily="34" charset="-122"/>
                <a:cs typeface="Calibri" pitchFamily="34" charset="-120"/>
              </a:rPr>
              <a:t>over RS-485</a:t>
            </a:r>
            <a:endParaRPr lang="en-US" sz="1200" dirty="0"/>
          </a:p>
        </p:txBody>
      </p:sp>
      <p:sp>
        <p:nvSpPr>
          <p:cNvPr id="17" name="Shape 15"/>
          <p:cNvSpPr/>
          <p:nvPr/>
        </p:nvSpPr>
        <p:spPr>
          <a:xfrm>
            <a:off x="2125980" y="3657600"/>
            <a:ext cx="0" cy="502920"/>
          </a:xfrm>
          <a:prstGeom prst="line">
            <a:avLst/>
          </a:prstGeom>
          <a:noFill/>
          <a:ln w="15875">
            <a:solidFill>
              <a:srgbClr val="5A6B7A"/>
            </a:solidFill>
            <a:prstDash val="dash"/>
          </a:ln>
        </p:spPr>
      </p:sp>
      <p:sp>
        <p:nvSpPr>
          <p:cNvPr id="18" name="Text 16"/>
          <p:cNvSpPr/>
          <p:nvPr/>
        </p:nvSpPr>
        <p:spPr>
          <a:xfrm>
            <a:off x="502920" y="4114800"/>
            <a:ext cx="4892040" cy="548640"/>
          </a:xfrm>
          <a:prstGeom prst="rect">
            <a:avLst/>
          </a:prstGeom>
          <a:noFill/>
          <a:ln/>
        </p:spPr>
        <p:txBody>
          <a:bodyPr wrap="square" rtlCol="0" anchor="ctr"/>
          <a:lstStyle/>
          <a:p>
            <a:pPr indent="0" marL="0">
              <a:buNone/>
            </a:pPr>
            <a:r>
              <a:rPr lang="en-US" sz="1150" i="1" dirty="0">
                <a:solidFill>
                  <a:srgbClr val="5A6B7A"/>
                </a:solidFill>
                <a:latin typeface="Calibri" pitchFamily="34" charset="0"/>
                <a:ea typeface="Calibri" pitchFamily="34" charset="-122"/>
                <a:cs typeface="Calibri" pitchFamily="34" charset="-120"/>
              </a:rPr>
              <a:t>UR5e arm — commanded on the driver's own Ethernet channel, separate from the hand</a:t>
            </a:r>
            <a:endParaRPr lang="en-US" sz="1150" dirty="0"/>
          </a:p>
        </p:txBody>
      </p:sp>
      <p:sp>
        <p:nvSpPr>
          <p:cNvPr id="19" name="Shape 17"/>
          <p:cNvSpPr/>
          <p:nvPr/>
        </p:nvSpPr>
        <p:spPr>
          <a:xfrm>
            <a:off x="548640" y="4709160"/>
            <a:ext cx="3520440" cy="1371600"/>
          </a:xfrm>
          <a:prstGeom prst="roundRect">
            <a:avLst>
              <a:gd name="adj" fmla="val 6667"/>
            </a:avLst>
          </a:prstGeom>
          <a:solidFill>
            <a:srgbClr val="EEF3F8"/>
          </a:solidFill>
          <a:ln w="12700">
            <a:solidFill>
              <a:srgbClr val="D5DEE8"/>
            </a:solidFill>
            <a:prstDash val="solid"/>
          </a:ln>
        </p:spPr>
      </p:sp>
      <p:sp>
        <p:nvSpPr>
          <p:cNvPr id="20" name="Text 18"/>
          <p:cNvSpPr/>
          <p:nvPr/>
        </p:nvSpPr>
        <p:spPr>
          <a:xfrm>
            <a:off x="777240" y="4892040"/>
            <a:ext cx="3108960" cy="365760"/>
          </a:xfrm>
          <a:prstGeom prst="rect">
            <a:avLst/>
          </a:prstGeom>
          <a:noFill/>
          <a:ln/>
        </p:spPr>
        <p:txBody>
          <a:bodyPr wrap="square" rtlCol="0" anchor="ctr"/>
          <a:lstStyle/>
          <a:p>
            <a:pPr indent="0" marL="0">
              <a:buNone/>
            </a:pPr>
            <a:r>
              <a:rPr lang="en-US" sz="1500" b="1" dirty="0">
                <a:solidFill>
                  <a:srgbClr val="E8871E"/>
                </a:solidFill>
                <a:latin typeface="Cambria" pitchFamily="34" charset="0"/>
                <a:ea typeface="Cambria" pitchFamily="34" charset="-122"/>
                <a:cs typeface="Cambria" pitchFamily="34" charset="-120"/>
              </a:rPr>
              <a:t>Reuse</a:t>
            </a:r>
            <a:endParaRPr lang="en-US" sz="1500" dirty="0"/>
          </a:p>
        </p:txBody>
      </p:sp>
      <p:sp>
        <p:nvSpPr>
          <p:cNvPr id="21" name="Text 19"/>
          <p:cNvSpPr/>
          <p:nvPr/>
        </p:nvSpPr>
        <p:spPr>
          <a:xfrm>
            <a:off x="777240" y="5276088"/>
            <a:ext cx="3154680" cy="731520"/>
          </a:xfrm>
          <a:prstGeom prst="rect">
            <a:avLst/>
          </a:prstGeom>
          <a:noFill/>
          <a:ln/>
        </p:spPr>
        <p:txBody>
          <a:bodyPr wrap="square" rtlCol="0" anchor="ctr"/>
          <a:lstStyle/>
          <a:p>
            <a:pPr indent="0" marL="0">
              <a:buNone/>
            </a:pPr>
            <a:r>
              <a:rPr lang="en-US" sz="1250" dirty="0">
                <a:solidFill>
                  <a:srgbClr val="1A2733"/>
                </a:solidFill>
                <a:latin typeface="Calibri" pitchFamily="34" charset="0"/>
                <a:ea typeface="Calibri" pitchFamily="34" charset="-122"/>
                <a:cs typeface="Calibri" pitchFamily="34" charset="-120"/>
              </a:rPr>
              <a:t>the robot's own serial channel — no added fieldbus</a:t>
            </a:r>
            <a:endParaRPr lang="en-US" sz="1250" dirty="0"/>
          </a:p>
        </p:txBody>
      </p:sp>
      <p:sp>
        <p:nvSpPr>
          <p:cNvPr id="22" name="Shape 20"/>
          <p:cNvSpPr/>
          <p:nvPr/>
        </p:nvSpPr>
        <p:spPr>
          <a:xfrm>
            <a:off x="4251960" y="4709160"/>
            <a:ext cx="3520440" cy="1371600"/>
          </a:xfrm>
          <a:prstGeom prst="roundRect">
            <a:avLst>
              <a:gd name="adj" fmla="val 6667"/>
            </a:avLst>
          </a:prstGeom>
          <a:solidFill>
            <a:srgbClr val="EEF3F8"/>
          </a:solidFill>
          <a:ln w="12700">
            <a:solidFill>
              <a:srgbClr val="D5DEE8"/>
            </a:solidFill>
            <a:prstDash val="solid"/>
          </a:ln>
        </p:spPr>
      </p:sp>
      <p:sp>
        <p:nvSpPr>
          <p:cNvPr id="23" name="Text 21"/>
          <p:cNvSpPr/>
          <p:nvPr/>
        </p:nvSpPr>
        <p:spPr>
          <a:xfrm>
            <a:off x="4480560" y="4892040"/>
            <a:ext cx="3108960" cy="365760"/>
          </a:xfrm>
          <a:prstGeom prst="rect">
            <a:avLst/>
          </a:prstGeom>
          <a:noFill/>
          <a:ln/>
        </p:spPr>
        <p:txBody>
          <a:bodyPr wrap="square" rtlCol="0" anchor="ctr"/>
          <a:lstStyle/>
          <a:p>
            <a:pPr indent="0" marL="0">
              <a:buNone/>
            </a:pPr>
            <a:r>
              <a:rPr lang="en-US" sz="1500" b="1" dirty="0">
                <a:solidFill>
                  <a:srgbClr val="E8871E"/>
                </a:solidFill>
                <a:latin typeface="Cambria" pitchFamily="34" charset="0"/>
                <a:ea typeface="Cambria" pitchFamily="34" charset="-122"/>
                <a:cs typeface="Cambria" pitchFamily="34" charset="-120"/>
              </a:rPr>
              <a:t>Thin driver</a:t>
            </a:r>
            <a:endParaRPr lang="en-US" sz="1500" dirty="0"/>
          </a:p>
        </p:txBody>
      </p:sp>
      <p:sp>
        <p:nvSpPr>
          <p:cNvPr id="24" name="Text 22"/>
          <p:cNvSpPr/>
          <p:nvPr/>
        </p:nvSpPr>
        <p:spPr>
          <a:xfrm>
            <a:off x="4480560" y="5276088"/>
            <a:ext cx="3154680" cy="731520"/>
          </a:xfrm>
          <a:prstGeom prst="rect">
            <a:avLst/>
          </a:prstGeom>
          <a:noFill/>
          <a:ln/>
        </p:spPr>
        <p:txBody>
          <a:bodyPr wrap="square" rtlCol="0" anchor="ctr"/>
          <a:lstStyle/>
          <a:p>
            <a:pPr indent="0" marL="0">
              <a:buNone/>
            </a:pPr>
            <a:r>
              <a:rPr lang="en-US" sz="1250" dirty="0">
                <a:solidFill>
                  <a:srgbClr val="1A2733"/>
                </a:solidFill>
                <a:latin typeface="Calibri" pitchFamily="34" charset="0"/>
                <a:ea typeface="Calibri" pitchFamily="34" charset="-122"/>
                <a:cs typeface="Calibri" pitchFamily="34" charset="-120"/>
              </a:rPr>
              <a:t>effort is a small register wrapper, not transport plumbing</a:t>
            </a:r>
            <a:endParaRPr lang="en-US" sz="1250" dirty="0"/>
          </a:p>
        </p:txBody>
      </p:sp>
      <p:sp>
        <p:nvSpPr>
          <p:cNvPr id="25" name="Shape 23"/>
          <p:cNvSpPr/>
          <p:nvPr/>
        </p:nvSpPr>
        <p:spPr>
          <a:xfrm>
            <a:off x="7955280" y="4709160"/>
            <a:ext cx="3520440" cy="1371600"/>
          </a:xfrm>
          <a:prstGeom prst="roundRect">
            <a:avLst>
              <a:gd name="adj" fmla="val 6667"/>
            </a:avLst>
          </a:prstGeom>
          <a:solidFill>
            <a:srgbClr val="EEF3F8"/>
          </a:solidFill>
          <a:ln w="12700">
            <a:solidFill>
              <a:srgbClr val="D5DEE8"/>
            </a:solidFill>
            <a:prstDash val="solid"/>
          </a:ln>
        </p:spPr>
      </p:sp>
      <p:sp>
        <p:nvSpPr>
          <p:cNvPr id="26" name="Text 24"/>
          <p:cNvSpPr/>
          <p:nvPr/>
        </p:nvSpPr>
        <p:spPr>
          <a:xfrm>
            <a:off x="8183880" y="4892040"/>
            <a:ext cx="3108960" cy="365760"/>
          </a:xfrm>
          <a:prstGeom prst="rect">
            <a:avLst/>
          </a:prstGeom>
          <a:noFill/>
          <a:ln/>
        </p:spPr>
        <p:txBody>
          <a:bodyPr wrap="square" rtlCol="0" anchor="ctr"/>
          <a:lstStyle/>
          <a:p>
            <a:pPr indent="0" marL="0">
              <a:buNone/>
            </a:pPr>
            <a:r>
              <a:rPr lang="en-US" sz="1500" b="1" dirty="0">
                <a:solidFill>
                  <a:srgbClr val="E8871E"/>
                </a:solidFill>
                <a:latin typeface="Cambria" pitchFamily="34" charset="0"/>
                <a:ea typeface="Cambria" pitchFamily="34" charset="-122"/>
                <a:cs typeface="Cambria" pitchFamily="34" charset="-120"/>
              </a:rPr>
              <a:t>Latency</a:t>
            </a:r>
            <a:endParaRPr lang="en-US" sz="1500" dirty="0"/>
          </a:p>
        </p:txBody>
      </p:sp>
      <p:sp>
        <p:nvSpPr>
          <p:cNvPr id="27" name="Text 25"/>
          <p:cNvSpPr/>
          <p:nvPr/>
        </p:nvSpPr>
        <p:spPr>
          <a:xfrm>
            <a:off x="8183880" y="5276088"/>
            <a:ext cx="3154680" cy="731520"/>
          </a:xfrm>
          <a:prstGeom prst="rect">
            <a:avLst/>
          </a:prstGeom>
          <a:noFill/>
          <a:ln/>
        </p:spPr>
        <p:txBody>
          <a:bodyPr wrap="square" rtlCol="0" anchor="ctr"/>
          <a:lstStyle/>
          <a:p>
            <a:pPr indent="0" marL="0">
              <a:buNone/>
            </a:pPr>
            <a:r>
              <a:rPr lang="en-US" sz="1250" dirty="0">
                <a:solidFill>
                  <a:srgbClr val="1A2733"/>
                </a:solidFill>
                <a:latin typeface="Calibri" pitchFamily="34" charset="0"/>
                <a:ea typeface="Calibri" pitchFamily="34" charset="-122"/>
                <a:cs typeface="Calibri" pitchFamily="34" charset="-120"/>
              </a:rPr>
              <a:t>register round-trips over the relay are measured in Stage 1</a:t>
            </a:r>
            <a:endParaRPr lang="en-US" sz="1250" dirty="0"/>
          </a:p>
        </p:txBody>
      </p:sp>
      <p:sp>
        <p:nvSpPr>
          <p:cNvPr id="28" name="Text 26"/>
          <p:cNvSpPr/>
          <p:nvPr/>
        </p:nvSpPr>
        <p:spPr>
          <a:xfrm>
            <a:off x="457200" y="6473952"/>
            <a:ext cx="8961120" cy="274320"/>
          </a:xfrm>
          <a:prstGeom prst="rect">
            <a:avLst/>
          </a:prstGeom>
          <a:noFill/>
          <a:ln/>
        </p:spPr>
        <p:txBody>
          <a:bodyPr wrap="square" rtlCol="0" anchor="ctr"/>
          <a:lstStyle/>
          <a:p>
            <a:pPr indent="0" marL="0">
              <a:buNone/>
            </a:pPr>
            <a:r>
              <a:rPr lang="en-US" sz="900" dirty="0">
                <a:solidFill>
                  <a:srgbClr val="5A6B7A"/>
                </a:solidFill>
                <a:latin typeface="Calibri" pitchFamily="34" charset="0"/>
                <a:ea typeface="Calibri" pitchFamily="34" charset="-122"/>
                <a:cs typeface="Calibri" pitchFamily="34" charset="-120"/>
              </a:rPr>
              <a:t>RH56F1-E2R-T1  ×  UR5e  —  Integration Design &amp; Evaluation Plan</a:t>
            </a:r>
            <a:endParaRPr lang="en-US" sz="900" dirty="0"/>
          </a:p>
        </p:txBody>
      </p:sp>
      <p:sp>
        <p:nvSpPr>
          <p:cNvPr id="29" name="Text 27"/>
          <p:cNvSpPr/>
          <p:nvPr/>
        </p:nvSpPr>
        <p:spPr>
          <a:xfrm>
            <a:off x="11475720" y="6473952"/>
            <a:ext cx="4114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USE CASES</a:t>
            </a:r>
            <a:endParaRPr lang="en-US" sz="1200" dirty="0"/>
          </a:p>
        </p:txBody>
      </p:sp>
      <p:sp>
        <p:nvSpPr>
          <p:cNvPr id="3" name="Text 1"/>
          <p:cNvSpPr/>
          <p:nvPr/>
        </p:nvSpPr>
        <p:spPr>
          <a:xfrm>
            <a:off x="530352" y="658368"/>
            <a:ext cx="11109960" cy="731520"/>
          </a:xfrm>
          <a:prstGeom prst="rect">
            <a:avLst/>
          </a:prstGeom>
          <a:noFill/>
          <a:ln/>
        </p:spPr>
        <p:txBody>
          <a:bodyPr wrap="square" rtlCol="0" anchor="ctr"/>
          <a:lstStyle/>
          <a:p>
            <a:pPr indent="0" marL="0">
              <a:buNone/>
            </a:pPr>
            <a:r>
              <a:rPr lang="en-US" sz="2900" b="1" dirty="0">
                <a:solidFill>
                  <a:srgbClr val="12233B"/>
                </a:solidFill>
                <a:latin typeface="Cambria" pitchFamily="34" charset="0"/>
                <a:ea typeface="Cambria" pitchFamily="34" charset="-122"/>
                <a:cs typeface="Cambria" pitchFamily="34" charset="-120"/>
              </a:rPr>
              <a:t>Five capabilities beyond a gripper</a:t>
            </a:r>
            <a:endParaRPr lang="en-US" sz="2900" dirty="0"/>
          </a:p>
        </p:txBody>
      </p:sp>
      <p:sp>
        <p:nvSpPr>
          <p:cNvPr id="4" name="Shape 2"/>
          <p:cNvSpPr/>
          <p:nvPr/>
        </p:nvSpPr>
        <p:spPr>
          <a:xfrm>
            <a:off x="548640" y="1600200"/>
            <a:ext cx="3520440" cy="1508760"/>
          </a:xfrm>
          <a:prstGeom prst="roundRect">
            <a:avLst>
              <a:gd name="adj" fmla="val 6061"/>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5" name="Shape 3"/>
          <p:cNvSpPr/>
          <p:nvPr/>
        </p:nvSpPr>
        <p:spPr>
          <a:xfrm>
            <a:off x="777240" y="1874520"/>
            <a:ext cx="548640" cy="548640"/>
          </a:xfrm>
          <a:prstGeom prst="ellipse">
            <a:avLst/>
          </a:prstGeom>
          <a:solidFill>
            <a:srgbClr val="3E7CB1"/>
          </a:solidFill>
          <a:ln/>
          <a:effectLst>
            <a:outerShdw sx="100000" sy="100000" kx="0" ky="0" algn="bl" rotWithShape="0" blurRad="76200" dist="38100" dir="5400000">
              <a:srgbClr val="8FA3B5">
                <a:alpha val="35000"/>
              </a:srgbClr>
            </a:outerShdw>
          </a:effectLst>
        </p:spPr>
      </p:sp>
      <p:sp>
        <p:nvSpPr>
          <p:cNvPr id="6" name="Text 4"/>
          <p:cNvSpPr/>
          <p:nvPr/>
        </p:nvSpPr>
        <p:spPr>
          <a:xfrm>
            <a:off x="777240" y="1874520"/>
            <a:ext cx="54864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463040" y="1856232"/>
            <a:ext cx="2468880" cy="457200"/>
          </a:xfrm>
          <a:prstGeom prst="rect">
            <a:avLst/>
          </a:prstGeom>
          <a:noFill/>
          <a:ln/>
        </p:spPr>
        <p:txBody>
          <a:bodyPr wrap="square" rtlCol="0" anchor="ctr"/>
          <a:lstStyle/>
          <a:p>
            <a:pPr indent="0" marL="0">
              <a:buNone/>
            </a:pPr>
            <a:r>
              <a:rPr lang="en-US" sz="1550" b="1" dirty="0">
                <a:solidFill>
                  <a:srgbClr val="12233B"/>
                </a:solidFill>
                <a:latin typeface="Cambria" pitchFamily="34" charset="0"/>
                <a:ea typeface="Cambria" pitchFamily="34" charset="-122"/>
                <a:cs typeface="Cambria" pitchFamily="34" charset="-120"/>
              </a:rPr>
              <a:t>Grasp benchmark</a:t>
            </a:r>
            <a:endParaRPr lang="en-US" sz="1550" dirty="0"/>
          </a:p>
        </p:txBody>
      </p:sp>
      <p:sp>
        <p:nvSpPr>
          <p:cNvPr id="8" name="Text 6"/>
          <p:cNvSpPr/>
          <p:nvPr/>
        </p:nvSpPr>
        <p:spPr>
          <a:xfrm>
            <a:off x="804672" y="2496312"/>
            <a:ext cx="3063240" cy="50292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Reproduce taxonomy grasp types; measure success and tolerance</a:t>
            </a:r>
            <a:endParaRPr lang="en-US" sz="1200" dirty="0"/>
          </a:p>
        </p:txBody>
      </p:sp>
      <p:sp>
        <p:nvSpPr>
          <p:cNvPr id="9" name="Shape 7"/>
          <p:cNvSpPr/>
          <p:nvPr/>
        </p:nvSpPr>
        <p:spPr>
          <a:xfrm>
            <a:off x="4325112" y="1600200"/>
            <a:ext cx="3520440" cy="1508760"/>
          </a:xfrm>
          <a:prstGeom prst="roundRect">
            <a:avLst>
              <a:gd name="adj" fmla="val 6061"/>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10" name="Shape 8"/>
          <p:cNvSpPr/>
          <p:nvPr/>
        </p:nvSpPr>
        <p:spPr>
          <a:xfrm>
            <a:off x="4553712" y="1874520"/>
            <a:ext cx="548640" cy="548640"/>
          </a:xfrm>
          <a:prstGeom prst="ellipse">
            <a:avLst/>
          </a:prstGeom>
          <a:solidFill>
            <a:srgbClr val="E8871E"/>
          </a:solidFill>
          <a:ln/>
          <a:effectLst>
            <a:outerShdw sx="100000" sy="100000" kx="0" ky="0" algn="bl" rotWithShape="0" blurRad="76200" dist="38100" dir="5400000">
              <a:srgbClr val="8FA3B5">
                <a:alpha val="35000"/>
              </a:srgbClr>
            </a:outerShdw>
          </a:effectLst>
        </p:spPr>
      </p:sp>
      <p:sp>
        <p:nvSpPr>
          <p:cNvPr id="11" name="Text 9"/>
          <p:cNvSpPr/>
          <p:nvPr/>
        </p:nvSpPr>
        <p:spPr>
          <a:xfrm>
            <a:off x="4553712" y="1874520"/>
            <a:ext cx="54864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5239512" y="1856232"/>
            <a:ext cx="2468880" cy="457200"/>
          </a:xfrm>
          <a:prstGeom prst="rect">
            <a:avLst/>
          </a:prstGeom>
          <a:noFill/>
          <a:ln/>
        </p:spPr>
        <p:txBody>
          <a:bodyPr wrap="square" rtlCol="0" anchor="ctr"/>
          <a:lstStyle/>
          <a:p>
            <a:pPr indent="0" marL="0">
              <a:buNone/>
            </a:pPr>
            <a:r>
              <a:rPr lang="en-US" sz="1550" b="1" dirty="0">
                <a:solidFill>
                  <a:srgbClr val="12233B"/>
                </a:solidFill>
                <a:latin typeface="Cambria" pitchFamily="34" charset="0"/>
                <a:ea typeface="Cambria" pitchFamily="34" charset="-122"/>
                <a:cs typeface="Cambria" pitchFamily="34" charset="-120"/>
              </a:rPr>
              <a:t>Fragile grasping</a:t>
            </a:r>
            <a:endParaRPr lang="en-US" sz="1550" dirty="0"/>
          </a:p>
        </p:txBody>
      </p:sp>
      <p:sp>
        <p:nvSpPr>
          <p:cNvPr id="13" name="Text 11"/>
          <p:cNvSpPr/>
          <p:nvPr/>
        </p:nvSpPr>
        <p:spPr>
          <a:xfrm>
            <a:off x="4581144" y="2496312"/>
            <a:ext cx="3063240" cy="50292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Force-thresholded closing on cups, fruit, thin-walled items</a:t>
            </a:r>
            <a:endParaRPr lang="en-US" sz="1200" dirty="0"/>
          </a:p>
        </p:txBody>
      </p:sp>
      <p:sp>
        <p:nvSpPr>
          <p:cNvPr id="14" name="Shape 12"/>
          <p:cNvSpPr/>
          <p:nvPr/>
        </p:nvSpPr>
        <p:spPr>
          <a:xfrm>
            <a:off x="8101584" y="1600200"/>
            <a:ext cx="3520440" cy="1508760"/>
          </a:xfrm>
          <a:prstGeom prst="roundRect">
            <a:avLst>
              <a:gd name="adj" fmla="val 6061"/>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15" name="Shape 13"/>
          <p:cNvSpPr/>
          <p:nvPr/>
        </p:nvSpPr>
        <p:spPr>
          <a:xfrm>
            <a:off x="8330184" y="1874520"/>
            <a:ext cx="548640" cy="548640"/>
          </a:xfrm>
          <a:prstGeom prst="ellipse">
            <a:avLst/>
          </a:prstGeom>
          <a:solidFill>
            <a:srgbClr val="1B3A5B"/>
          </a:solidFill>
          <a:ln/>
          <a:effectLst>
            <a:outerShdw sx="100000" sy="100000" kx="0" ky="0" algn="bl" rotWithShape="0" blurRad="76200" dist="38100" dir="5400000">
              <a:srgbClr val="8FA3B5">
                <a:alpha val="35000"/>
              </a:srgbClr>
            </a:outerShdw>
          </a:effectLst>
        </p:spPr>
      </p:sp>
      <p:sp>
        <p:nvSpPr>
          <p:cNvPr id="16" name="Text 14"/>
          <p:cNvSpPr/>
          <p:nvPr/>
        </p:nvSpPr>
        <p:spPr>
          <a:xfrm>
            <a:off x="8330184" y="1874520"/>
            <a:ext cx="54864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9015984" y="1856232"/>
            <a:ext cx="2468880" cy="457200"/>
          </a:xfrm>
          <a:prstGeom prst="rect">
            <a:avLst/>
          </a:prstGeom>
          <a:noFill/>
          <a:ln/>
        </p:spPr>
        <p:txBody>
          <a:bodyPr wrap="square" rtlCol="0" anchor="ctr"/>
          <a:lstStyle/>
          <a:p>
            <a:pPr indent="0" marL="0">
              <a:buNone/>
            </a:pPr>
            <a:r>
              <a:rPr lang="en-US" sz="1550" b="1" dirty="0">
                <a:solidFill>
                  <a:srgbClr val="12233B"/>
                </a:solidFill>
                <a:latin typeface="Cambria" pitchFamily="34" charset="0"/>
                <a:ea typeface="Cambria" pitchFamily="34" charset="-122"/>
                <a:cs typeface="Cambria" pitchFamily="34" charset="-120"/>
              </a:rPr>
              <a:t>Teleoperation</a:t>
            </a:r>
            <a:endParaRPr lang="en-US" sz="1550" dirty="0"/>
          </a:p>
        </p:txBody>
      </p:sp>
      <p:sp>
        <p:nvSpPr>
          <p:cNvPr id="18" name="Text 16"/>
          <p:cNvSpPr/>
          <p:nvPr/>
        </p:nvSpPr>
        <p:spPr>
          <a:xfrm>
            <a:off x="8357616" y="2496312"/>
            <a:ext cx="3063240" cy="50292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Retarget human hand pose; collect demonstration data</a:t>
            </a:r>
            <a:endParaRPr lang="en-US" sz="1200" dirty="0"/>
          </a:p>
        </p:txBody>
      </p:sp>
      <p:sp>
        <p:nvSpPr>
          <p:cNvPr id="19" name="Shape 17"/>
          <p:cNvSpPr/>
          <p:nvPr/>
        </p:nvSpPr>
        <p:spPr>
          <a:xfrm>
            <a:off x="548640" y="3383280"/>
            <a:ext cx="3520440" cy="1508760"/>
          </a:xfrm>
          <a:prstGeom prst="roundRect">
            <a:avLst>
              <a:gd name="adj" fmla="val 6061"/>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20" name="Shape 18"/>
          <p:cNvSpPr/>
          <p:nvPr/>
        </p:nvSpPr>
        <p:spPr>
          <a:xfrm>
            <a:off x="777240" y="3657600"/>
            <a:ext cx="548640" cy="548640"/>
          </a:xfrm>
          <a:prstGeom prst="ellipse">
            <a:avLst/>
          </a:prstGeom>
          <a:solidFill>
            <a:srgbClr val="3E7CB1"/>
          </a:solidFill>
          <a:ln/>
          <a:effectLst>
            <a:outerShdw sx="100000" sy="100000" kx="0" ky="0" algn="bl" rotWithShape="0" blurRad="76200" dist="38100" dir="5400000">
              <a:srgbClr val="8FA3B5">
                <a:alpha val="35000"/>
              </a:srgbClr>
            </a:outerShdw>
          </a:effectLst>
        </p:spPr>
      </p:sp>
      <p:sp>
        <p:nvSpPr>
          <p:cNvPr id="21" name="Text 19"/>
          <p:cNvSpPr/>
          <p:nvPr/>
        </p:nvSpPr>
        <p:spPr>
          <a:xfrm>
            <a:off x="777240" y="3657600"/>
            <a:ext cx="54864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463040" y="3639312"/>
            <a:ext cx="2468880" cy="457200"/>
          </a:xfrm>
          <a:prstGeom prst="rect">
            <a:avLst/>
          </a:prstGeom>
          <a:noFill/>
          <a:ln/>
        </p:spPr>
        <p:txBody>
          <a:bodyPr wrap="square" rtlCol="0" anchor="ctr"/>
          <a:lstStyle/>
          <a:p>
            <a:pPr indent="0" marL="0">
              <a:buNone/>
            </a:pPr>
            <a:r>
              <a:rPr lang="en-US" sz="1550" b="1" dirty="0">
                <a:solidFill>
                  <a:srgbClr val="12233B"/>
                </a:solidFill>
                <a:latin typeface="Cambria" pitchFamily="34" charset="0"/>
                <a:ea typeface="Cambria" pitchFamily="34" charset="-122"/>
                <a:cs typeface="Cambria" pitchFamily="34" charset="-120"/>
              </a:rPr>
              <a:t>Handover &amp; gesture</a:t>
            </a:r>
            <a:endParaRPr lang="en-US" sz="1550" dirty="0"/>
          </a:p>
        </p:txBody>
      </p:sp>
      <p:sp>
        <p:nvSpPr>
          <p:cNvPr id="23" name="Text 21"/>
          <p:cNvSpPr/>
          <p:nvPr/>
        </p:nvSpPr>
        <p:spPr>
          <a:xfrm>
            <a:off x="804672" y="4279392"/>
            <a:ext cx="3063240" cy="50292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Tactile release on tug; pointing and thumbs-up as postures</a:t>
            </a:r>
            <a:endParaRPr lang="en-US" sz="1200" dirty="0"/>
          </a:p>
        </p:txBody>
      </p:sp>
      <p:sp>
        <p:nvSpPr>
          <p:cNvPr id="24" name="Shape 22"/>
          <p:cNvSpPr/>
          <p:nvPr/>
        </p:nvSpPr>
        <p:spPr>
          <a:xfrm>
            <a:off x="4325112" y="3383280"/>
            <a:ext cx="3520440" cy="1508760"/>
          </a:xfrm>
          <a:prstGeom prst="roundRect">
            <a:avLst>
              <a:gd name="adj" fmla="val 6061"/>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25" name="Shape 23"/>
          <p:cNvSpPr/>
          <p:nvPr/>
        </p:nvSpPr>
        <p:spPr>
          <a:xfrm>
            <a:off x="4553712" y="3657600"/>
            <a:ext cx="548640" cy="548640"/>
          </a:xfrm>
          <a:prstGeom prst="ellipse">
            <a:avLst/>
          </a:prstGeom>
          <a:solidFill>
            <a:srgbClr val="E8871E"/>
          </a:solidFill>
          <a:ln/>
          <a:effectLst>
            <a:outerShdw sx="100000" sy="100000" kx="0" ky="0" algn="bl" rotWithShape="0" blurRad="76200" dist="38100" dir="5400000">
              <a:srgbClr val="8FA3B5">
                <a:alpha val="35000"/>
              </a:srgbClr>
            </a:outerShdw>
          </a:effectLst>
        </p:spPr>
      </p:sp>
      <p:sp>
        <p:nvSpPr>
          <p:cNvPr id="26" name="Text 24"/>
          <p:cNvSpPr/>
          <p:nvPr/>
        </p:nvSpPr>
        <p:spPr>
          <a:xfrm>
            <a:off x="4553712" y="3657600"/>
            <a:ext cx="54864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5239512" y="3639312"/>
            <a:ext cx="2468880" cy="457200"/>
          </a:xfrm>
          <a:prstGeom prst="rect">
            <a:avLst/>
          </a:prstGeom>
          <a:noFill/>
          <a:ln/>
        </p:spPr>
        <p:txBody>
          <a:bodyPr wrap="square" rtlCol="0" anchor="ctr"/>
          <a:lstStyle/>
          <a:p>
            <a:pPr indent="0" marL="0">
              <a:buNone/>
            </a:pPr>
            <a:r>
              <a:rPr lang="en-US" sz="1550" b="1" dirty="0">
                <a:solidFill>
                  <a:srgbClr val="12233B"/>
                </a:solidFill>
                <a:latin typeface="Cambria" pitchFamily="34" charset="0"/>
                <a:ea typeface="Cambria" pitchFamily="34" charset="-122"/>
                <a:cs typeface="Cambria" pitchFamily="34" charset="-120"/>
              </a:rPr>
              <a:t>Lab handling</a:t>
            </a:r>
            <a:endParaRPr lang="en-US" sz="1550" dirty="0"/>
          </a:p>
        </p:txBody>
      </p:sp>
      <p:sp>
        <p:nvSpPr>
          <p:cNvPr id="28" name="Text 26"/>
          <p:cNvSpPr/>
          <p:nvPr/>
        </p:nvSpPr>
        <p:spPr>
          <a:xfrm>
            <a:off x="4581144" y="4279392"/>
            <a:ext cx="3063240" cy="50292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Wrap grasps, tools, and trigger-operated devices</a:t>
            </a:r>
            <a:endParaRPr lang="en-US" sz="1200" dirty="0"/>
          </a:p>
        </p:txBody>
      </p:sp>
      <p:sp>
        <p:nvSpPr>
          <p:cNvPr id="29" name="Shape 27"/>
          <p:cNvSpPr/>
          <p:nvPr/>
        </p:nvSpPr>
        <p:spPr>
          <a:xfrm>
            <a:off x="8101584" y="3383280"/>
            <a:ext cx="3520440" cy="1508760"/>
          </a:xfrm>
          <a:prstGeom prst="roundRect">
            <a:avLst>
              <a:gd name="adj" fmla="val 6061"/>
            </a:avLst>
          </a:prstGeom>
          <a:solidFill>
            <a:srgbClr val="14304C"/>
          </a:solidFill>
          <a:ln/>
          <a:effectLst>
            <a:outerShdw sx="100000" sy="100000" kx="0" ky="0" algn="bl" rotWithShape="0" blurRad="114300" dist="50800" dir="5400000">
              <a:srgbClr val="0B1728">
                <a:alpha val="40000"/>
              </a:srgbClr>
            </a:outerShdw>
          </a:effectLst>
        </p:spPr>
      </p:sp>
      <p:sp>
        <p:nvSpPr>
          <p:cNvPr id="30" name="Text 28"/>
          <p:cNvSpPr/>
          <p:nvPr/>
        </p:nvSpPr>
        <p:spPr>
          <a:xfrm>
            <a:off x="8357616" y="3611880"/>
            <a:ext cx="3063240" cy="365760"/>
          </a:xfrm>
          <a:prstGeom prst="rect">
            <a:avLst/>
          </a:prstGeom>
          <a:noFill/>
          <a:ln/>
        </p:spPr>
        <p:txBody>
          <a:bodyPr wrap="square" rtlCol="0" anchor="ctr"/>
          <a:lstStyle/>
          <a:p>
            <a:pPr indent="0" marL="0">
              <a:buNone/>
            </a:pPr>
            <a:r>
              <a:rPr lang="en-US" sz="1450" b="1" dirty="0">
                <a:solidFill>
                  <a:srgbClr val="E8871E"/>
                </a:solidFill>
                <a:latin typeface="Cambria" pitchFamily="34" charset="0"/>
                <a:ea typeface="Cambria" pitchFamily="34" charset="-122"/>
                <a:cs typeface="Cambria" pitchFamily="34" charset="-120"/>
              </a:rPr>
              <a:t>The distinguishing axis</a:t>
            </a:r>
            <a:endParaRPr lang="en-US" sz="1450" dirty="0"/>
          </a:p>
        </p:txBody>
      </p:sp>
      <p:sp>
        <p:nvSpPr>
          <p:cNvPr id="31" name="Text 29"/>
          <p:cNvSpPr/>
          <p:nvPr/>
        </p:nvSpPr>
        <p:spPr>
          <a:xfrm>
            <a:off x="8357616" y="4005072"/>
            <a:ext cx="3063240" cy="77724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Integrated contact sensing in the loop — and every case is grounded in specs, none performed yet.</a:t>
            </a:r>
            <a:endParaRPr lang="en-US" sz="1200" dirty="0"/>
          </a:p>
        </p:txBody>
      </p:sp>
      <p:sp>
        <p:nvSpPr>
          <p:cNvPr id="32" name="Text 30"/>
          <p:cNvSpPr/>
          <p:nvPr/>
        </p:nvSpPr>
        <p:spPr>
          <a:xfrm>
            <a:off x="457200" y="6473952"/>
            <a:ext cx="8961120" cy="274320"/>
          </a:xfrm>
          <a:prstGeom prst="rect">
            <a:avLst/>
          </a:prstGeom>
          <a:noFill/>
          <a:ln/>
        </p:spPr>
        <p:txBody>
          <a:bodyPr wrap="square" rtlCol="0" anchor="ctr"/>
          <a:lstStyle/>
          <a:p>
            <a:pPr indent="0" marL="0">
              <a:buNone/>
            </a:pPr>
            <a:r>
              <a:rPr lang="en-US" sz="900" dirty="0">
                <a:solidFill>
                  <a:srgbClr val="5A6B7A"/>
                </a:solidFill>
                <a:latin typeface="Calibri" pitchFamily="34" charset="0"/>
                <a:ea typeface="Calibri" pitchFamily="34" charset="-122"/>
                <a:cs typeface="Calibri" pitchFamily="34" charset="-120"/>
              </a:rPr>
              <a:t>RH56F1-E2R-T1  ×  UR5e  —  Integration Design &amp; Evaluation Plan</a:t>
            </a:r>
            <a:endParaRPr lang="en-US" sz="900" dirty="0"/>
          </a:p>
        </p:txBody>
      </p:sp>
      <p:sp>
        <p:nvSpPr>
          <p:cNvPr id="33" name="Text 31"/>
          <p:cNvSpPr/>
          <p:nvPr/>
        </p:nvSpPr>
        <p:spPr>
          <a:xfrm>
            <a:off x="11475720" y="6473952"/>
            <a:ext cx="4114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33B"/>
        </a:solidFill>
      </p:bgPr>
    </p:bg>
    <p:spTree>
      <p:nvGrpSpPr>
        <p:cNvPr id="1" name=""/>
        <p:cNvGrpSpPr/>
        <p:nvPr/>
      </p:nvGrpSpPr>
      <p:grpSpPr>
        <a:xfrm>
          <a:off x="0" y="0"/>
          <a:ext cx="0" cy="0"/>
          <a:chOff x="0" y="0"/>
          <a:chExt cx="0" cy="0"/>
        </a:xfrm>
      </p:grpSpPr>
      <p:sp>
        <p:nvSpPr>
          <p:cNvPr id="2" name="Shape 0"/>
          <p:cNvSpPr/>
          <p:nvPr/>
        </p:nvSpPr>
        <p:spPr>
          <a:xfrm>
            <a:off x="914400" y="3063240"/>
            <a:ext cx="1005840" cy="0"/>
          </a:xfrm>
          <a:prstGeom prst="line">
            <a:avLst/>
          </a:prstGeom>
          <a:noFill/>
          <a:ln w="38100">
            <a:solidFill>
              <a:srgbClr val="E8871E"/>
            </a:solidFill>
            <a:prstDash val="solid"/>
          </a:ln>
        </p:spPr>
      </p:sp>
      <p:sp>
        <p:nvSpPr>
          <p:cNvPr id="3" name="Text 1"/>
          <p:cNvSpPr/>
          <p:nvPr/>
        </p:nvSpPr>
        <p:spPr>
          <a:xfrm>
            <a:off x="914400" y="2331720"/>
            <a:ext cx="8229600" cy="365760"/>
          </a:xfrm>
          <a:prstGeom prst="rect">
            <a:avLst/>
          </a:prstGeom>
          <a:noFill/>
          <a:ln/>
        </p:spPr>
        <p:txBody>
          <a:bodyPr wrap="square" rtlCol="0" anchor="ctr"/>
          <a:lstStyle/>
          <a:p>
            <a:pPr indent="0" marL="0">
              <a:buNone/>
            </a:pPr>
            <a:r>
              <a:rPr lang="en-US" sz="1500" b="1" spc="300" kern="0" dirty="0">
                <a:solidFill>
                  <a:srgbClr val="E8871E"/>
                </a:solidFill>
                <a:latin typeface="Calibri" pitchFamily="34" charset="0"/>
                <a:ea typeface="Calibri" pitchFamily="34" charset="-122"/>
                <a:cs typeface="Calibri" pitchFamily="34" charset="-120"/>
              </a:rPr>
              <a:t>PART III</a:t>
            </a:r>
            <a:endParaRPr lang="en-US" sz="1500" dirty="0"/>
          </a:p>
        </p:txBody>
      </p:sp>
      <p:sp>
        <p:nvSpPr>
          <p:cNvPr id="4" name="Text 2"/>
          <p:cNvSpPr/>
          <p:nvPr/>
        </p:nvSpPr>
        <p:spPr>
          <a:xfrm>
            <a:off x="877824" y="3246120"/>
            <a:ext cx="8686800" cy="13716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Findings &amp; Evaluation</a:t>
            </a:r>
            <a:endParaRPr lang="en-US" sz="4400" dirty="0"/>
          </a:p>
        </p:txBody>
      </p:sp>
      <p:sp>
        <p:nvSpPr>
          <p:cNvPr id="5" name="Text 3"/>
          <p:cNvSpPr/>
          <p:nvPr/>
        </p:nvSpPr>
        <p:spPr>
          <a:xfrm>
            <a:off x="914400" y="4617720"/>
            <a:ext cx="7772400" cy="73152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What the design shows, and how it will be tested</a:t>
            </a:r>
            <a:endParaRPr lang="en-US" sz="1600" dirty="0"/>
          </a:p>
        </p:txBody>
      </p:sp>
      <p:sp>
        <p:nvSpPr>
          <p:cNvPr id="6" name="Text 4"/>
          <p:cNvSpPr/>
          <p:nvPr/>
        </p:nvSpPr>
        <p:spPr>
          <a:xfrm>
            <a:off x="8869680" y="1554480"/>
            <a:ext cx="2743200" cy="3291840"/>
          </a:xfrm>
          <a:prstGeom prst="rect">
            <a:avLst/>
          </a:prstGeom>
          <a:noFill/>
          <a:ln/>
        </p:spPr>
        <p:txBody>
          <a:bodyPr wrap="square" rtlCol="0" anchor="ctr"/>
          <a:lstStyle/>
          <a:p>
            <a:pPr algn="r" indent="0" marL="0">
              <a:buNone/>
            </a:pPr>
            <a:r>
              <a:rPr lang="en-US" sz="19000" b="1" dirty="0">
                <a:solidFill>
                  <a:srgbClr val="1A3350"/>
                </a:solidFill>
                <a:latin typeface="Cambria" pitchFamily="34" charset="0"/>
                <a:ea typeface="Cambria" pitchFamily="34" charset="-122"/>
                <a:cs typeface="Cambria" pitchFamily="34" charset="-120"/>
              </a:rPr>
              <a:t>III</a:t>
            </a:r>
            <a:endParaRPr lang="en-US" sz="19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FINDINGS</a:t>
            </a:r>
            <a:endParaRPr lang="en-US" sz="1200" dirty="0"/>
          </a:p>
        </p:txBody>
      </p:sp>
      <p:sp>
        <p:nvSpPr>
          <p:cNvPr id="3" name="Text 1"/>
          <p:cNvSpPr/>
          <p:nvPr/>
        </p:nvSpPr>
        <p:spPr>
          <a:xfrm>
            <a:off x="530352" y="658368"/>
            <a:ext cx="11109960" cy="731520"/>
          </a:xfrm>
          <a:prstGeom prst="rect">
            <a:avLst/>
          </a:prstGeom>
          <a:noFill/>
          <a:ln/>
        </p:spPr>
        <p:txBody>
          <a:bodyPr wrap="square" rtlCol="0" anchor="ctr"/>
          <a:lstStyle/>
          <a:p>
            <a:pPr indent="0" marL="0">
              <a:buNone/>
            </a:pPr>
            <a:r>
              <a:rPr lang="en-US" sz="2900" b="1" dirty="0">
                <a:solidFill>
                  <a:srgbClr val="12233B"/>
                </a:solidFill>
                <a:latin typeface="Cambria" pitchFamily="34" charset="0"/>
                <a:ea typeface="Cambria" pitchFamily="34" charset="-122"/>
                <a:cs typeface="Cambria" pitchFamily="34" charset="-120"/>
              </a:rPr>
              <a:t>What the design analysis establishes</a:t>
            </a:r>
            <a:endParaRPr lang="en-US" sz="2900" dirty="0"/>
          </a:p>
        </p:txBody>
      </p:sp>
      <p:sp>
        <p:nvSpPr>
          <p:cNvPr id="4" name="Shape 2"/>
          <p:cNvSpPr/>
          <p:nvPr/>
        </p:nvSpPr>
        <p:spPr>
          <a:xfrm>
            <a:off x="548640" y="1554480"/>
            <a:ext cx="5394960" cy="1371600"/>
          </a:xfrm>
          <a:prstGeom prst="roundRect">
            <a:avLst>
              <a:gd name="adj" fmla="val 6667"/>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5" name="Shape 3"/>
          <p:cNvSpPr/>
          <p:nvPr/>
        </p:nvSpPr>
        <p:spPr>
          <a:xfrm>
            <a:off x="786384" y="2057400"/>
            <a:ext cx="365760" cy="365760"/>
          </a:xfrm>
          <a:prstGeom prst="ellipse">
            <a:avLst/>
          </a:prstGeom>
          <a:solidFill>
            <a:srgbClr val="2E8B6F"/>
          </a:solidFill>
          <a:ln/>
        </p:spPr>
      </p:sp>
      <p:sp>
        <p:nvSpPr>
          <p:cNvPr id="6" name="Text 4"/>
          <p:cNvSpPr/>
          <p:nvPr/>
        </p:nvSpPr>
        <p:spPr>
          <a:xfrm>
            <a:off x="786384" y="2057400"/>
            <a:ext cx="365760"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25880" y="1737360"/>
            <a:ext cx="4434840" cy="411480"/>
          </a:xfrm>
          <a:prstGeom prst="rect">
            <a:avLst/>
          </a:prstGeom>
          <a:noFill/>
          <a:ln/>
        </p:spPr>
        <p:txBody>
          <a:bodyPr wrap="square" rtlCol="0" anchor="ctr"/>
          <a:lstStyle/>
          <a:p>
            <a:pPr indent="0" marL="0">
              <a:buNone/>
            </a:pPr>
            <a:r>
              <a:rPr lang="en-US" sz="1500" b="1" dirty="0">
                <a:solidFill>
                  <a:srgbClr val="12233B"/>
                </a:solidFill>
                <a:latin typeface="Cambria" pitchFamily="34" charset="0"/>
                <a:ea typeface="Cambria" pitchFamily="34" charset="-122"/>
                <a:cs typeface="Cambria" pitchFamily="34" charset="-120"/>
              </a:rPr>
              <a:t>Compatible at the flange</a:t>
            </a:r>
            <a:endParaRPr lang="en-US" sz="1500" dirty="0"/>
          </a:p>
        </p:txBody>
      </p:sp>
      <p:sp>
        <p:nvSpPr>
          <p:cNvPr id="8" name="Text 6"/>
          <p:cNvSpPr/>
          <p:nvPr/>
        </p:nvSpPr>
        <p:spPr>
          <a:xfrm>
            <a:off x="1325880" y="2157984"/>
            <a:ext cx="4434840" cy="658368"/>
          </a:xfrm>
          <a:prstGeom prst="rect">
            <a:avLst/>
          </a:prstGeom>
          <a:noFill/>
          <a:ln/>
        </p:spPr>
        <p:txBody>
          <a:bodyPr wrap="square" rtlCol="0" anchor="ctr"/>
          <a:lstStyle/>
          <a:p>
            <a:pPr indent="0" marL="0">
              <a:buNone/>
            </a:pPr>
            <a:r>
              <a:rPr lang="en-US" sz="1150" dirty="0">
                <a:solidFill>
                  <a:srgbClr val="1A2733"/>
                </a:solidFill>
                <a:latin typeface="Calibri" pitchFamily="34" charset="0"/>
                <a:ea typeface="Calibri" pitchFamily="34" charset="-122"/>
                <a:cs typeface="Calibri" pitchFamily="34" charset="-120"/>
              </a:rPr>
              <a:t>The hand's RS-485 meets the UR5e Tool Communication Interface — no extra fieldbus</a:t>
            </a:r>
            <a:endParaRPr lang="en-US" sz="1150" dirty="0"/>
          </a:p>
        </p:txBody>
      </p:sp>
      <p:sp>
        <p:nvSpPr>
          <p:cNvPr id="9" name="Shape 7"/>
          <p:cNvSpPr/>
          <p:nvPr/>
        </p:nvSpPr>
        <p:spPr>
          <a:xfrm>
            <a:off x="6245352" y="1554480"/>
            <a:ext cx="5394960" cy="1371600"/>
          </a:xfrm>
          <a:prstGeom prst="roundRect">
            <a:avLst>
              <a:gd name="adj" fmla="val 6667"/>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10" name="Shape 8"/>
          <p:cNvSpPr/>
          <p:nvPr/>
        </p:nvSpPr>
        <p:spPr>
          <a:xfrm>
            <a:off x="6483096" y="2057400"/>
            <a:ext cx="365760" cy="365760"/>
          </a:xfrm>
          <a:prstGeom prst="ellipse">
            <a:avLst/>
          </a:prstGeom>
          <a:solidFill>
            <a:srgbClr val="E8871E"/>
          </a:solidFill>
          <a:ln/>
        </p:spPr>
      </p:sp>
      <p:sp>
        <p:nvSpPr>
          <p:cNvPr id="11" name="Text 9"/>
          <p:cNvSpPr/>
          <p:nvPr/>
        </p:nvSpPr>
        <p:spPr>
          <a:xfrm>
            <a:off x="6483096" y="2057400"/>
            <a:ext cx="365760"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7022592" y="1737360"/>
            <a:ext cx="4434840" cy="411480"/>
          </a:xfrm>
          <a:prstGeom prst="rect">
            <a:avLst/>
          </a:prstGeom>
          <a:noFill/>
          <a:ln/>
        </p:spPr>
        <p:txBody>
          <a:bodyPr wrap="square" rtlCol="0" anchor="ctr"/>
          <a:lstStyle/>
          <a:p>
            <a:pPr indent="0" marL="0">
              <a:buNone/>
            </a:pPr>
            <a:r>
              <a:rPr lang="en-US" sz="1500" b="1" dirty="0">
                <a:solidFill>
                  <a:srgbClr val="12233B"/>
                </a:solidFill>
                <a:latin typeface="Cambria" pitchFamily="34" charset="0"/>
                <a:ea typeface="Cambria" pitchFamily="34" charset="-122"/>
                <a:cs typeface="Cambria" pitchFamily="34" charset="-120"/>
              </a:rPr>
              <a:t>Electrical is the one hard limit</a:t>
            </a:r>
            <a:endParaRPr lang="en-US" sz="1500" dirty="0"/>
          </a:p>
        </p:txBody>
      </p:sp>
      <p:sp>
        <p:nvSpPr>
          <p:cNvPr id="13" name="Text 11"/>
          <p:cNvSpPr/>
          <p:nvPr/>
        </p:nvSpPr>
        <p:spPr>
          <a:xfrm>
            <a:off x="7022592" y="2157984"/>
            <a:ext cx="4434840" cy="658368"/>
          </a:xfrm>
          <a:prstGeom prst="rect">
            <a:avLst/>
          </a:prstGeom>
          <a:noFill/>
          <a:ln/>
        </p:spPr>
        <p:txBody>
          <a:bodyPr wrap="square" rtlCol="0" anchor="ctr"/>
          <a:lstStyle/>
          <a:p>
            <a:pPr indent="0" marL="0">
              <a:buNone/>
            </a:pPr>
            <a:r>
              <a:rPr lang="en-US" sz="1150" dirty="0">
                <a:solidFill>
                  <a:srgbClr val="1A2733"/>
                </a:solidFill>
                <a:latin typeface="Calibri" pitchFamily="34" charset="0"/>
                <a:ea typeface="Calibri" pitchFamily="34" charset="-122"/>
                <a:cs typeface="Calibri" pitchFamily="34" charset="-120"/>
              </a:rPr>
              <a:t>5 A peak vs 1.5 A supply: only ~30% of peak power at the flange</a:t>
            </a:r>
            <a:endParaRPr lang="en-US" sz="1150" dirty="0"/>
          </a:p>
        </p:txBody>
      </p:sp>
      <p:sp>
        <p:nvSpPr>
          <p:cNvPr id="14" name="Shape 12"/>
          <p:cNvSpPr/>
          <p:nvPr/>
        </p:nvSpPr>
        <p:spPr>
          <a:xfrm>
            <a:off x="548640" y="3182112"/>
            <a:ext cx="5394960" cy="1371600"/>
          </a:xfrm>
          <a:prstGeom prst="roundRect">
            <a:avLst>
              <a:gd name="adj" fmla="val 6667"/>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15" name="Shape 13"/>
          <p:cNvSpPr/>
          <p:nvPr/>
        </p:nvSpPr>
        <p:spPr>
          <a:xfrm>
            <a:off x="786384" y="3685032"/>
            <a:ext cx="365760" cy="365760"/>
          </a:xfrm>
          <a:prstGeom prst="ellipse">
            <a:avLst/>
          </a:prstGeom>
          <a:solidFill>
            <a:srgbClr val="3E7CB1"/>
          </a:solidFill>
          <a:ln/>
        </p:spPr>
      </p:sp>
      <p:sp>
        <p:nvSpPr>
          <p:cNvPr id="16" name="Text 14"/>
          <p:cNvSpPr/>
          <p:nvPr/>
        </p:nvSpPr>
        <p:spPr>
          <a:xfrm>
            <a:off x="786384" y="3685032"/>
            <a:ext cx="365760"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25880" y="3364992"/>
            <a:ext cx="4434840" cy="411480"/>
          </a:xfrm>
          <a:prstGeom prst="rect">
            <a:avLst/>
          </a:prstGeom>
          <a:noFill/>
          <a:ln/>
        </p:spPr>
        <p:txBody>
          <a:bodyPr wrap="square" rtlCol="0" anchor="ctr"/>
          <a:lstStyle/>
          <a:p>
            <a:pPr indent="0" marL="0">
              <a:buNone/>
            </a:pPr>
            <a:r>
              <a:rPr lang="en-US" sz="1500" b="1" dirty="0">
                <a:solidFill>
                  <a:srgbClr val="12233B"/>
                </a:solidFill>
                <a:latin typeface="Cambria" pitchFamily="34" charset="0"/>
                <a:ea typeface="Cambria" pitchFamily="34" charset="-122"/>
                <a:cs typeface="Cambria" pitchFamily="34" charset="-120"/>
              </a:rPr>
              <a:t>Two clean power resolutions</a:t>
            </a:r>
            <a:endParaRPr lang="en-US" sz="1500" dirty="0"/>
          </a:p>
        </p:txBody>
      </p:sp>
      <p:sp>
        <p:nvSpPr>
          <p:cNvPr id="18" name="Text 16"/>
          <p:cNvSpPr/>
          <p:nvPr/>
        </p:nvSpPr>
        <p:spPr>
          <a:xfrm>
            <a:off x="1325880" y="3785616"/>
            <a:ext cx="4434840" cy="658368"/>
          </a:xfrm>
          <a:prstGeom prst="rect">
            <a:avLst/>
          </a:prstGeom>
          <a:noFill/>
          <a:ln/>
        </p:spPr>
        <p:txBody>
          <a:bodyPr wrap="square" rtlCol="0" anchor="ctr"/>
          <a:lstStyle/>
          <a:p>
            <a:pPr indent="0" marL="0">
              <a:buNone/>
            </a:pPr>
            <a:r>
              <a:rPr lang="en-US" sz="1150" dirty="0">
                <a:solidFill>
                  <a:srgbClr val="1A2733"/>
                </a:solidFill>
                <a:latin typeface="Calibri" pitchFamily="34" charset="0"/>
                <a:ea typeface="Calibri" pitchFamily="34" charset="-122"/>
                <a:cs typeface="Calibri" pitchFamily="34" charset="-120"/>
              </a:rPr>
              <a:t>External supply (default) or register current limiting</a:t>
            </a:r>
            <a:endParaRPr lang="en-US" sz="1150" dirty="0"/>
          </a:p>
        </p:txBody>
      </p:sp>
      <p:sp>
        <p:nvSpPr>
          <p:cNvPr id="19" name="Shape 17"/>
          <p:cNvSpPr/>
          <p:nvPr/>
        </p:nvSpPr>
        <p:spPr>
          <a:xfrm>
            <a:off x="6245352" y="3182112"/>
            <a:ext cx="5394960" cy="1371600"/>
          </a:xfrm>
          <a:prstGeom prst="roundRect">
            <a:avLst>
              <a:gd name="adj" fmla="val 6667"/>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20" name="Shape 18"/>
          <p:cNvSpPr/>
          <p:nvPr/>
        </p:nvSpPr>
        <p:spPr>
          <a:xfrm>
            <a:off x="6483096" y="3685032"/>
            <a:ext cx="365760" cy="365760"/>
          </a:xfrm>
          <a:prstGeom prst="ellipse">
            <a:avLst/>
          </a:prstGeom>
          <a:solidFill>
            <a:srgbClr val="1B3A5B"/>
          </a:solidFill>
          <a:ln/>
        </p:spPr>
      </p:sp>
      <p:sp>
        <p:nvSpPr>
          <p:cNvPr id="21" name="Text 19"/>
          <p:cNvSpPr/>
          <p:nvPr/>
        </p:nvSpPr>
        <p:spPr>
          <a:xfrm>
            <a:off x="6483096" y="3685032"/>
            <a:ext cx="365760"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022592" y="3364992"/>
            <a:ext cx="4434840" cy="411480"/>
          </a:xfrm>
          <a:prstGeom prst="rect">
            <a:avLst/>
          </a:prstGeom>
          <a:noFill/>
          <a:ln/>
        </p:spPr>
        <p:txBody>
          <a:bodyPr wrap="square" rtlCol="0" anchor="ctr"/>
          <a:lstStyle/>
          <a:p>
            <a:pPr indent="0" marL="0">
              <a:buNone/>
            </a:pPr>
            <a:r>
              <a:rPr lang="en-US" sz="1500" b="1" dirty="0">
                <a:solidFill>
                  <a:srgbClr val="12233B"/>
                </a:solidFill>
                <a:latin typeface="Cambria" pitchFamily="34" charset="0"/>
                <a:ea typeface="Cambria" pitchFamily="34" charset="-122"/>
                <a:cs typeface="Cambria" pitchFamily="34" charset="-120"/>
              </a:rPr>
              <a:t>Variant uniquely determined</a:t>
            </a:r>
            <a:endParaRPr lang="en-US" sz="1500" dirty="0"/>
          </a:p>
        </p:txBody>
      </p:sp>
      <p:sp>
        <p:nvSpPr>
          <p:cNvPr id="23" name="Text 21"/>
          <p:cNvSpPr/>
          <p:nvPr/>
        </p:nvSpPr>
        <p:spPr>
          <a:xfrm>
            <a:off x="7022592" y="3785616"/>
            <a:ext cx="4434840" cy="658368"/>
          </a:xfrm>
          <a:prstGeom prst="rect">
            <a:avLst/>
          </a:prstGeom>
          <a:noFill/>
          <a:ln/>
        </p:spPr>
        <p:txBody>
          <a:bodyPr wrap="square" rtlCol="0" anchor="ctr"/>
          <a:lstStyle/>
          <a:p>
            <a:pPr indent="0" marL="0">
              <a:buNone/>
            </a:pPr>
            <a:r>
              <a:rPr lang="en-US" sz="1150" dirty="0">
                <a:solidFill>
                  <a:srgbClr val="1A2733"/>
                </a:solidFill>
                <a:latin typeface="Calibri" pitchFamily="34" charset="0"/>
                <a:ea typeface="Calibri" pitchFamily="34" charset="-122"/>
                <a:cs typeface="Calibri" pitchFamily="34" charset="-120"/>
              </a:rPr>
              <a:t>RS-485 + tactile + right hand → the E2R-T1 build</a:t>
            </a:r>
            <a:endParaRPr lang="en-US" sz="1150" dirty="0"/>
          </a:p>
        </p:txBody>
      </p:sp>
      <p:sp>
        <p:nvSpPr>
          <p:cNvPr id="24" name="Shape 22"/>
          <p:cNvSpPr/>
          <p:nvPr/>
        </p:nvSpPr>
        <p:spPr>
          <a:xfrm>
            <a:off x="548640" y="4809744"/>
            <a:ext cx="5394960" cy="1371600"/>
          </a:xfrm>
          <a:prstGeom prst="roundRect">
            <a:avLst>
              <a:gd name="adj" fmla="val 6667"/>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25" name="Shape 23"/>
          <p:cNvSpPr/>
          <p:nvPr/>
        </p:nvSpPr>
        <p:spPr>
          <a:xfrm>
            <a:off x="786384" y="5312664"/>
            <a:ext cx="365760" cy="365760"/>
          </a:xfrm>
          <a:prstGeom prst="ellipse">
            <a:avLst/>
          </a:prstGeom>
          <a:solidFill>
            <a:srgbClr val="3E7CB1"/>
          </a:solidFill>
          <a:ln/>
        </p:spPr>
      </p:sp>
      <p:sp>
        <p:nvSpPr>
          <p:cNvPr id="26" name="Text 24"/>
          <p:cNvSpPr/>
          <p:nvPr/>
        </p:nvSpPr>
        <p:spPr>
          <a:xfrm>
            <a:off x="786384" y="5312664"/>
            <a:ext cx="365760"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25880" y="4992624"/>
            <a:ext cx="4434840" cy="411480"/>
          </a:xfrm>
          <a:prstGeom prst="rect">
            <a:avLst/>
          </a:prstGeom>
          <a:noFill/>
          <a:ln/>
        </p:spPr>
        <p:txBody>
          <a:bodyPr wrap="square" rtlCol="0" anchor="ctr"/>
          <a:lstStyle/>
          <a:p>
            <a:pPr indent="0" marL="0">
              <a:buNone/>
            </a:pPr>
            <a:r>
              <a:rPr lang="en-US" sz="1500" b="1" dirty="0">
                <a:solidFill>
                  <a:srgbClr val="12233B"/>
                </a:solidFill>
                <a:latin typeface="Cambria" pitchFamily="34" charset="0"/>
                <a:ea typeface="Cambria" pitchFamily="34" charset="-122"/>
                <a:cs typeface="Cambria" pitchFamily="34" charset="-120"/>
              </a:rPr>
              <a:t>Software is a thin driver</a:t>
            </a:r>
            <a:endParaRPr lang="en-US" sz="1500" dirty="0"/>
          </a:p>
        </p:txBody>
      </p:sp>
      <p:sp>
        <p:nvSpPr>
          <p:cNvPr id="28" name="Text 26"/>
          <p:cNvSpPr/>
          <p:nvPr/>
        </p:nvSpPr>
        <p:spPr>
          <a:xfrm>
            <a:off x="1325880" y="5413248"/>
            <a:ext cx="4434840" cy="658368"/>
          </a:xfrm>
          <a:prstGeom prst="rect">
            <a:avLst/>
          </a:prstGeom>
          <a:noFill/>
          <a:ln/>
        </p:spPr>
        <p:txBody>
          <a:bodyPr wrap="square" rtlCol="0" anchor="ctr"/>
          <a:lstStyle/>
          <a:p>
            <a:pPr indent="0" marL="0">
              <a:buNone/>
            </a:pPr>
            <a:r>
              <a:rPr lang="en-US" sz="1150" dirty="0">
                <a:solidFill>
                  <a:srgbClr val="1A2733"/>
                </a:solidFill>
                <a:latin typeface="Calibri" pitchFamily="34" charset="0"/>
                <a:ea typeface="Calibri" pitchFamily="34" charset="-122"/>
                <a:cs typeface="Calibri" pitchFamily="34" charset="-120"/>
              </a:rPr>
              <a:t>Register access over the vendor relay; bandwidth is not the bottleneck</a:t>
            </a:r>
            <a:endParaRPr lang="en-US" sz="1150" dirty="0"/>
          </a:p>
        </p:txBody>
      </p:sp>
      <p:sp>
        <p:nvSpPr>
          <p:cNvPr id="29" name="Shape 27"/>
          <p:cNvSpPr/>
          <p:nvPr/>
        </p:nvSpPr>
        <p:spPr>
          <a:xfrm>
            <a:off x="6245352" y="4809744"/>
            <a:ext cx="5394960" cy="1371600"/>
          </a:xfrm>
          <a:prstGeom prst="roundRect">
            <a:avLst>
              <a:gd name="adj" fmla="val 6667"/>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30" name="Shape 28"/>
          <p:cNvSpPr/>
          <p:nvPr/>
        </p:nvSpPr>
        <p:spPr>
          <a:xfrm>
            <a:off x="6483096" y="5312664"/>
            <a:ext cx="365760" cy="365760"/>
          </a:xfrm>
          <a:prstGeom prst="ellipse">
            <a:avLst/>
          </a:prstGeom>
          <a:solidFill>
            <a:srgbClr val="E8871E"/>
          </a:solidFill>
          <a:ln/>
        </p:spPr>
      </p:sp>
      <p:sp>
        <p:nvSpPr>
          <p:cNvPr id="31" name="Text 29"/>
          <p:cNvSpPr/>
          <p:nvPr/>
        </p:nvSpPr>
        <p:spPr>
          <a:xfrm>
            <a:off x="6483096" y="5312664"/>
            <a:ext cx="365760"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7022592" y="4992624"/>
            <a:ext cx="4434840" cy="411480"/>
          </a:xfrm>
          <a:prstGeom prst="rect">
            <a:avLst/>
          </a:prstGeom>
          <a:noFill/>
          <a:ln/>
        </p:spPr>
        <p:txBody>
          <a:bodyPr wrap="square" rtlCol="0" anchor="ctr"/>
          <a:lstStyle/>
          <a:p>
            <a:pPr indent="0" marL="0">
              <a:buNone/>
            </a:pPr>
            <a:r>
              <a:rPr lang="en-US" sz="1500" b="1" dirty="0">
                <a:solidFill>
                  <a:srgbClr val="12233B"/>
                </a:solidFill>
                <a:latin typeface="Cambria" pitchFamily="34" charset="0"/>
                <a:ea typeface="Cambria" pitchFamily="34" charset="-122"/>
                <a:cs typeface="Cambria" pitchFamily="34" charset="-120"/>
              </a:rPr>
              <a:t>Five use-case families</a:t>
            </a:r>
            <a:endParaRPr lang="en-US" sz="1500" dirty="0"/>
          </a:p>
        </p:txBody>
      </p:sp>
      <p:sp>
        <p:nvSpPr>
          <p:cNvPr id="33" name="Text 31"/>
          <p:cNvSpPr/>
          <p:nvPr/>
        </p:nvSpPr>
        <p:spPr>
          <a:xfrm>
            <a:off x="7022592" y="5413248"/>
            <a:ext cx="4434840" cy="658368"/>
          </a:xfrm>
          <a:prstGeom prst="rect">
            <a:avLst/>
          </a:prstGeom>
          <a:noFill/>
          <a:ln/>
        </p:spPr>
        <p:txBody>
          <a:bodyPr wrap="square" rtlCol="0" anchor="ctr"/>
          <a:lstStyle/>
          <a:p>
            <a:pPr indent="0" marL="0">
              <a:buNone/>
            </a:pPr>
            <a:r>
              <a:rPr lang="en-US" sz="1150" dirty="0">
                <a:solidFill>
                  <a:srgbClr val="1A2733"/>
                </a:solidFill>
                <a:latin typeface="Calibri" pitchFamily="34" charset="0"/>
                <a:ea typeface="Calibri" pitchFamily="34" charset="-122"/>
                <a:cs typeface="Calibri" pitchFamily="34" charset="-120"/>
              </a:rPr>
              <a:t>Enabled by verified capability, distinguished by tactile sensing</a:t>
            </a:r>
            <a:endParaRPr lang="en-US" sz="1150" dirty="0"/>
          </a:p>
        </p:txBody>
      </p:sp>
      <p:sp>
        <p:nvSpPr>
          <p:cNvPr id="34" name="Text 32"/>
          <p:cNvSpPr/>
          <p:nvPr/>
        </p:nvSpPr>
        <p:spPr>
          <a:xfrm>
            <a:off x="457200" y="6473952"/>
            <a:ext cx="8961120" cy="274320"/>
          </a:xfrm>
          <a:prstGeom prst="rect">
            <a:avLst/>
          </a:prstGeom>
          <a:noFill/>
          <a:ln/>
        </p:spPr>
        <p:txBody>
          <a:bodyPr wrap="square" rtlCol="0" anchor="ctr"/>
          <a:lstStyle/>
          <a:p>
            <a:pPr indent="0" marL="0">
              <a:buNone/>
            </a:pPr>
            <a:r>
              <a:rPr lang="en-US" sz="900" dirty="0">
                <a:solidFill>
                  <a:srgbClr val="5A6B7A"/>
                </a:solidFill>
                <a:latin typeface="Calibri" pitchFamily="34" charset="0"/>
                <a:ea typeface="Calibri" pitchFamily="34" charset="-122"/>
                <a:cs typeface="Calibri" pitchFamily="34" charset="-120"/>
              </a:rPr>
              <a:t>RH56F1-E2R-T1  ×  UR5e  —  Integration Design &amp; Evaluation Plan</a:t>
            </a:r>
            <a:endParaRPr lang="en-US" sz="900" dirty="0"/>
          </a:p>
        </p:txBody>
      </p:sp>
      <p:sp>
        <p:nvSpPr>
          <p:cNvPr id="35" name="Text 33"/>
          <p:cNvSpPr/>
          <p:nvPr/>
        </p:nvSpPr>
        <p:spPr>
          <a:xfrm>
            <a:off x="11475720" y="6473952"/>
            <a:ext cx="4114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EVALUATION</a:t>
            </a:r>
            <a:endParaRPr lang="en-US" sz="1200" dirty="0"/>
          </a:p>
        </p:txBody>
      </p:sp>
      <p:sp>
        <p:nvSpPr>
          <p:cNvPr id="3" name="Text 1"/>
          <p:cNvSpPr/>
          <p:nvPr/>
        </p:nvSpPr>
        <p:spPr>
          <a:xfrm>
            <a:off x="530352" y="658368"/>
            <a:ext cx="11109960" cy="731520"/>
          </a:xfrm>
          <a:prstGeom prst="rect">
            <a:avLst/>
          </a:prstGeom>
          <a:noFill/>
          <a:ln/>
        </p:spPr>
        <p:txBody>
          <a:bodyPr wrap="square" rtlCol="0" anchor="ctr"/>
          <a:lstStyle/>
          <a:p>
            <a:pPr indent="0" marL="0">
              <a:buNone/>
            </a:pPr>
            <a:r>
              <a:rPr lang="en-US" sz="2900" b="1" dirty="0">
                <a:solidFill>
                  <a:srgbClr val="12233B"/>
                </a:solidFill>
                <a:latin typeface="Cambria" pitchFamily="34" charset="0"/>
                <a:ea typeface="Cambria" pitchFamily="34" charset="-122"/>
                <a:cs typeface="Cambria" pitchFamily="34" charset="-120"/>
              </a:rPr>
              <a:t>A pre-registered three-stage plan (pending)</a:t>
            </a:r>
            <a:endParaRPr lang="en-US" sz="2900" dirty="0"/>
          </a:p>
        </p:txBody>
      </p:sp>
      <p:sp>
        <p:nvSpPr>
          <p:cNvPr id="4" name="Shape 2"/>
          <p:cNvSpPr/>
          <p:nvPr/>
        </p:nvSpPr>
        <p:spPr>
          <a:xfrm>
            <a:off x="548640" y="1691640"/>
            <a:ext cx="3520440" cy="3291840"/>
          </a:xfrm>
          <a:prstGeom prst="roundRect">
            <a:avLst>
              <a:gd name="adj" fmla="val 3333"/>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5" name="Shape 3"/>
          <p:cNvSpPr/>
          <p:nvPr/>
        </p:nvSpPr>
        <p:spPr>
          <a:xfrm>
            <a:off x="548640" y="1691640"/>
            <a:ext cx="3520440" cy="640080"/>
          </a:xfrm>
          <a:prstGeom prst="roundRect">
            <a:avLst>
              <a:gd name="adj" fmla="val 17143"/>
            </a:avLst>
          </a:prstGeom>
          <a:solidFill>
            <a:srgbClr val="3E7CB1"/>
          </a:solidFill>
          <a:ln/>
        </p:spPr>
      </p:sp>
      <p:sp>
        <p:nvSpPr>
          <p:cNvPr id="6" name="Shape 4"/>
          <p:cNvSpPr/>
          <p:nvPr/>
        </p:nvSpPr>
        <p:spPr>
          <a:xfrm>
            <a:off x="548640" y="2011680"/>
            <a:ext cx="3520440" cy="320040"/>
          </a:xfrm>
          <a:prstGeom prst="rect">
            <a:avLst/>
          </a:prstGeom>
          <a:solidFill>
            <a:srgbClr val="3E7CB1"/>
          </a:solidFill>
          <a:ln/>
        </p:spPr>
      </p:sp>
      <p:sp>
        <p:nvSpPr>
          <p:cNvPr id="7" name="Text 5"/>
          <p:cNvSpPr/>
          <p:nvPr/>
        </p:nvSpPr>
        <p:spPr>
          <a:xfrm>
            <a:off x="777240" y="1709928"/>
            <a:ext cx="3063240" cy="603504"/>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Stage 1</a:t>
            </a:r>
            <a:endParaRPr lang="en-US" sz="1700" dirty="0"/>
          </a:p>
        </p:txBody>
      </p:sp>
      <p:sp>
        <p:nvSpPr>
          <p:cNvPr id="8" name="Text 6"/>
          <p:cNvSpPr/>
          <p:nvPr/>
        </p:nvSpPr>
        <p:spPr>
          <a:xfrm>
            <a:off x="777240" y="2468880"/>
            <a:ext cx="3063240" cy="457200"/>
          </a:xfrm>
          <a:prstGeom prst="rect">
            <a:avLst/>
          </a:prstGeom>
          <a:noFill/>
          <a:ln/>
        </p:spPr>
        <p:txBody>
          <a:bodyPr wrap="square" rtlCol="0" anchor="ctr"/>
          <a:lstStyle/>
          <a:p>
            <a:pPr indent="0" marL="0">
              <a:buNone/>
            </a:pPr>
            <a:r>
              <a:rPr lang="en-US" sz="1500" b="1" dirty="0">
                <a:solidFill>
                  <a:srgbClr val="12233B"/>
                </a:solidFill>
                <a:latin typeface="Cambria" pitchFamily="34" charset="0"/>
                <a:ea typeface="Cambria" pitchFamily="34" charset="-122"/>
                <a:cs typeface="Cambria" pitchFamily="34" charset="-120"/>
              </a:rPr>
              <a:t>Interface verification</a:t>
            </a:r>
            <a:endParaRPr lang="en-US" sz="1500" dirty="0"/>
          </a:p>
        </p:txBody>
      </p:sp>
      <p:sp>
        <p:nvSpPr>
          <p:cNvPr id="9" name="Text 7"/>
          <p:cNvSpPr/>
          <p:nvPr/>
        </p:nvSpPr>
        <p:spPr>
          <a:xfrm>
            <a:off x="777240" y="2971800"/>
            <a:ext cx="3063240" cy="1097280"/>
          </a:xfrm>
          <a:prstGeom prst="rect">
            <a:avLst/>
          </a:prstGeom>
          <a:noFill/>
          <a:ln/>
        </p:spPr>
        <p:txBody>
          <a:bodyPr wrap="square" rtlCol="0" anchor="ctr"/>
          <a:lstStyle/>
          <a:p>
            <a:pPr indent="0" marL="0">
              <a:buNone/>
            </a:pPr>
            <a:r>
              <a:rPr lang="en-US" sz="1250" dirty="0">
                <a:solidFill>
                  <a:srgbClr val="1A2733"/>
                </a:solidFill>
                <a:latin typeface="Calibri" pitchFamily="34" charset="0"/>
                <a:ea typeface="Calibri" pitchFamily="34" charset="-122"/>
                <a:cs typeface="Calibri" pitchFamily="34" charset="-120"/>
              </a:rPr>
              <a:t>Current draw during motion; command latency &amp; polling rate, TCI vs USB</a:t>
            </a:r>
            <a:endParaRPr lang="en-US" sz="1250" dirty="0"/>
          </a:p>
        </p:txBody>
      </p:sp>
      <p:sp>
        <p:nvSpPr>
          <p:cNvPr id="10" name="Text 8"/>
          <p:cNvSpPr/>
          <p:nvPr/>
        </p:nvSpPr>
        <p:spPr>
          <a:xfrm>
            <a:off x="777240" y="4023360"/>
            <a:ext cx="3063240" cy="274320"/>
          </a:xfrm>
          <a:prstGeom prst="rect">
            <a:avLst/>
          </a:prstGeom>
          <a:noFill/>
          <a:ln/>
        </p:spPr>
        <p:txBody>
          <a:bodyPr wrap="square" rtlCol="0" anchor="ctr"/>
          <a:lstStyle/>
          <a:p>
            <a:pPr indent="0" marL="0">
              <a:buNone/>
            </a:pPr>
            <a:r>
              <a:rPr lang="en-US" sz="1000" b="1" spc="150" kern="0" dirty="0">
                <a:solidFill>
                  <a:srgbClr val="3E7CB1"/>
                </a:solidFill>
                <a:latin typeface="Calibri" pitchFamily="34" charset="0"/>
                <a:ea typeface="Calibri" pitchFamily="34" charset="-122"/>
                <a:cs typeface="Calibri" pitchFamily="34" charset="-120"/>
              </a:rPr>
              <a:t>METRICS</a:t>
            </a:r>
            <a:endParaRPr lang="en-US" sz="1000" dirty="0"/>
          </a:p>
        </p:txBody>
      </p:sp>
      <p:sp>
        <p:nvSpPr>
          <p:cNvPr id="11" name="Text 9"/>
          <p:cNvSpPr/>
          <p:nvPr/>
        </p:nvSpPr>
        <p:spPr>
          <a:xfrm>
            <a:off x="777240" y="4270248"/>
            <a:ext cx="3063240" cy="594360"/>
          </a:xfrm>
          <a:prstGeom prst="rect">
            <a:avLst/>
          </a:prstGeom>
          <a:noFill/>
          <a:ln/>
        </p:spPr>
        <p:txBody>
          <a:bodyPr wrap="square" rtlCol="0" anchor="ctr"/>
          <a:lstStyle/>
          <a:p>
            <a:pPr indent="0" marL="0">
              <a:buNone/>
            </a:pPr>
            <a:r>
              <a:rPr lang="en-US" sz="1200" i="1" dirty="0">
                <a:solidFill>
                  <a:srgbClr val="5A6B7A"/>
                </a:solidFill>
                <a:latin typeface="Calibri" pitchFamily="34" charset="0"/>
                <a:ea typeface="Calibri" pitchFamily="34" charset="-122"/>
                <a:cs typeface="Calibri" pitchFamily="34" charset="-120"/>
              </a:rPr>
              <a:t>Mean/worst current · 95th-pct round-trip</a:t>
            </a:r>
            <a:endParaRPr lang="en-US" sz="1200" dirty="0"/>
          </a:p>
        </p:txBody>
      </p:sp>
      <p:sp>
        <p:nvSpPr>
          <p:cNvPr id="12" name="Text 10"/>
          <p:cNvSpPr/>
          <p:nvPr/>
        </p:nvSpPr>
        <p:spPr>
          <a:xfrm>
            <a:off x="4050792" y="2971800"/>
            <a:ext cx="292608" cy="457200"/>
          </a:xfrm>
          <a:prstGeom prst="rect">
            <a:avLst/>
          </a:prstGeom>
          <a:noFill/>
          <a:ln/>
        </p:spPr>
        <p:txBody>
          <a:bodyPr wrap="square" rtlCol="0" anchor="ctr"/>
          <a:lstStyle/>
          <a:p>
            <a:pPr algn="ctr" indent="0" marL="0">
              <a:buNone/>
            </a:pPr>
            <a:r>
              <a:rPr lang="en-US" sz="2200" b="1" dirty="0">
                <a:solidFill>
                  <a:srgbClr val="5A6B7A"/>
                </a:solidFill>
                <a:latin typeface="Cambria" pitchFamily="34" charset="0"/>
                <a:ea typeface="Cambria" pitchFamily="34" charset="-122"/>
                <a:cs typeface="Cambria" pitchFamily="34" charset="-120"/>
              </a:rPr>
              <a:t>→</a:t>
            </a:r>
            <a:endParaRPr lang="en-US" sz="2200" dirty="0"/>
          </a:p>
        </p:txBody>
      </p:sp>
      <p:sp>
        <p:nvSpPr>
          <p:cNvPr id="13" name="Shape 11"/>
          <p:cNvSpPr/>
          <p:nvPr/>
        </p:nvSpPr>
        <p:spPr>
          <a:xfrm>
            <a:off x="4325112" y="1691640"/>
            <a:ext cx="3520440" cy="3291840"/>
          </a:xfrm>
          <a:prstGeom prst="roundRect">
            <a:avLst>
              <a:gd name="adj" fmla="val 3333"/>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14" name="Shape 12"/>
          <p:cNvSpPr/>
          <p:nvPr/>
        </p:nvSpPr>
        <p:spPr>
          <a:xfrm>
            <a:off x="4325112" y="1691640"/>
            <a:ext cx="3520440" cy="640080"/>
          </a:xfrm>
          <a:prstGeom prst="roundRect">
            <a:avLst>
              <a:gd name="adj" fmla="val 17143"/>
            </a:avLst>
          </a:prstGeom>
          <a:solidFill>
            <a:srgbClr val="E8871E"/>
          </a:solidFill>
          <a:ln/>
        </p:spPr>
      </p:sp>
      <p:sp>
        <p:nvSpPr>
          <p:cNvPr id="15" name="Shape 13"/>
          <p:cNvSpPr/>
          <p:nvPr/>
        </p:nvSpPr>
        <p:spPr>
          <a:xfrm>
            <a:off x="4325112" y="2011680"/>
            <a:ext cx="3520440" cy="320040"/>
          </a:xfrm>
          <a:prstGeom prst="rect">
            <a:avLst/>
          </a:prstGeom>
          <a:solidFill>
            <a:srgbClr val="E8871E"/>
          </a:solidFill>
          <a:ln/>
        </p:spPr>
      </p:sp>
      <p:sp>
        <p:nvSpPr>
          <p:cNvPr id="16" name="Text 14"/>
          <p:cNvSpPr/>
          <p:nvPr/>
        </p:nvSpPr>
        <p:spPr>
          <a:xfrm>
            <a:off x="4553712" y="1709928"/>
            <a:ext cx="3063240" cy="603504"/>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Stage 2</a:t>
            </a:r>
            <a:endParaRPr lang="en-US" sz="1700" dirty="0"/>
          </a:p>
        </p:txBody>
      </p:sp>
      <p:sp>
        <p:nvSpPr>
          <p:cNvPr id="17" name="Text 15"/>
          <p:cNvSpPr/>
          <p:nvPr/>
        </p:nvSpPr>
        <p:spPr>
          <a:xfrm>
            <a:off x="4553712" y="2468880"/>
            <a:ext cx="3063240" cy="457200"/>
          </a:xfrm>
          <a:prstGeom prst="rect">
            <a:avLst/>
          </a:prstGeom>
          <a:noFill/>
          <a:ln/>
        </p:spPr>
        <p:txBody>
          <a:bodyPr wrap="square" rtlCol="0" anchor="ctr"/>
          <a:lstStyle/>
          <a:p>
            <a:pPr indent="0" marL="0">
              <a:buNone/>
            </a:pPr>
            <a:r>
              <a:rPr lang="en-US" sz="1500" b="1" dirty="0">
                <a:solidFill>
                  <a:srgbClr val="12233B"/>
                </a:solidFill>
                <a:latin typeface="Cambria" pitchFamily="34" charset="0"/>
                <a:ea typeface="Cambria" pitchFamily="34" charset="-122"/>
                <a:cs typeface="Cambria" pitchFamily="34" charset="-120"/>
              </a:rPr>
              <a:t>Grasp benchmark</a:t>
            </a:r>
            <a:endParaRPr lang="en-US" sz="1500" dirty="0"/>
          </a:p>
        </p:txBody>
      </p:sp>
      <p:sp>
        <p:nvSpPr>
          <p:cNvPr id="18" name="Text 16"/>
          <p:cNvSpPr/>
          <p:nvPr/>
        </p:nvSpPr>
        <p:spPr>
          <a:xfrm>
            <a:off x="4553712" y="2971800"/>
            <a:ext cx="3063240" cy="1097280"/>
          </a:xfrm>
          <a:prstGeom prst="rect">
            <a:avLst/>
          </a:prstGeom>
          <a:noFill/>
          <a:ln/>
        </p:spPr>
        <p:txBody>
          <a:bodyPr wrap="square" rtlCol="0" anchor="ctr"/>
          <a:lstStyle/>
          <a:p>
            <a:pPr indent="0" marL="0">
              <a:buNone/>
            </a:pPr>
            <a:r>
              <a:rPr lang="en-US" sz="1250" dirty="0">
                <a:solidFill>
                  <a:srgbClr val="1A2733"/>
                </a:solidFill>
                <a:latin typeface="Calibri" pitchFamily="34" charset="0"/>
                <a:ea typeface="Calibri" pitchFamily="34" charset="-122"/>
                <a:cs typeface="Calibri" pitchFamily="34" charset="-120"/>
              </a:rPr>
              <a:t>Fixed grasp types over ten objects at a taught pregrasp pose</a:t>
            </a:r>
            <a:endParaRPr lang="en-US" sz="1250" dirty="0"/>
          </a:p>
        </p:txBody>
      </p:sp>
      <p:sp>
        <p:nvSpPr>
          <p:cNvPr id="19" name="Text 17"/>
          <p:cNvSpPr/>
          <p:nvPr/>
        </p:nvSpPr>
        <p:spPr>
          <a:xfrm>
            <a:off x="4553712" y="4023360"/>
            <a:ext cx="3063240" cy="274320"/>
          </a:xfrm>
          <a:prstGeom prst="rect">
            <a:avLst/>
          </a:prstGeom>
          <a:noFill/>
          <a:ln/>
        </p:spPr>
        <p:txBody>
          <a:bodyPr wrap="square" rtlCol="0" anchor="ctr"/>
          <a:lstStyle/>
          <a:p>
            <a:pPr indent="0" marL="0">
              <a:buNone/>
            </a:pPr>
            <a:r>
              <a:rPr lang="en-US" sz="1000" b="1" spc="150" kern="0" dirty="0">
                <a:solidFill>
                  <a:srgbClr val="E8871E"/>
                </a:solidFill>
                <a:latin typeface="Calibri" pitchFamily="34" charset="0"/>
                <a:ea typeface="Calibri" pitchFamily="34" charset="-122"/>
                <a:cs typeface="Calibri" pitchFamily="34" charset="-120"/>
              </a:rPr>
              <a:t>METRICS</a:t>
            </a:r>
            <a:endParaRPr lang="en-US" sz="1000" dirty="0"/>
          </a:p>
        </p:txBody>
      </p:sp>
      <p:sp>
        <p:nvSpPr>
          <p:cNvPr id="20" name="Text 18"/>
          <p:cNvSpPr/>
          <p:nvPr/>
        </p:nvSpPr>
        <p:spPr>
          <a:xfrm>
            <a:off x="4553712" y="4270248"/>
            <a:ext cx="3063240" cy="594360"/>
          </a:xfrm>
          <a:prstGeom prst="rect">
            <a:avLst/>
          </a:prstGeom>
          <a:noFill/>
          <a:ln/>
        </p:spPr>
        <p:txBody>
          <a:bodyPr wrap="square" rtlCol="0" anchor="ctr"/>
          <a:lstStyle/>
          <a:p>
            <a:pPr indent="0" marL="0">
              <a:buNone/>
            </a:pPr>
            <a:r>
              <a:rPr lang="en-US" sz="1200" i="1" dirty="0">
                <a:solidFill>
                  <a:srgbClr val="5A6B7A"/>
                </a:solidFill>
                <a:latin typeface="Calibri" pitchFamily="34" charset="0"/>
                <a:ea typeface="Calibri" pitchFamily="34" charset="-122"/>
                <a:cs typeface="Calibri" pitchFamily="34" charset="-120"/>
              </a:rPr>
              <a:t>Success rate · failure modes · offset tolerance</a:t>
            </a:r>
            <a:endParaRPr lang="en-US" sz="1200" dirty="0"/>
          </a:p>
        </p:txBody>
      </p:sp>
      <p:sp>
        <p:nvSpPr>
          <p:cNvPr id="21" name="Text 19"/>
          <p:cNvSpPr/>
          <p:nvPr/>
        </p:nvSpPr>
        <p:spPr>
          <a:xfrm>
            <a:off x="7827264" y="2971800"/>
            <a:ext cx="292608" cy="457200"/>
          </a:xfrm>
          <a:prstGeom prst="rect">
            <a:avLst/>
          </a:prstGeom>
          <a:noFill/>
          <a:ln/>
        </p:spPr>
        <p:txBody>
          <a:bodyPr wrap="square" rtlCol="0" anchor="ctr"/>
          <a:lstStyle/>
          <a:p>
            <a:pPr algn="ctr" indent="0" marL="0">
              <a:buNone/>
            </a:pPr>
            <a:r>
              <a:rPr lang="en-US" sz="2200" b="1" dirty="0">
                <a:solidFill>
                  <a:srgbClr val="5A6B7A"/>
                </a:solidFill>
                <a:latin typeface="Cambria" pitchFamily="34" charset="0"/>
                <a:ea typeface="Cambria" pitchFamily="34" charset="-122"/>
                <a:cs typeface="Cambria" pitchFamily="34" charset="-120"/>
              </a:rPr>
              <a:t>→</a:t>
            </a:r>
            <a:endParaRPr lang="en-US" sz="2200" dirty="0"/>
          </a:p>
        </p:txBody>
      </p:sp>
      <p:sp>
        <p:nvSpPr>
          <p:cNvPr id="22" name="Shape 20"/>
          <p:cNvSpPr/>
          <p:nvPr/>
        </p:nvSpPr>
        <p:spPr>
          <a:xfrm>
            <a:off x="8101584" y="1691640"/>
            <a:ext cx="3520440" cy="3291840"/>
          </a:xfrm>
          <a:prstGeom prst="roundRect">
            <a:avLst>
              <a:gd name="adj" fmla="val 3333"/>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23" name="Shape 21"/>
          <p:cNvSpPr/>
          <p:nvPr/>
        </p:nvSpPr>
        <p:spPr>
          <a:xfrm>
            <a:off x="8101584" y="1691640"/>
            <a:ext cx="3520440" cy="640080"/>
          </a:xfrm>
          <a:prstGeom prst="roundRect">
            <a:avLst>
              <a:gd name="adj" fmla="val 17143"/>
            </a:avLst>
          </a:prstGeom>
          <a:solidFill>
            <a:srgbClr val="1B3A5B"/>
          </a:solidFill>
          <a:ln/>
        </p:spPr>
      </p:sp>
      <p:sp>
        <p:nvSpPr>
          <p:cNvPr id="24" name="Shape 22"/>
          <p:cNvSpPr/>
          <p:nvPr/>
        </p:nvSpPr>
        <p:spPr>
          <a:xfrm>
            <a:off x="8101584" y="2011680"/>
            <a:ext cx="3520440" cy="320040"/>
          </a:xfrm>
          <a:prstGeom prst="rect">
            <a:avLst/>
          </a:prstGeom>
          <a:solidFill>
            <a:srgbClr val="1B3A5B"/>
          </a:solidFill>
          <a:ln/>
        </p:spPr>
      </p:sp>
      <p:sp>
        <p:nvSpPr>
          <p:cNvPr id="25" name="Text 23"/>
          <p:cNvSpPr/>
          <p:nvPr/>
        </p:nvSpPr>
        <p:spPr>
          <a:xfrm>
            <a:off x="8330184" y="1709928"/>
            <a:ext cx="3063240" cy="603504"/>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Stage 3</a:t>
            </a:r>
            <a:endParaRPr lang="en-US" sz="1700" dirty="0"/>
          </a:p>
        </p:txBody>
      </p:sp>
      <p:sp>
        <p:nvSpPr>
          <p:cNvPr id="26" name="Text 24"/>
          <p:cNvSpPr/>
          <p:nvPr/>
        </p:nvSpPr>
        <p:spPr>
          <a:xfrm>
            <a:off x="8330184" y="2468880"/>
            <a:ext cx="3063240" cy="457200"/>
          </a:xfrm>
          <a:prstGeom prst="rect">
            <a:avLst/>
          </a:prstGeom>
          <a:noFill/>
          <a:ln/>
        </p:spPr>
        <p:txBody>
          <a:bodyPr wrap="square" rtlCol="0" anchor="ctr"/>
          <a:lstStyle/>
          <a:p>
            <a:pPr indent="0" marL="0">
              <a:buNone/>
            </a:pPr>
            <a:r>
              <a:rPr lang="en-US" sz="1500" b="1" dirty="0">
                <a:solidFill>
                  <a:srgbClr val="12233B"/>
                </a:solidFill>
                <a:latin typeface="Cambria" pitchFamily="34" charset="0"/>
                <a:ea typeface="Cambria" pitchFamily="34" charset="-122"/>
                <a:cs typeface="Cambria" pitchFamily="34" charset="-120"/>
              </a:rPr>
              <a:t>Tactile demonstrator</a:t>
            </a:r>
            <a:endParaRPr lang="en-US" sz="1500" dirty="0"/>
          </a:p>
        </p:txBody>
      </p:sp>
      <p:sp>
        <p:nvSpPr>
          <p:cNvPr id="27" name="Text 25"/>
          <p:cNvSpPr/>
          <p:nvPr/>
        </p:nvSpPr>
        <p:spPr>
          <a:xfrm>
            <a:off x="8330184" y="2971800"/>
            <a:ext cx="3063240" cy="1097280"/>
          </a:xfrm>
          <a:prstGeom prst="rect">
            <a:avLst/>
          </a:prstGeom>
          <a:noFill/>
          <a:ln/>
        </p:spPr>
        <p:txBody>
          <a:bodyPr wrap="square" rtlCol="0" anchor="ctr"/>
          <a:lstStyle/>
          <a:p>
            <a:pPr indent="0" marL="0">
              <a:buNone/>
            </a:pPr>
            <a:r>
              <a:rPr lang="en-US" sz="1250" dirty="0">
                <a:solidFill>
                  <a:srgbClr val="1A2733"/>
                </a:solidFill>
                <a:latin typeface="Calibri" pitchFamily="34" charset="0"/>
                <a:ea typeface="Calibri" pitchFamily="34" charset="-122"/>
                <a:cs typeface="Calibri" pitchFamily="34" charset="-120"/>
              </a:rPr>
              <a:t>Force-thresholded vs position-controlled grasp of deformable objects</a:t>
            </a:r>
            <a:endParaRPr lang="en-US" sz="1250" dirty="0"/>
          </a:p>
        </p:txBody>
      </p:sp>
      <p:sp>
        <p:nvSpPr>
          <p:cNvPr id="28" name="Text 26"/>
          <p:cNvSpPr/>
          <p:nvPr/>
        </p:nvSpPr>
        <p:spPr>
          <a:xfrm>
            <a:off x="8330184" y="4023360"/>
            <a:ext cx="3063240" cy="274320"/>
          </a:xfrm>
          <a:prstGeom prst="rect">
            <a:avLst/>
          </a:prstGeom>
          <a:noFill/>
          <a:ln/>
        </p:spPr>
        <p:txBody>
          <a:bodyPr wrap="square" rtlCol="0" anchor="ctr"/>
          <a:lstStyle/>
          <a:p>
            <a:pPr indent="0" marL="0">
              <a:buNone/>
            </a:pPr>
            <a:r>
              <a:rPr lang="en-US" sz="1000" b="1" spc="150" kern="0" dirty="0">
                <a:solidFill>
                  <a:srgbClr val="1B3A5B"/>
                </a:solidFill>
                <a:latin typeface="Calibri" pitchFamily="34" charset="0"/>
                <a:ea typeface="Calibri" pitchFamily="34" charset="-122"/>
                <a:cs typeface="Calibri" pitchFamily="34" charset="-120"/>
              </a:rPr>
              <a:t>METRICS</a:t>
            </a:r>
            <a:endParaRPr lang="en-US" sz="1000" dirty="0"/>
          </a:p>
        </p:txBody>
      </p:sp>
      <p:sp>
        <p:nvSpPr>
          <p:cNvPr id="29" name="Text 27"/>
          <p:cNvSpPr/>
          <p:nvPr/>
        </p:nvSpPr>
        <p:spPr>
          <a:xfrm>
            <a:off x="8330184" y="4270248"/>
            <a:ext cx="3063240" cy="594360"/>
          </a:xfrm>
          <a:prstGeom prst="rect">
            <a:avLst/>
          </a:prstGeom>
          <a:noFill/>
          <a:ln/>
        </p:spPr>
        <p:txBody>
          <a:bodyPr wrap="square" rtlCol="0" anchor="ctr"/>
          <a:lstStyle/>
          <a:p>
            <a:pPr indent="0" marL="0">
              <a:buNone/>
            </a:pPr>
            <a:r>
              <a:rPr lang="en-US" sz="1200" i="1" dirty="0">
                <a:solidFill>
                  <a:srgbClr val="5A6B7A"/>
                </a:solidFill>
                <a:latin typeface="Calibri" pitchFamily="34" charset="0"/>
                <a:ea typeface="Calibri" pitchFamily="34" charset="-122"/>
                <a:cs typeface="Calibri" pitchFamily="34" charset="-120"/>
              </a:rPr>
              <a:t>Crush rate · slip rate · contact force</a:t>
            </a:r>
            <a:endParaRPr lang="en-US" sz="1200" dirty="0"/>
          </a:p>
        </p:txBody>
      </p:sp>
      <p:sp>
        <p:nvSpPr>
          <p:cNvPr id="30" name="Shape 28"/>
          <p:cNvSpPr/>
          <p:nvPr/>
        </p:nvSpPr>
        <p:spPr>
          <a:xfrm>
            <a:off x="548640" y="5257800"/>
            <a:ext cx="11091672" cy="777240"/>
          </a:xfrm>
          <a:prstGeom prst="roundRect">
            <a:avLst>
              <a:gd name="adj" fmla="val 11765"/>
            </a:avLst>
          </a:prstGeom>
          <a:solidFill>
            <a:srgbClr val="FBEBD3"/>
          </a:solidFill>
          <a:ln w="12700">
            <a:solidFill>
              <a:srgbClr val="E8871E"/>
            </a:solidFill>
            <a:prstDash val="solid"/>
          </a:ln>
        </p:spPr>
      </p:sp>
      <p:sp>
        <p:nvSpPr>
          <p:cNvPr id="31" name="Text 29"/>
          <p:cNvSpPr/>
          <p:nvPr/>
        </p:nvSpPr>
        <p:spPr>
          <a:xfrm>
            <a:off x="868680" y="5257800"/>
            <a:ext cx="10515600" cy="777240"/>
          </a:xfrm>
          <a:prstGeom prst="rect">
            <a:avLst/>
          </a:prstGeom>
          <a:noFill/>
          <a:ln/>
        </p:spPr>
        <p:txBody>
          <a:bodyPr wrap="square" rtlCol="0" anchor="ctr"/>
          <a:lstStyle/>
          <a:p>
            <a:pPr indent="0" marL="0">
              <a:buNone/>
            </a:pPr>
            <a:r>
              <a:rPr lang="en-US" sz="1400" b="1" dirty="0">
                <a:solidFill>
                  <a:srgbClr val="8A5310"/>
                </a:solidFill>
                <a:latin typeface="Calibri" pitchFamily="34" charset="0"/>
                <a:ea typeface="Calibri" pitchFamily="34" charset="-122"/>
                <a:cs typeface="Calibri" pitchFamily="34" charset="-120"/>
              </a:rPr>
              <a:t>No results yet.  </a:t>
            </a:r>
            <a:pPr indent="0" marL="0">
              <a:buNone/>
            </a:pPr>
            <a:r>
              <a:rPr lang="en-US" sz="1400" dirty="0">
                <a:solidFill>
                  <a:srgbClr val="6B4410"/>
                </a:solidFill>
                <a:latin typeface="Calibri" pitchFamily="34" charset="0"/>
                <a:ea typeface="Calibri" pitchFamily="34" charset="-122"/>
                <a:cs typeface="Calibri" pitchFamily="34" charset="-120"/>
              </a:rPr>
              <a:t>Each stage is tied to a specific claim, so its execution will confirm or refute that claim.</a:t>
            </a:r>
            <a:endParaRPr lang="en-US" sz="1400" dirty="0"/>
          </a:p>
        </p:txBody>
      </p:sp>
      <p:sp>
        <p:nvSpPr>
          <p:cNvPr id="32" name="Text 30"/>
          <p:cNvSpPr/>
          <p:nvPr/>
        </p:nvSpPr>
        <p:spPr>
          <a:xfrm>
            <a:off x="457200" y="6473952"/>
            <a:ext cx="8961120" cy="274320"/>
          </a:xfrm>
          <a:prstGeom prst="rect">
            <a:avLst/>
          </a:prstGeom>
          <a:noFill/>
          <a:ln/>
        </p:spPr>
        <p:txBody>
          <a:bodyPr wrap="square" rtlCol="0" anchor="ctr"/>
          <a:lstStyle/>
          <a:p>
            <a:pPr indent="0" marL="0">
              <a:buNone/>
            </a:pPr>
            <a:r>
              <a:rPr lang="en-US" sz="900" dirty="0">
                <a:solidFill>
                  <a:srgbClr val="5A6B7A"/>
                </a:solidFill>
                <a:latin typeface="Calibri" pitchFamily="34" charset="0"/>
                <a:ea typeface="Calibri" pitchFamily="34" charset="-122"/>
                <a:cs typeface="Calibri" pitchFamily="34" charset="-120"/>
              </a:rPr>
              <a:t>RH56F1-E2R-T1  ×  UR5e  —  Integration Design &amp; Evaluation Plan</a:t>
            </a:r>
            <a:endParaRPr lang="en-US" sz="900" dirty="0"/>
          </a:p>
        </p:txBody>
      </p:sp>
      <p:sp>
        <p:nvSpPr>
          <p:cNvPr id="33" name="Text 31"/>
          <p:cNvSpPr/>
          <p:nvPr/>
        </p:nvSpPr>
        <p:spPr>
          <a:xfrm>
            <a:off x="11475720" y="6473952"/>
            <a:ext cx="4114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RISKS &amp; LIMITATIONS</a:t>
            </a:r>
            <a:endParaRPr lang="en-US" sz="1200" dirty="0"/>
          </a:p>
        </p:txBody>
      </p:sp>
      <p:sp>
        <p:nvSpPr>
          <p:cNvPr id="3" name="Text 1"/>
          <p:cNvSpPr/>
          <p:nvPr/>
        </p:nvSpPr>
        <p:spPr>
          <a:xfrm>
            <a:off x="530352" y="658368"/>
            <a:ext cx="11109960" cy="731520"/>
          </a:xfrm>
          <a:prstGeom prst="rect">
            <a:avLst/>
          </a:prstGeom>
          <a:noFill/>
          <a:ln/>
        </p:spPr>
        <p:txBody>
          <a:bodyPr wrap="square" rtlCol="0" anchor="ctr"/>
          <a:lstStyle/>
          <a:p>
            <a:pPr indent="0" marL="0">
              <a:buNone/>
            </a:pPr>
            <a:r>
              <a:rPr lang="en-US" sz="2900" b="1" dirty="0">
                <a:solidFill>
                  <a:srgbClr val="12233B"/>
                </a:solidFill>
                <a:latin typeface="Cambria" pitchFamily="34" charset="0"/>
                <a:ea typeface="Cambria" pitchFamily="34" charset="-122"/>
                <a:cs typeface="Cambria" pitchFamily="34" charset="-120"/>
              </a:rPr>
              <a:t>Stated plainly</a:t>
            </a:r>
            <a:endParaRPr lang="en-US" sz="2900" dirty="0"/>
          </a:p>
        </p:txBody>
      </p:sp>
      <p:sp>
        <p:nvSpPr>
          <p:cNvPr id="4" name="Text 2"/>
          <p:cNvSpPr/>
          <p:nvPr/>
        </p:nvSpPr>
        <p:spPr>
          <a:xfrm>
            <a:off x="548640" y="1508760"/>
            <a:ext cx="5486400" cy="274320"/>
          </a:xfrm>
          <a:prstGeom prst="rect">
            <a:avLst/>
          </a:prstGeom>
          <a:noFill/>
          <a:ln/>
        </p:spPr>
        <p:txBody>
          <a:bodyPr wrap="square" rtlCol="0" anchor="ctr"/>
          <a:lstStyle/>
          <a:p>
            <a:pPr indent="0" marL="0">
              <a:buNone/>
            </a:pPr>
            <a:r>
              <a:rPr lang="en-US" sz="1200" b="1" spc="150" kern="0" dirty="0">
                <a:solidFill>
                  <a:srgbClr val="E8871E"/>
                </a:solidFill>
                <a:latin typeface="Calibri" pitchFamily="34" charset="0"/>
                <a:ea typeface="Calibri" pitchFamily="34" charset="-122"/>
                <a:cs typeface="Calibri" pitchFamily="34" charset="-120"/>
              </a:rPr>
              <a:t>KEY INTEGRATION RISKS</a:t>
            </a:r>
            <a:endParaRPr lang="en-US" sz="1200" dirty="0"/>
          </a:p>
        </p:txBody>
      </p:sp>
      <p:sp>
        <p:nvSpPr>
          <p:cNvPr id="5" name="Shape 3"/>
          <p:cNvSpPr/>
          <p:nvPr/>
        </p:nvSpPr>
        <p:spPr>
          <a:xfrm>
            <a:off x="548640" y="1874520"/>
            <a:ext cx="5440680" cy="749808"/>
          </a:xfrm>
          <a:prstGeom prst="roundRect">
            <a:avLst>
              <a:gd name="adj" fmla="val 9756"/>
            </a:avLst>
          </a:prstGeom>
          <a:solidFill>
            <a:srgbClr val="EEF3F8"/>
          </a:solidFill>
          <a:ln w="12700">
            <a:solidFill>
              <a:srgbClr val="D5DEE8"/>
            </a:solidFill>
            <a:prstDash val="solid"/>
          </a:ln>
        </p:spPr>
      </p:sp>
      <p:sp>
        <p:nvSpPr>
          <p:cNvPr id="6" name="Shape 4"/>
          <p:cNvSpPr/>
          <p:nvPr/>
        </p:nvSpPr>
        <p:spPr>
          <a:xfrm>
            <a:off x="548640" y="1874520"/>
            <a:ext cx="73152" cy="749808"/>
          </a:xfrm>
          <a:prstGeom prst="rect">
            <a:avLst/>
          </a:prstGeom>
          <a:solidFill>
            <a:srgbClr val="E8871E"/>
          </a:solidFill>
          <a:ln/>
        </p:spPr>
      </p:sp>
      <p:sp>
        <p:nvSpPr>
          <p:cNvPr id="7" name="Text 5"/>
          <p:cNvSpPr/>
          <p:nvPr/>
        </p:nvSpPr>
        <p:spPr>
          <a:xfrm>
            <a:off x="749808" y="1956816"/>
            <a:ext cx="5120640" cy="320040"/>
          </a:xfrm>
          <a:prstGeom prst="rect">
            <a:avLst/>
          </a:prstGeom>
          <a:noFill/>
          <a:ln/>
        </p:spPr>
        <p:txBody>
          <a:bodyPr wrap="square" rtlCol="0" anchor="ctr"/>
          <a:lstStyle/>
          <a:p>
            <a:pPr indent="0" marL="0">
              <a:buNone/>
            </a:pPr>
            <a:r>
              <a:rPr lang="en-US" sz="1350" b="1" dirty="0">
                <a:solidFill>
                  <a:srgbClr val="12233B"/>
                </a:solidFill>
                <a:latin typeface="Cambria" pitchFamily="34" charset="0"/>
                <a:ea typeface="Cambria" pitchFamily="34" charset="-122"/>
                <a:cs typeface="Cambria" pitchFamily="34" charset="-120"/>
              </a:rPr>
              <a:t>Tool over-current</a:t>
            </a:r>
            <a:endParaRPr lang="en-US" sz="1350" dirty="0"/>
          </a:p>
        </p:txBody>
      </p:sp>
      <p:sp>
        <p:nvSpPr>
          <p:cNvPr id="8" name="Text 6"/>
          <p:cNvSpPr/>
          <p:nvPr/>
        </p:nvSpPr>
        <p:spPr>
          <a:xfrm>
            <a:off x="749808" y="2276856"/>
            <a:ext cx="5120640" cy="292608"/>
          </a:xfrm>
          <a:prstGeom prst="rect">
            <a:avLst/>
          </a:prstGeom>
          <a:noFill/>
          <a:ln/>
        </p:spPr>
        <p:txBody>
          <a:bodyPr wrap="square" rtlCol="0" anchor="ctr"/>
          <a:lstStyle/>
          <a:p>
            <a:pPr indent="0" marL="0">
              <a:buNone/>
            </a:pPr>
            <a:r>
              <a:rPr lang="en-US" sz="1150" dirty="0">
                <a:solidFill>
                  <a:srgbClr val="1A2733"/>
                </a:solidFill>
                <a:latin typeface="Calibri" pitchFamily="34" charset="0"/>
                <a:ea typeface="Calibri" pitchFamily="34" charset="-122"/>
                <a:cs typeface="Calibri" pitchFamily="34" charset="-120"/>
              </a:rPr>
              <a:t>Register limits; default to Concept B</a:t>
            </a:r>
            <a:endParaRPr lang="en-US" sz="1150" dirty="0"/>
          </a:p>
        </p:txBody>
      </p:sp>
      <p:sp>
        <p:nvSpPr>
          <p:cNvPr id="9" name="Shape 7"/>
          <p:cNvSpPr/>
          <p:nvPr/>
        </p:nvSpPr>
        <p:spPr>
          <a:xfrm>
            <a:off x="548640" y="2743200"/>
            <a:ext cx="5440680" cy="749808"/>
          </a:xfrm>
          <a:prstGeom prst="roundRect">
            <a:avLst>
              <a:gd name="adj" fmla="val 9756"/>
            </a:avLst>
          </a:prstGeom>
          <a:solidFill>
            <a:srgbClr val="EEF3F8"/>
          </a:solidFill>
          <a:ln w="12700">
            <a:solidFill>
              <a:srgbClr val="D5DEE8"/>
            </a:solidFill>
            <a:prstDash val="solid"/>
          </a:ln>
        </p:spPr>
      </p:sp>
      <p:sp>
        <p:nvSpPr>
          <p:cNvPr id="10" name="Shape 8"/>
          <p:cNvSpPr/>
          <p:nvPr/>
        </p:nvSpPr>
        <p:spPr>
          <a:xfrm>
            <a:off x="548640" y="2743200"/>
            <a:ext cx="73152" cy="749808"/>
          </a:xfrm>
          <a:prstGeom prst="rect">
            <a:avLst/>
          </a:prstGeom>
          <a:solidFill>
            <a:srgbClr val="E8871E"/>
          </a:solidFill>
          <a:ln/>
        </p:spPr>
      </p:sp>
      <p:sp>
        <p:nvSpPr>
          <p:cNvPr id="11" name="Text 9"/>
          <p:cNvSpPr/>
          <p:nvPr/>
        </p:nvSpPr>
        <p:spPr>
          <a:xfrm>
            <a:off x="749808" y="2825496"/>
            <a:ext cx="5120640" cy="320040"/>
          </a:xfrm>
          <a:prstGeom prst="rect">
            <a:avLst/>
          </a:prstGeom>
          <a:noFill/>
          <a:ln/>
        </p:spPr>
        <p:txBody>
          <a:bodyPr wrap="square" rtlCol="0" anchor="ctr"/>
          <a:lstStyle/>
          <a:p>
            <a:pPr indent="0" marL="0">
              <a:buNone/>
            </a:pPr>
            <a:r>
              <a:rPr lang="en-US" sz="1350" b="1" dirty="0">
                <a:solidFill>
                  <a:srgbClr val="12233B"/>
                </a:solidFill>
                <a:latin typeface="Cambria" pitchFamily="34" charset="0"/>
                <a:ea typeface="Cambria" pitchFamily="34" charset="-122"/>
                <a:cs typeface="Cambria" pitchFamily="34" charset="-120"/>
              </a:rPr>
              <a:t>Dropped serial frames</a:t>
            </a:r>
            <a:endParaRPr lang="en-US" sz="1350" dirty="0"/>
          </a:p>
        </p:txBody>
      </p:sp>
      <p:sp>
        <p:nvSpPr>
          <p:cNvPr id="12" name="Text 10"/>
          <p:cNvSpPr/>
          <p:nvPr/>
        </p:nvSpPr>
        <p:spPr>
          <a:xfrm>
            <a:off x="749808" y="3145536"/>
            <a:ext cx="5120640" cy="292608"/>
          </a:xfrm>
          <a:prstGeom prst="rect">
            <a:avLst/>
          </a:prstGeom>
          <a:noFill/>
          <a:ln/>
        </p:spPr>
        <p:txBody>
          <a:bodyPr wrap="square" rtlCol="0" anchor="ctr"/>
          <a:lstStyle/>
          <a:p>
            <a:pPr indent="0" marL="0">
              <a:buNone/>
            </a:pPr>
            <a:r>
              <a:rPr lang="en-US" sz="1150" dirty="0">
                <a:solidFill>
                  <a:srgbClr val="1A2733"/>
                </a:solidFill>
                <a:latin typeface="Calibri" pitchFamily="34" charset="0"/>
                <a:ea typeface="Calibri" pitchFamily="34" charset="-122"/>
                <a:cs typeface="Calibri" pitchFamily="34" charset="-120"/>
              </a:rPr>
              <a:t>Shielded twisted pair, checksum + retry</a:t>
            </a:r>
            <a:endParaRPr lang="en-US" sz="1150" dirty="0"/>
          </a:p>
        </p:txBody>
      </p:sp>
      <p:sp>
        <p:nvSpPr>
          <p:cNvPr id="13" name="Shape 11"/>
          <p:cNvSpPr/>
          <p:nvPr/>
        </p:nvSpPr>
        <p:spPr>
          <a:xfrm>
            <a:off x="548640" y="3611880"/>
            <a:ext cx="5440680" cy="749808"/>
          </a:xfrm>
          <a:prstGeom prst="roundRect">
            <a:avLst>
              <a:gd name="adj" fmla="val 9756"/>
            </a:avLst>
          </a:prstGeom>
          <a:solidFill>
            <a:srgbClr val="EEF3F8"/>
          </a:solidFill>
          <a:ln w="12700">
            <a:solidFill>
              <a:srgbClr val="D5DEE8"/>
            </a:solidFill>
            <a:prstDash val="solid"/>
          </a:ln>
        </p:spPr>
      </p:sp>
      <p:sp>
        <p:nvSpPr>
          <p:cNvPr id="14" name="Shape 12"/>
          <p:cNvSpPr/>
          <p:nvPr/>
        </p:nvSpPr>
        <p:spPr>
          <a:xfrm>
            <a:off x="548640" y="3611880"/>
            <a:ext cx="73152" cy="749808"/>
          </a:xfrm>
          <a:prstGeom prst="rect">
            <a:avLst/>
          </a:prstGeom>
          <a:solidFill>
            <a:srgbClr val="E8871E"/>
          </a:solidFill>
          <a:ln/>
        </p:spPr>
      </p:sp>
      <p:sp>
        <p:nvSpPr>
          <p:cNvPr id="15" name="Text 13"/>
          <p:cNvSpPr/>
          <p:nvPr/>
        </p:nvSpPr>
        <p:spPr>
          <a:xfrm>
            <a:off x="749808" y="3694176"/>
            <a:ext cx="5120640" cy="320040"/>
          </a:xfrm>
          <a:prstGeom prst="rect">
            <a:avLst/>
          </a:prstGeom>
          <a:noFill/>
          <a:ln/>
        </p:spPr>
        <p:txBody>
          <a:bodyPr wrap="square" rtlCol="0" anchor="ctr"/>
          <a:lstStyle/>
          <a:p>
            <a:pPr indent="0" marL="0">
              <a:buNone/>
            </a:pPr>
            <a:r>
              <a:rPr lang="en-US" sz="1350" b="1" dirty="0">
                <a:solidFill>
                  <a:srgbClr val="12233B"/>
                </a:solidFill>
                <a:latin typeface="Cambria" pitchFamily="34" charset="0"/>
                <a:ea typeface="Cambria" pitchFamily="34" charset="-122"/>
                <a:cs typeface="Cambria" pitchFamily="34" charset="-120"/>
              </a:rPr>
              <a:t>Tool I/O misconfigured</a:t>
            </a:r>
            <a:endParaRPr lang="en-US" sz="1350" dirty="0"/>
          </a:p>
        </p:txBody>
      </p:sp>
      <p:sp>
        <p:nvSpPr>
          <p:cNvPr id="16" name="Text 14"/>
          <p:cNvSpPr/>
          <p:nvPr/>
        </p:nvSpPr>
        <p:spPr>
          <a:xfrm>
            <a:off x="749808" y="4014216"/>
            <a:ext cx="5120640" cy="292608"/>
          </a:xfrm>
          <a:prstGeom prst="rect">
            <a:avLst/>
          </a:prstGeom>
          <a:noFill/>
          <a:ln/>
        </p:spPr>
        <p:txBody>
          <a:bodyPr wrap="square" rtlCol="0" anchor="ctr"/>
          <a:lstStyle/>
          <a:p>
            <a:pPr indent="0" marL="0">
              <a:buNone/>
            </a:pPr>
            <a:r>
              <a:rPr lang="en-US" sz="1150" dirty="0">
                <a:solidFill>
                  <a:srgbClr val="1A2733"/>
                </a:solidFill>
                <a:latin typeface="Calibri" pitchFamily="34" charset="0"/>
                <a:ea typeface="Calibri" pitchFamily="34" charset="-122"/>
                <a:cs typeface="Calibri" pitchFamily="34" charset="-120"/>
              </a:rPr>
              <a:t>Set communication mode in PolyScope</a:t>
            </a:r>
            <a:endParaRPr lang="en-US" sz="1150" dirty="0"/>
          </a:p>
        </p:txBody>
      </p:sp>
      <p:sp>
        <p:nvSpPr>
          <p:cNvPr id="17" name="Shape 15"/>
          <p:cNvSpPr/>
          <p:nvPr/>
        </p:nvSpPr>
        <p:spPr>
          <a:xfrm>
            <a:off x="548640" y="4480560"/>
            <a:ext cx="5440680" cy="749808"/>
          </a:xfrm>
          <a:prstGeom prst="roundRect">
            <a:avLst>
              <a:gd name="adj" fmla="val 9756"/>
            </a:avLst>
          </a:prstGeom>
          <a:solidFill>
            <a:srgbClr val="EEF3F8"/>
          </a:solidFill>
          <a:ln w="12700">
            <a:solidFill>
              <a:srgbClr val="D5DEE8"/>
            </a:solidFill>
            <a:prstDash val="solid"/>
          </a:ln>
        </p:spPr>
      </p:sp>
      <p:sp>
        <p:nvSpPr>
          <p:cNvPr id="18" name="Shape 16"/>
          <p:cNvSpPr/>
          <p:nvPr/>
        </p:nvSpPr>
        <p:spPr>
          <a:xfrm>
            <a:off x="548640" y="4480560"/>
            <a:ext cx="73152" cy="749808"/>
          </a:xfrm>
          <a:prstGeom prst="rect">
            <a:avLst/>
          </a:prstGeom>
          <a:solidFill>
            <a:srgbClr val="E8871E"/>
          </a:solidFill>
          <a:ln/>
        </p:spPr>
      </p:sp>
      <p:sp>
        <p:nvSpPr>
          <p:cNvPr id="19" name="Text 17"/>
          <p:cNvSpPr/>
          <p:nvPr/>
        </p:nvSpPr>
        <p:spPr>
          <a:xfrm>
            <a:off x="749808" y="4562856"/>
            <a:ext cx="5120640" cy="320040"/>
          </a:xfrm>
          <a:prstGeom prst="rect">
            <a:avLst/>
          </a:prstGeom>
          <a:noFill/>
          <a:ln/>
        </p:spPr>
        <p:txBody>
          <a:bodyPr wrap="square" rtlCol="0" anchor="ctr"/>
          <a:lstStyle/>
          <a:p>
            <a:pPr indent="0" marL="0">
              <a:buNone/>
            </a:pPr>
            <a:r>
              <a:rPr lang="en-US" sz="1350" b="1" dirty="0">
                <a:solidFill>
                  <a:srgbClr val="12233B"/>
                </a:solidFill>
                <a:latin typeface="Cambria" pitchFamily="34" charset="0"/>
                <a:ea typeface="Cambria" pitchFamily="34" charset="-122"/>
                <a:cs typeface="Cambria" pitchFamily="34" charset="-120"/>
              </a:rPr>
              <a:t>Object crush</a:t>
            </a:r>
            <a:endParaRPr lang="en-US" sz="1350" dirty="0"/>
          </a:p>
        </p:txBody>
      </p:sp>
      <p:sp>
        <p:nvSpPr>
          <p:cNvPr id="20" name="Text 18"/>
          <p:cNvSpPr/>
          <p:nvPr/>
        </p:nvSpPr>
        <p:spPr>
          <a:xfrm>
            <a:off x="749808" y="4882896"/>
            <a:ext cx="5120640" cy="292608"/>
          </a:xfrm>
          <a:prstGeom prst="rect">
            <a:avLst/>
          </a:prstGeom>
          <a:noFill/>
          <a:ln/>
        </p:spPr>
        <p:txBody>
          <a:bodyPr wrap="square" rtlCol="0" anchor="ctr"/>
          <a:lstStyle/>
          <a:p>
            <a:pPr indent="0" marL="0">
              <a:buNone/>
            </a:pPr>
            <a:r>
              <a:rPr lang="en-US" sz="1150" dirty="0">
                <a:solidFill>
                  <a:srgbClr val="1A2733"/>
                </a:solidFill>
                <a:latin typeface="Calibri" pitchFamily="34" charset="0"/>
                <a:ea typeface="Calibri" pitchFamily="34" charset="-122"/>
                <a:cs typeface="Calibri" pitchFamily="34" charset="-120"/>
              </a:rPr>
              <a:t>Force-threshold grasp via tactile feedback</a:t>
            </a:r>
            <a:endParaRPr lang="en-US" sz="1150" dirty="0"/>
          </a:p>
        </p:txBody>
      </p:sp>
      <p:sp>
        <p:nvSpPr>
          <p:cNvPr id="21" name="Text 19"/>
          <p:cNvSpPr/>
          <p:nvPr/>
        </p:nvSpPr>
        <p:spPr>
          <a:xfrm>
            <a:off x="6263640" y="1508760"/>
            <a:ext cx="5486400" cy="274320"/>
          </a:xfrm>
          <a:prstGeom prst="rect">
            <a:avLst/>
          </a:prstGeom>
          <a:noFill/>
          <a:ln/>
        </p:spPr>
        <p:txBody>
          <a:bodyPr wrap="square" rtlCol="0" anchor="ctr"/>
          <a:lstStyle/>
          <a:p>
            <a:pPr indent="0" marL="0">
              <a:buNone/>
            </a:pPr>
            <a:r>
              <a:rPr lang="en-US" sz="1200" b="1" spc="150" kern="0" dirty="0">
                <a:solidFill>
                  <a:srgbClr val="3E7CB1"/>
                </a:solidFill>
                <a:latin typeface="Calibri" pitchFamily="34" charset="0"/>
                <a:ea typeface="Calibri" pitchFamily="34" charset="-122"/>
                <a:cs typeface="Calibri" pitchFamily="34" charset="-120"/>
              </a:rPr>
              <a:t>LIMITATIONS</a:t>
            </a:r>
            <a:endParaRPr lang="en-US" sz="1200" dirty="0"/>
          </a:p>
        </p:txBody>
      </p:sp>
      <p:sp>
        <p:nvSpPr>
          <p:cNvPr id="22" name="Shape 20"/>
          <p:cNvSpPr/>
          <p:nvPr/>
        </p:nvSpPr>
        <p:spPr>
          <a:xfrm>
            <a:off x="6263640" y="1874520"/>
            <a:ext cx="5376672" cy="3291840"/>
          </a:xfrm>
          <a:prstGeom prst="roundRect">
            <a:avLst>
              <a:gd name="adj" fmla="val 2778"/>
            </a:avLst>
          </a:prstGeom>
          <a:solidFill>
            <a:srgbClr val="14304C"/>
          </a:solidFill>
          <a:ln/>
          <a:effectLst>
            <a:outerShdw sx="100000" sy="100000" kx="0" ky="0" algn="bl" rotWithShape="0" blurRad="114300" dist="50800" dir="5400000">
              <a:srgbClr val="0B1728">
                <a:alpha val="40000"/>
              </a:srgbClr>
            </a:outerShdw>
          </a:effectLst>
        </p:spPr>
      </p:sp>
      <p:sp>
        <p:nvSpPr>
          <p:cNvPr id="23" name="Text 21"/>
          <p:cNvSpPr/>
          <p:nvPr/>
        </p:nvSpPr>
        <p:spPr>
          <a:xfrm>
            <a:off x="6537960" y="2103120"/>
            <a:ext cx="4892040" cy="2834640"/>
          </a:xfrm>
          <a:prstGeom prst="rect">
            <a:avLst/>
          </a:prstGeom>
          <a:noFill/>
          <a:ln/>
        </p:spPr>
        <p:txBody>
          <a:bodyPr wrap="square" rtlCol="0" anchor="ctr"/>
          <a:lstStyle/>
          <a:p>
            <a:pPr marL="342900" indent="-342900">
              <a:lnSpc>
                <a:spcPct val="102000"/>
              </a:lnSpc>
              <a:spcAft>
                <a:spcPts val="1000"/>
              </a:spcAft>
              <a:buSzPct val="100000"/>
              <a:buChar char="•"/>
            </a:pPr>
            <a:r>
              <a:rPr lang="en-US" sz="1300" b="1" dirty="0">
                <a:solidFill>
                  <a:srgbClr val="F6B860"/>
                </a:solidFill>
                <a:latin typeface="Calibri" pitchFamily="34" charset="0"/>
                <a:ea typeface="Calibri" pitchFamily="34" charset="-122"/>
                <a:cs typeface="Calibri" pitchFamily="34" charset="-120"/>
              </a:rPr>
              <a:t>No hardware built and no measurement taken — all quantitative results pending</a:t>
            </a:r>
            <a:endParaRPr lang="en-US" sz="1300" dirty="0"/>
          </a:p>
          <a:p>
            <a:pPr marL="342900" indent="-342900">
              <a:lnSpc>
                <a:spcPct val="1020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The bandwidth figure is a first-order estimate, not a specification</a:t>
            </a:r>
            <a:endParaRPr lang="en-US" sz="1300" dirty="0"/>
          </a:p>
          <a:p>
            <a:pPr marL="342900" indent="-342900">
              <a:lnSpc>
                <a:spcPct val="1020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Only grasps expressible by an underactuated six-DOF hand are in scope</a:t>
            </a:r>
            <a:endParaRPr lang="en-US" sz="1300" dirty="0"/>
          </a:p>
          <a:p>
            <a:pPr marL="342900" indent="-342900">
              <a:lnSpc>
                <a:spcPct val="1020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A single right hand — bimanual tasks are excluded</a:t>
            </a:r>
            <a:endParaRPr lang="en-US" sz="1300" dirty="0"/>
          </a:p>
          <a:p>
            <a:pPr marL="342900" indent="-342900">
              <a:lnSpc>
                <a:spcPct val="1020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Electrical figures are datasheet values; the true current profile must be measured</a:t>
            </a:r>
            <a:endParaRPr lang="en-US" sz="1300" dirty="0"/>
          </a:p>
        </p:txBody>
      </p:sp>
      <p:sp>
        <p:nvSpPr>
          <p:cNvPr id="24" name="Text 22"/>
          <p:cNvSpPr/>
          <p:nvPr/>
        </p:nvSpPr>
        <p:spPr>
          <a:xfrm>
            <a:off x="548640" y="5852160"/>
            <a:ext cx="10972800" cy="365760"/>
          </a:xfrm>
          <a:prstGeom prst="rect">
            <a:avLst/>
          </a:prstGeom>
          <a:noFill/>
          <a:ln/>
        </p:spPr>
        <p:txBody>
          <a:bodyPr wrap="square" rtlCol="0" anchor="ctr"/>
          <a:lstStyle/>
          <a:p>
            <a:pPr algn="ctr" indent="0" marL="0">
              <a:buNone/>
            </a:pPr>
            <a:r>
              <a:rPr lang="en-US" sz="1250" b="1" i="1" dirty="0">
                <a:solidFill>
                  <a:srgbClr val="12233B"/>
                </a:solidFill>
                <a:latin typeface="Calibri" pitchFamily="34" charset="0"/>
                <a:ea typeface="Calibri" pitchFamily="34" charset="-122"/>
                <a:cs typeface="Calibri" pitchFamily="34" charset="-120"/>
              </a:rPr>
              <a:t>Stating limits plainly is deliberate — it keeps verified specs, reasoning, and planned work distinct.</a:t>
            </a:r>
            <a:endParaRPr lang="en-US" sz="1250" dirty="0"/>
          </a:p>
        </p:txBody>
      </p:sp>
      <p:sp>
        <p:nvSpPr>
          <p:cNvPr id="25" name="Text 23"/>
          <p:cNvSpPr/>
          <p:nvPr/>
        </p:nvSpPr>
        <p:spPr>
          <a:xfrm>
            <a:off x="457200" y="6473952"/>
            <a:ext cx="8961120" cy="274320"/>
          </a:xfrm>
          <a:prstGeom prst="rect">
            <a:avLst/>
          </a:prstGeom>
          <a:noFill/>
          <a:ln/>
        </p:spPr>
        <p:txBody>
          <a:bodyPr wrap="square" rtlCol="0" anchor="ctr"/>
          <a:lstStyle/>
          <a:p>
            <a:pPr indent="0" marL="0">
              <a:buNone/>
            </a:pPr>
            <a:r>
              <a:rPr lang="en-US" sz="900" dirty="0">
                <a:solidFill>
                  <a:srgbClr val="5A6B7A"/>
                </a:solidFill>
                <a:latin typeface="Calibri" pitchFamily="34" charset="0"/>
                <a:ea typeface="Calibri" pitchFamily="34" charset="-122"/>
                <a:cs typeface="Calibri" pitchFamily="34" charset="-120"/>
              </a:rPr>
              <a:t>RH56F1-E2R-T1  ×  UR5e  —  Integration Design &amp; Evaluation Plan</a:t>
            </a:r>
            <a:endParaRPr lang="en-US" sz="900" dirty="0"/>
          </a:p>
        </p:txBody>
      </p:sp>
      <p:sp>
        <p:nvSpPr>
          <p:cNvPr id="26" name="Text 24"/>
          <p:cNvSpPr/>
          <p:nvPr/>
        </p:nvSpPr>
        <p:spPr>
          <a:xfrm>
            <a:off x="11475720" y="6473952"/>
            <a:ext cx="4114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233B"/>
        </a:solidFill>
      </p:bgPr>
    </p:bg>
    <p:spTree>
      <p:nvGrpSpPr>
        <p:cNvPr id="1" name=""/>
        <p:cNvGrpSpPr/>
        <p:nvPr/>
      </p:nvGrpSpPr>
      <p:grpSpPr>
        <a:xfrm>
          <a:off x="0" y="0"/>
          <a:ext cx="0" cy="0"/>
          <a:chOff x="0" y="0"/>
          <a:chExt cx="0" cy="0"/>
        </a:xfrm>
      </p:grpSpPr>
      <p:sp>
        <p:nvSpPr>
          <p:cNvPr id="2" name="Text 0"/>
          <p:cNvSpPr/>
          <p:nvPr/>
        </p:nvSpPr>
        <p:spPr>
          <a:xfrm>
            <a:off x="548640" y="457200"/>
            <a:ext cx="10058400" cy="320040"/>
          </a:xfrm>
          <a:prstGeom prst="rect">
            <a:avLst/>
          </a:prstGeom>
          <a:noFill/>
          <a:ln/>
        </p:spPr>
        <p:txBody>
          <a:bodyPr wrap="square" rtlCol="0" anchor="ctr"/>
          <a:lstStyle/>
          <a:p>
            <a:pPr indent="0" marL="0">
              <a:buNone/>
            </a:pPr>
            <a:r>
              <a:rPr lang="en-US" sz="1300" b="1" spc="200" kern="0" dirty="0">
                <a:solidFill>
                  <a:srgbClr val="E8871E"/>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530352" y="777240"/>
            <a:ext cx="109728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buildable design, and a plan to prove it</a:t>
            </a:r>
            <a:endParaRPr lang="en-US" sz="3000" dirty="0"/>
          </a:p>
        </p:txBody>
      </p:sp>
      <p:sp>
        <p:nvSpPr>
          <p:cNvPr id="4" name="Shape 2"/>
          <p:cNvSpPr/>
          <p:nvPr/>
        </p:nvSpPr>
        <p:spPr>
          <a:xfrm>
            <a:off x="640080" y="1691640"/>
            <a:ext cx="5349240" cy="1417320"/>
          </a:xfrm>
          <a:prstGeom prst="roundRect">
            <a:avLst>
              <a:gd name="adj" fmla="val 7742"/>
            </a:avLst>
          </a:prstGeom>
          <a:solidFill>
            <a:srgbClr val="16304C"/>
          </a:solidFill>
          <a:ln w="12700">
            <a:solidFill>
              <a:srgbClr val="26445F"/>
            </a:solidFill>
            <a:prstDash val="solid"/>
          </a:ln>
          <a:effectLst>
            <a:outerShdw sx="100000" sy="100000" kx="0" ky="0" algn="bl" rotWithShape="0" blurRad="114300" dist="50800" dir="5400000">
              <a:srgbClr val="0B1728">
                <a:alpha val="40000"/>
              </a:srgbClr>
            </a:outerShdw>
          </a:effectLst>
        </p:spPr>
      </p:sp>
      <p:sp>
        <p:nvSpPr>
          <p:cNvPr id="5" name="Text 3"/>
          <p:cNvSpPr/>
          <p:nvPr/>
        </p:nvSpPr>
        <p:spPr>
          <a:xfrm>
            <a:off x="868680" y="1874520"/>
            <a:ext cx="1005840" cy="1005840"/>
          </a:xfrm>
          <a:prstGeom prst="rect">
            <a:avLst/>
          </a:prstGeom>
          <a:noFill/>
          <a:ln/>
        </p:spPr>
        <p:txBody>
          <a:bodyPr wrap="square" rtlCol="0" anchor="ctr"/>
          <a:lstStyle/>
          <a:p>
            <a:pPr indent="0" marL="0">
              <a:buNone/>
            </a:pPr>
            <a:r>
              <a:rPr lang="en-US" sz="3800" b="1" dirty="0">
                <a:solidFill>
                  <a:srgbClr val="E8871E"/>
                </a:solidFill>
                <a:latin typeface="Cambria" pitchFamily="34" charset="0"/>
                <a:ea typeface="Cambria" pitchFamily="34" charset="-122"/>
                <a:cs typeface="Cambria" pitchFamily="34" charset="-120"/>
              </a:rPr>
              <a:t>01</a:t>
            </a:r>
            <a:endParaRPr lang="en-US" sz="3800" dirty="0"/>
          </a:p>
        </p:txBody>
      </p:sp>
      <p:sp>
        <p:nvSpPr>
          <p:cNvPr id="6" name="Text 4"/>
          <p:cNvSpPr/>
          <p:nvPr/>
        </p:nvSpPr>
        <p:spPr>
          <a:xfrm>
            <a:off x="2011680" y="1892808"/>
            <a:ext cx="3794760"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Characterised both platforms</a:t>
            </a:r>
            <a:endParaRPr lang="en-US" sz="1600" dirty="0"/>
          </a:p>
        </p:txBody>
      </p:sp>
      <p:sp>
        <p:nvSpPr>
          <p:cNvPr id="7" name="Text 5"/>
          <p:cNvSpPr/>
          <p:nvPr/>
        </p:nvSpPr>
        <p:spPr>
          <a:xfrm>
            <a:off x="2011680" y="2350008"/>
            <a:ext cx="3794760" cy="6858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from vendor documentation, at the level integration needs</a:t>
            </a:r>
            <a:endParaRPr lang="en-US" sz="1200" dirty="0"/>
          </a:p>
        </p:txBody>
      </p:sp>
      <p:sp>
        <p:nvSpPr>
          <p:cNvPr id="8" name="Shape 6"/>
          <p:cNvSpPr/>
          <p:nvPr/>
        </p:nvSpPr>
        <p:spPr>
          <a:xfrm>
            <a:off x="6309360" y="1691640"/>
            <a:ext cx="5349240" cy="1417320"/>
          </a:xfrm>
          <a:prstGeom prst="roundRect">
            <a:avLst>
              <a:gd name="adj" fmla="val 7742"/>
            </a:avLst>
          </a:prstGeom>
          <a:solidFill>
            <a:srgbClr val="16304C"/>
          </a:solidFill>
          <a:ln w="12700">
            <a:solidFill>
              <a:srgbClr val="26445F"/>
            </a:solidFill>
            <a:prstDash val="solid"/>
          </a:ln>
          <a:effectLst>
            <a:outerShdw sx="100000" sy="100000" kx="0" ky="0" algn="bl" rotWithShape="0" blurRad="114300" dist="50800" dir="5400000">
              <a:srgbClr val="0B1728">
                <a:alpha val="40000"/>
              </a:srgbClr>
            </a:outerShdw>
          </a:effectLst>
        </p:spPr>
      </p:sp>
      <p:sp>
        <p:nvSpPr>
          <p:cNvPr id="9" name="Text 7"/>
          <p:cNvSpPr/>
          <p:nvPr/>
        </p:nvSpPr>
        <p:spPr>
          <a:xfrm>
            <a:off x="6537960" y="1874520"/>
            <a:ext cx="1005840" cy="1005840"/>
          </a:xfrm>
          <a:prstGeom prst="rect">
            <a:avLst/>
          </a:prstGeom>
          <a:noFill/>
          <a:ln/>
        </p:spPr>
        <p:txBody>
          <a:bodyPr wrap="square" rtlCol="0" anchor="ctr"/>
          <a:lstStyle/>
          <a:p>
            <a:pPr indent="0" marL="0">
              <a:buNone/>
            </a:pPr>
            <a:r>
              <a:rPr lang="en-US" sz="3800" b="1" dirty="0">
                <a:solidFill>
                  <a:srgbClr val="E8871E"/>
                </a:solidFill>
                <a:latin typeface="Cambria" pitchFamily="34" charset="0"/>
                <a:ea typeface="Cambria" pitchFamily="34" charset="-122"/>
                <a:cs typeface="Cambria" pitchFamily="34" charset="-120"/>
              </a:rPr>
              <a:t>02</a:t>
            </a:r>
            <a:endParaRPr lang="en-US" sz="3800" dirty="0"/>
          </a:p>
        </p:txBody>
      </p:sp>
      <p:sp>
        <p:nvSpPr>
          <p:cNvPr id="10" name="Text 8"/>
          <p:cNvSpPr/>
          <p:nvPr/>
        </p:nvSpPr>
        <p:spPr>
          <a:xfrm>
            <a:off x="7680960" y="1892808"/>
            <a:ext cx="3794760"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Derived the integration design</a:t>
            </a:r>
            <a:endParaRPr lang="en-US" sz="1600" dirty="0"/>
          </a:p>
        </p:txBody>
      </p:sp>
      <p:sp>
        <p:nvSpPr>
          <p:cNvPr id="11" name="Text 9"/>
          <p:cNvSpPr/>
          <p:nvPr/>
        </p:nvSpPr>
        <p:spPr>
          <a:xfrm>
            <a:off x="7680960" y="2350008"/>
            <a:ext cx="3794760" cy="6858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with the 5 A vs 1.5 A power-budget finding at its core</a:t>
            </a:r>
            <a:endParaRPr lang="en-US" sz="1200" dirty="0"/>
          </a:p>
        </p:txBody>
      </p:sp>
      <p:sp>
        <p:nvSpPr>
          <p:cNvPr id="12" name="Shape 10"/>
          <p:cNvSpPr/>
          <p:nvPr/>
        </p:nvSpPr>
        <p:spPr>
          <a:xfrm>
            <a:off x="640080" y="3383280"/>
            <a:ext cx="5349240" cy="1417320"/>
          </a:xfrm>
          <a:prstGeom prst="roundRect">
            <a:avLst>
              <a:gd name="adj" fmla="val 7742"/>
            </a:avLst>
          </a:prstGeom>
          <a:solidFill>
            <a:srgbClr val="16304C"/>
          </a:solidFill>
          <a:ln w="12700">
            <a:solidFill>
              <a:srgbClr val="26445F"/>
            </a:solidFill>
            <a:prstDash val="solid"/>
          </a:ln>
          <a:effectLst>
            <a:outerShdw sx="100000" sy="100000" kx="0" ky="0" algn="bl" rotWithShape="0" blurRad="114300" dist="50800" dir="5400000">
              <a:srgbClr val="0B1728">
                <a:alpha val="40000"/>
              </a:srgbClr>
            </a:outerShdw>
          </a:effectLst>
        </p:spPr>
      </p:sp>
      <p:sp>
        <p:nvSpPr>
          <p:cNvPr id="13" name="Text 11"/>
          <p:cNvSpPr/>
          <p:nvPr/>
        </p:nvSpPr>
        <p:spPr>
          <a:xfrm>
            <a:off x="868680" y="3566160"/>
            <a:ext cx="1005840" cy="1005840"/>
          </a:xfrm>
          <a:prstGeom prst="rect">
            <a:avLst/>
          </a:prstGeom>
          <a:noFill/>
          <a:ln/>
        </p:spPr>
        <p:txBody>
          <a:bodyPr wrap="square" rtlCol="0" anchor="ctr"/>
          <a:lstStyle/>
          <a:p>
            <a:pPr indent="0" marL="0">
              <a:buNone/>
            </a:pPr>
            <a:r>
              <a:rPr lang="en-US" sz="3800" b="1" dirty="0">
                <a:solidFill>
                  <a:srgbClr val="E8871E"/>
                </a:solidFill>
                <a:latin typeface="Cambria" pitchFamily="34" charset="0"/>
                <a:ea typeface="Cambria" pitchFamily="34" charset="-122"/>
                <a:cs typeface="Cambria" pitchFamily="34" charset="-120"/>
              </a:rPr>
              <a:t>03</a:t>
            </a:r>
            <a:endParaRPr lang="en-US" sz="3800" dirty="0"/>
          </a:p>
        </p:txBody>
      </p:sp>
      <p:sp>
        <p:nvSpPr>
          <p:cNvPr id="14" name="Text 12"/>
          <p:cNvSpPr/>
          <p:nvPr/>
        </p:nvSpPr>
        <p:spPr>
          <a:xfrm>
            <a:off x="2011680" y="3584448"/>
            <a:ext cx="3794760"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Mapped five use-case families</a:t>
            </a:r>
            <a:endParaRPr lang="en-US" sz="1600" dirty="0"/>
          </a:p>
        </p:txBody>
      </p:sp>
      <p:sp>
        <p:nvSpPr>
          <p:cNvPr id="15" name="Text 13"/>
          <p:cNvSpPr/>
          <p:nvPr/>
        </p:nvSpPr>
        <p:spPr>
          <a:xfrm>
            <a:off x="2011680" y="4041648"/>
            <a:ext cx="3794760" cy="6858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onto the hand's verified, tactile-enabled capabilities</a:t>
            </a:r>
            <a:endParaRPr lang="en-US" sz="1200" dirty="0"/>
          </a:p>
        </p:txBody>
      </p:sp>
      <p:sp>
        <p:nvSpPr>
          <p:cNvPr id="16" name="Shape 14"/>
          <p:cNvSpPr/>
          <p:nvPr/>
        </p:nvSpPr>
        <p:spPr>
          <a:xfrm>
            <a:off x="6309360" y="3383280"/>
            <a:ext cx="5349240" cy="1417320"/>
          </a:xfrm>
          <a:prstGeom prst="roundRect">
            <a:avLst>
              <a:gd name="adj" fmla="val 7742"/>
            </a:avLst>
          </a:prstGeom>
          <a:solidFill>
            <a:srgbClr val="16304C"/>
          </a:solidFill>
          <a:ln w="12700">
            <a:solidFill>
              <a:srgbClr val="26445F"/>
            </a:solidFill>
            <a:prstDash val="solid"/>
          </a:ln>
          <a:effectLst>
            <a:outerShdw sx="100000" sy="100000" kx="0" ky="0" algn="bl" rotWithShape="0" blurRad="114300" dist="50800" dir="5400000">
              <a:srgbClr val="0B1728">
                <a:alpha val="40000"/>
              </a:srgbClr>
            </a:outerShdw>
          </a:effectLst>
        </p:spPr>
      </p:sp>
      <p:sp>
        <p:nvSpPr>
          <p:cNvPr id="17" name="Text 15"/>
          <p:cNvSpPr/>
          <p:nvPr/>
        </p:nvSpPr>
        <p:spPr>
          <a:xfrm>
            <a:off x="6537960" y="3566160"/>
            <a:ext cx="1005840" cy="1005840"/>
          </a:xfrm>
          <a:prstGeom prst="rect">
            <a:avLst/>
          </a:prstGeom>
          <a:noFill/>
          <a:ln/>
        </p:spPr>
        <p:txBody>
          <a:bodyPr wrap="square" rtlCol="0" anchor="ctr"/>
          <a:lstStyle/>
          <a:p>
            <a:pPr indent="0" marL="0">
              <a:buNone/>
            </a:pPr>
            <a:r>
              <a:rPr lang="en-US" sz="3800" b="1" dirty="0">
                <a:solidFill>
                  <a:srgbClr val="E8871E"/>
                </a:solidFill>
                <a:latin typeface="Cambria" pitchFamily="34" charset="0"/>
                <a:ea typeface="Cambria" pitchFamily="34" charset="-122"/>
                <a:cs typeface="Cambria" pitchFamily="34" charset="-120"/>
              </a:rPr>
              <a:t>04</a:t>
            </a:r>
            <a:endParaRPr lang="en-US" sz="3800" dirty="0"/>
          </a:p>
        </p:txBody>
      </p:sp>
      <p:sp>
        <p:nvSpPr>
          <p:cNvPr id="18" name="Text 16"/>
          <p:cNvSpPr/>
          <p:nvPr/>
        </p:nvSpPr>
        <p:spPr>
          <a:xfrm>
            <a:off x="7680960" y="3584448"/>
            <a:ext cx="3794760"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Pre-registered the evaluation</a:t>
            </a:r>
            <a:endParaRPr lang="en-US" sz="1600" dirty="0"/>
          </a:p>
        </p:txBody>
      </p:sp>
      <p:sp>
        <p:nvSpPr>
          <p:cNvPr id="19" name="Text 17"/>
          <p:cNvSpPr/>
          <p:nvPr/>
        </p:nvSpPr>
        <p:spPr>
          <a:xfrm>
            <a:off x="7680960" y="4041648"/>
            <a:ext cx="3794760" cy="6858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three stages, each tied to a specific claim</a:t>
            </a:r>
            <a:endParaRPr lang="en-US" sz="1200" dirty="0"/>
          </a:p>
        </p:txBody>
      </p:sp>
      <p:sp>
        <p:nvSpPr>
          <p:cNvPr id="20" name="Shape 18"/>
          <p:cNvSpPr/>
          <p:nvPr/>
        </p:nvSpPr>
        <p:spPr>
          <a:xfrm>
            <a:off x="640080" y="5349240"/>
            <a:ext cx="10908792" cy="868680"/>
          </a:xfrm>
          <a:prstGeom prst="roundRect">
            <a:avLst>
              <a:gd name="adj" fmla="val 10526"/>
            </a:avLst>
          </a:prstGeom>
          <a:solidFill>
            <a:srgbClr val="E8871E"/>
          </a:solidFill>
          <a:ln/>
        </p:spPr>
      </p:sp>
      <p:sp>
        <p:nvSpPr>
          <p:cNvPr id="21" name="Text 19"/>
          <p:cNvSpPr/>
          <p:nvPr/>
        </p:nvSpPr>
        <p:spPr>
          <a:xfrm>
            <a:off x="914400" y="5349240"/>
            <a:ext cx="10332720" cy="868680"/>
          </a:xfrm>
          <a:prstGeom prst="rect">
            <a:avLst/>
          </a:prstGeom>
          <a:noFill/>
          <a:ln/>
        </p:spPr>
        <p:txBody>
          <a:bodyPr wrap="square" rtlCol="0" anchor="ctr"/>
          <a:lstStyle/>
          <a:p>
            <a:pPr indent="0" marL="0">
              <a:buNone/>
            </a:pPr>
            <a:r>
              <a:rPr lang="en-US" sz="1450" b="1" dirty="0">
                <a:solidFill>
                  <a:srgbClr val="14304C"/>
                </a:solidFill>
                <a:latin typeface="Calibri" pitchFamily="34" charset="0"/>
                <a:ea typeface="Calibri" pitchFamily="34" charset="-122"/>
                <a:cs typeface="Calibri" pitchFamily="34" charset="-120"/>
              </a:rPr>
              <a:t>Next step:  </a:t>
            </a:r>
            <a:pPr indent="0" marL="0">
              <a:buNone/>
            </a:pPr>
            <a:r>
              <a:rPr lang="en-US" sz="1450" dirty="0">
                <a:solidFill>
                  <a:srgbClr val="14304C"/>
                </a:solidFill>
                <a:latin typeface="Calibri" pitchFamily="34" charset="0"/>
                <a:ea typeface="Calibri" pitchFamily="34" charset="-122"/>
                <a:cs typeface="Calibri" pitchFamily="34" charset="-120"/>
              </a:rPr>
              <a:t>execute Stage 1 the moment the hardware arrives — the current measurement that decides between the two power concepts.</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DEFENSE PREPARATION</a:t>
            </a:r>
            <a:endParaRPr lang="en-US" sz="1200" dirty="0"/>
          </a:p>
        </p:txBody>
      </p:sp>
      <p:sp>
        <p:nvSpPr>
          <p:cNvPr id="3" name="Text 1"/>
          <p:cNvSpPr/>
          <p:nvPr/>
        </p:nvSpPr>
        <p:spPr>
          <a:xfrm>
            <a:off x="530352" y="658368"/>
            <a:ext cx="11109960" cy="731520"/>
          </a:xfrm>
          <a:prstGeom prst="rect">
            <a:avLst/>
          </a:prstGeom>
          <a:noFill/>
          <a:ln/>
        </p:spPr>
        <p:txBody>
          <a:bodyPr wrap="square" rtlCol="0" anchor="ctr"/>
          <a:lstStyle/>
          <a:p>
            <a:pPr indent="0" marL="0">
              <a:buNone/>
            </a:pPr>
            <a:r>
              <a:rPr lang="en-US" sz="2900" b="1" dirty="0">
                <a:solidFill>
                  <a:srgbClr val="12233B"/>
                </a:solidFill>
                <a:latin typeface="Cambria" pitchFamily="34" charset="0"/>
                <a:ea typeface="Cambria" pitchFamily="34" charset="-122"/>
                <a:cs typeface="Cambria" pitchFamily="34" charset="-120"/>
              </a:rPr>
              <a:t>Questions I am ready for</a:t>
            </a:r>
            <a:endParaRPr lang="en-US" sz="2900" dirty="0"/>
          </a:p>
        </p:txBody>
      </p:sp>
      <p:sp>
        <p:nvSpPr>
          <p:cNvPr id="4" name="Shape 2"/>
          <p:cNvSpPr/>
          <p:nvPr/>
        </p:nvSpPr>
        <p:spPr>
          <a:xfrm>
            <a:off x="548640" y="1600200"/>
            <a:ext cx="5394960" cy="1417320"/>
          </a:xfrm>
          <a:prstGeom prst="roundRect">
            <a:avLst>
              <a:gd name="adj" fmla="val 6452"/>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5" name="Text 3"/>
          <p:cNvSpPr/>
          <p:nvPr/>
        </p:nvSpPr>
        <p:spPr>
          <a:xfrm>
            <a:off x="804672" y="1783080"/>
            <a:ext cx="4937760" cy="457200"/>
          </a:xfrm>
          <a:prstGeom prst="rect">
            <a:avLst/>
          </a:prstGeom>
          <a:noFill/>
          <a:ln/>
        </p:spPr>
        <p:txBody>
          <a:bodyPr wrap="square" rtlCol="0" anchor="ctr"/>
          <a:lstStyle/>
          <a:p>
            <a:pPr indent="0" marL="0">
              <a:buNone/>
            </a:pPr>
            <a:r>
              <a:rPr lang="en-US" sz="1450" b="1" dirty="0">
                <a:solidFill>
                  <a:srgbClr val="E8871E"/>
                </a:solidFill>
                <a:latin typeface="Cambria" pitchFamily="34" charset="0"/>
                <a:ea typeface="Cambria" pitchFamily="34" charset="-122"/>
                <a:cs typeface="Cambria" pitchFamily="34" charset="-120"/>
              </a:rPr>
              <a:t>Q  </a:t>
            </a:r>
            <a:pPr indent="0" marL="0">
              <a:buNone/>
            </a:pPr>
            <a:r>
              <a:rPr lang="en-US" sz="1450" b="1" dirty="0">
                <a:solidFill>
                  <a:srgbClr val="12233B"/>
                </a:solidFill>
                <a:latin typeface="Cambria" pitchFamily="34" charset="0"/>
                <a:ea typeface="Cambria" pitchFamily="34" charset="-122"/>
                <a:cs typeface="Cambria" pitchFamily="34" charset="-120"/>
              </a:rPr>
              <a:t>Why RS-485, not EtherCAT?</a:t>
            </a:r>
            <a:endParaRPr lang="en-US" sz="1450" dirty="0"/>
          </a:p>
        </p:txBody>
      </p:sp>
      <p:sp>
        <p:nvSpPr>
          <p:cNvPr id="6" name="Text 4"/>
          <p:cNvSpPr/>
          <p:nvPr/>
        </p:nvSpPr>
        <p:spPr>
          <a:xfrm>
            <a:off x="804672" y="2258568"/>
            <a:ext cx="4937760" cy="68580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The tool flange carries RS-485; EtherCAT needs cabling the connector lacks.</a:t>
            </a:r>
            <a:endParaRPr lang="en-US" sz="1200" dirty="0"/>
          </a:p>
        </p:txBody>
      </p:sp>
      <p:sp>
        <p:nvSpPr>
          <p:cNvPr id="7" name="Shape 5"/>
          <p:cNvSpPr/>
          <p:nvPr/>
        </p:nvSpPr>
        <p:spPr>
          <a:xfrm>
            <a:off x="6245352" y="1600200"/>
            <a:ext cx="5394960" cy="1417320"/>
          </a:xfrm>
          <a:prstGeom prst="roundRect">
            <a:avLst>
              <a:gd name="adj" fmla="val 6452"/>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8" name="Text 6"/>
          <p:cNvSpPr/>
          <p:nvPr/>
        </p:nvSpPr>
        <p:spPr>
          <a:xfrm>
            <a:off x="6501384" y="1783080"/>
            <a:ext cx="4937760" cy="457200"/>
          </a:xfrm>
          <a:prstGeom prst="rect">
            <a:avLst/>
          </a:prstGeom>
          <a:noFill/>
          <a:ln/>
        </p:spPr>
        <p:txBody>
          <a:bodyPr wrap="square" rtlCol="0" anchor="ctr"/>
          <a:lstStyle/>
          <a:p>
            <a:pPr indent="0" marL="0">
              <a:buNone/>
            </a:pPr>
            <a:r>
              <a:rPr lang="en-US" sz="1450" b="1" dirty="0">
                <a:solidFill>
                  <a:srgbClr val="E8871E"/>
                </a:solidFill>
                <a:latin typeface="Cambria" pitchFamily="34" charset="0"/>
                <a:ea typeface="Cambria" pitchFamily="34" charset="-122"/>
                <a:cs typeface="Cambria" pitchFamily="34" charset="-120"/>
              </a:rPr>
              <a:t>Q  </a:t>
            </a:r>
            <a:pPr indent="0" marL="0">
              <a:buNone/>
            </a:pPr>
            <a:r>
              <a:rPr lang="en-US" sz="1450" b="1" dirty="0">
                <a:solidFill>
                  <a:srgbClr val="12233B"/>
                </a:solidFill>
                <a:latin typeface="Cambria" pitchFamily="34" charset="0"/>
                <a:ea typeface="Cambria" pitchFamily="34" charset="-122"/>
                <a:cs typeface="Cambria" pitchFamily="34" charset="-120"/>
              </a:rPr>
              <a:t>Why not CAN FD?</a:t>
            </a:r>
            <a:endParaRPr lang="en-US" sz="1450" dirty="0"/>
          </a:p>
        </p:txBody>
      </p:sp>
      <p:sp>
        <p:nvSpPr>
          <p:cNvPr id="9" name="Text 7"/>
          <p:cNvSpPr/>
          <p:nvPr/>
        </p:nvSpPr>
        <p:spPr>
          <a:xfrm>
            <a:off x="6501384" y="2258568"/>
            <a:ext cx="4937760" cy="68580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CAN FD is the E4 build; it also cannot route through the tool connector.</a:t>
            </a:r>
            <a:endParaRPr lang="en-US" sz="1200" dirty="0"/>
          </a:p>
        </p:txBody>
      </p:sp>
      <p:sp>
        <p:nvSpPr>
          <p:cNvPr id="10" name="Shape 8"/>
          <p:cNvSpPr/>
          <p:nvPr/>
        </p:nvSpPr>
        <p:spPr>
          <a:xfrm>
            <a:off x="548640" y="3273552"/>
            <a:ext cx="5394960" cy="1417320"/>
          </a:xfrm>
          <a:prstGeom prst="roundRect">
            <a:avLst>
              <a:gd name="adj" fmla="val 6452"/>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11" name="Text 9"/>
          <p:cNvSpPr/>
          <p:nvPr/>
        </p:nvSpPr>
        <p:spPr>
          <a:xfrm>
            <a:off x="804672" y="3456432"/>
            <a:ext cx="4937760" cy="457200"/>
          </a:xfrm>
          <a:prstGeom prst="rect">
            <a:avLst/>
          </a:prstGeom>
          <a:noFill/>
          <a:ln/>
        </p:spPr>
        <p:txBody>
          <a:bodyPr wrap="square" rtlCol="0" anchor="ctr"/>
          <a:lstStyle/>
          <a:p>
            <a:pPr indent="0" marL="0">
              <a:buNone/>
            </a:pPr>
            <a:r>
              <a:rPr lang="en-US" sz="1450" b="1" dirty="0">
                <a:solidFill>
                  <a:srgbClr val="E8871E"/>
                </a:solidFill>
                <a:latin typeface="Cambria" pitchFamily="34" charset="0"/>
                <a:ea typeface="Cambria" pitchFamily="34" charset="-122"/>
                <a:cs typeface="Cambria" pitchFamily="34" charset="-120"/>
              </a:rPr>
              <a:t>Q  </a:t>
            </a:r>
            <a:pPr indent="0" marL="0">
              <a:buNone/>
            </a:pPr>
            <a:r>
              <a:rPr lang="en-US" sz="1450" b="1" dirty="0">
                <a:solidFill>
                  <a:srgbClr val="12233B"/>
                </a:solidFill>
                <a:latin typeface="Cambria" pitchFamily="34" charset="0"/>
                <a:ea typeface="Cambria" pitchFamily="34" charset="-122"/>
                <a:cs typeface="Cambria" pitchFamily="34" charset="-120"/>
              </a:rPr>
              <a:t>Why RH56F1, not Allegro / Shadow?</a:t>
            </a:r>
            <a:endParaRPr lang="en-US" sz="1450" dirty="0"/>
          </a:p>
        </p:txBody>
      </p:sp>
      <p:sp>
        <p:nvSpPr>
          <p:cNvPr id="12" name="Text 10"/>
          <p:cNvSpPr/>
          <p:nvPr/>
        </p:nvSpPr>
        <p:spPr>
          <a:xfrm>
            <a:off x="804672" y="3931920"/>
            <a:ext cx="4937760" cy="68580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Procured for the lab; hardware selection is outside this work's scope.</a:t>
            </a:r>
            <a:endParaRPr lang="en-US" sz="1200" dirty="0"/>
          </a:p>
        </p:txBody>
      </p:sp>
      <p:sp>
        <p:nvSpPr>
          <p:cNvPr id="13" name="Shape 11"/>
          <p:cNvSpPr/>
          <p:nvPr/>
        </p:nvSpPr>
        <p:spPr>
          <a:xfrm>
            <a:off x="6245352" y="3273552"/>
            <a:ext cx="5394960" cy="1417320"/>
          </a:xfrm>
          <a:prstGeom prst="roundRect">
            <a:avLst>
              <a:gd name="adj" fmla="val 6452"/>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14" name="Text 12"/>
          <p:cNvSpPr/>
          <p:nvPr/>
        </p:nvSpPr>
        <p:spPr>
          <a:xfrm>
            <a:off x="6501384" y="3456432"/>
            <a:ext cx="4937760" cy="457200"/>
          </a:xfrm>
          <a:prstGeom prst="rect">
            <a:avLst/>
          </a:prstGeom>
          <a:noFill/>
          <a:ln/>
        </p:spPr>
        <p:txBody>
          <a:bodyPr wrap="square" rtlCol="0" anchor="ctr"/>
          <a:lstStyle/>
          <a:p>
            <a:pPr indent="0" marL="0">
              <a:buNone/>
            </a:pPr>
            <a:r>
              <a:rPr lang="en-US" sz="1450" b="1" dirty="0">
                <a:solidFill>
                  <a:srgbClr val="E8871E"/>
                </a:solidFill>
                <a:latin typeface="Cambria" pitchFamily="34" charset="0"/>
                <a:ea typeface="Cambria" pitchFamily="34" charset="-122"/>
                <a:cs typeface="Cambria" pitchFamily="34" charset="-120"/>
              </a:rPr>
              <a:t>Q  </a:t>
            </a:r>
            <a:pPr indent="0" marL="0">
              <a:buNone/>
            </a:pPr>
            <a:r>
              <a:rPr lang="en-US" sz="1450" b="1" dirty="0">
                <a:solidFill>
                  <a:srgbClr val="12233B"/>
                </a:solidFill>
                <a:latin typeface="Cambria" pitchFamily="34" charset="0"/>
                <a:ea typeface="Cambria" pitchFamily="34" charset="-122"/>
                <a:cs typeface="Cambria" pitchFamily="34" charset="-120"/>
              </a:rPr>
              <a:t>How are the power concepts validated?</a:t>
            </a:r>
            <a:endParaRPr lang="en-US" sz="1450" dirty="0"/>
          </a:p>
        </p:txBody>
      </p:sp>
      <p:sp>
        <p:nvSpPr>
          <p:cNvPr id="15" name="Text 13"/>
          <p:cNvSpPr/>
          <p:nvPr/>
        </p:nvSpPr>
        <p:spPr>
          <a:xfrm>
            <a:off x="6501384" y="3931920"/>
            <a:ext cx="4937760" cy="68580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Stage 1 measures current across representative motions before Concept A is used.</a:t>
            </a:r>
            <a:endParaRPr lang="en-US" sz="1200" dirty="0"/>
          </a:p>
        </p:txBody>
      </p:sp>
      <p:sp>
        <p:nvSpPr>
          <p:cNvPr id="16" name="Shape 14"/>
          <p:cNvSpPr/>
          <p:nvPr/>
        </p:nvSpPr>
        <p:spPr>
          <a:xfrm>
            <a:off x="548640" y="4946904"/>
            <a:ext cx="5394960" cy="1417320"/>
          </a:xfrm>
          <a:prstGeom prst="roundRect">
            <a:avLst>
              <a:gd name="adj" fmla="val 6452"/>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17" name="Text 15"/>
          <p:cNvSpPr/>
          <p:nvPr/>
        </p:nvSpPr>
        <p:spPr>
          <a:xfrm>
            <a:off x="804672" y="5129784"/>
            <a:ext cx="4937760" cy="457200"/>
          </a:xfrm>
          <a:prstGeom prst="rect">
            <a:avLst/>
          </a:prstGeom>
          <a:noFill/>
          <a:ln/>
        </p:spPr>
        <p:txBody>
          <a:bodyPr wrap="square" rtlCol="0" anchor="ctr"/>
          <a:lstStyle/>
          <a:p>
            <a:pPr indent="0" marL="0">
              <a:buNone/>
            </a:pPr>
            <a:r>
              <a:rPr lang="en-US" sz="1450" b="1" dirty="0">
                <a:solidFill>
                  <a:srgbClr val="E8871E"/>
                </a:solidFill>
                <a:latin typeface="Cambria" pitchFamily="34" charset="0"/>
                <a:ea typeface="Cambria" pitchFamily="34" charset="-122"/>
                <a:cs typeface="Cambria" pitchFamily="34" charset="-120"/>
              </a:rPr>
              <a:t>Q  </a:t>
            </a:r>
            <a:pPr indent="0" marL="0">
              <a:buNone/>
            </a:pPr>
            <a:r>
              <a:rPr lang="en-US" sz="1450" b="1" dirty="0">
                <a:solidFill>
                  <a:srgbClr val="12233B"/>
                </a:solidFill>
                <a:latin typeface="Cambria" pitchFamily="34" charset="0"/>
                <a:ea typeface="Cambria" pitchFamily="34" charset="-122"/>
                <a:cs typeface="Cambria" pitchFamily="34" charset="-120"/>
              </a:rPr>
              <a:t>Expected TCI latency?</a:t>
            </a:r>
            <a:endParaRPr lang="en-US" sz="1450" dirty="0"/>
          </a:p>
        </p:txBody>
      </p:sp>
      <p:sp>
        <p:nvSpPr>
          <p:cNvPr id="18" name="Text 16"/>
          <p:cNvSpPr/>
          <p:nvPr/>
        </p:nvSpPr>
        <p:spPr>
          <a:xfrm>
            <a:off x="804672" y="5605272"/>
            <a:ext cx="4937760" cy="68580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Not asserted — round-trip time is measured in Stage 1; the estimate is illustrative.</a:t>
            </a:r>
            <a:endParaRPr lang="en-US" sz="1200" dirty="0"/>
          </a:p>
        </p:txBody>
      </p:sp>
      <p:sp>
        <p:nvSpPr>
          <p:cNvPr id="19" name="Shape 17"/>
          <p:cNvSpPr/>
          <p:nvPr/>
        </p:nvSpPr>
        <p:spPr>
          <a:xfrm>
            <a:off x="6245352" y="4946904"/>
            <a:ext cx="5394960" cy="1417320"/>
          </a:xfrm>
          <a:prstGeom prst="roundRect">
            <a:avLst>
              <a:gd name="adj" fmla="val 6452"/>
            </a:avLst>
          </a:prstGeom>
          <a:solidFill>
            <a:srgbClr val="EEF3F8"/>
          </a:solidFill>
          <a:ln w="12700">
            <a:solidFill>
              <a:srgbClr val="D5DEE8"/>
            </a:solidFill>
            <a:prstDash val="solid"/>
          </a:ln>
          <a:effectLst>
            <a:outerShdw sx="100000" sy="100000" kx="0" ky="0" algn="bl" rotWithShape="0" blurRad="76200" dist="38100" dir="5400000">
              <a:srgbClr val="8FA3B5">
                <a:alpha val="35000"/>
              </a:srgbClr>
            </a:outerShdw>
          </a:effectLst>
        </p:spPr>
      </p:sp>
      <p:sp>
        <p:nvSpPr>
          <p:cNvPr id="20" name="Text 18"/>
          <p:cNvSpPr/>
          <p:nvPr/>
        </p:nvSpPr>
        <p:spPr>
          <a:xfrm>
            <a:off x="6501384" y="5129784"/>
            <a:ext cx="4937760" cy="457200"/>
          </a:xfrm>
          <a:prstGeom prst="rect">
            <a:avLst/>
          </a:prstGeom>
          <a:noFill/>
          <a:ln/>
        </p:spPr>
        <p:txBody>
          <a:bodyPr wrap="square" rtlCol="0" anchor="ctr"/>
          <a:lstStyle/>
          <a:p>
            <a:pPr indent="0" marL="0">
              <a:buNone/>
            </a:pPr>
            <a:r>
              <a:rPr lang="en-US" sz="1450" b="1" dirty="0">
                <a:solidFill>
                  <a:srgbClr val="E8871E"/>
                </a:solidFill>
                <a:latin typeface="Cambria" pitchFamily="34" charset="0"/>
                <a:ea typeface="Cambria" pitchFamily="34" charset="-122"/>
                <a:cs typeface="Cambria" pitchFamily="34" charset="-120"/>
              </a:rPr>
              <a:t>Q  </a:t>
            </a:r>
            <a:pPr indent="0" marL="0">
              <a:buNone/>
            </a:pPr>
            <a:r>
              <a:rPr lang="en-US" sz="1450" b="1" dirty="0">
                <a:solidFill>
                  <a:srgbClr val="12233B"/>
                </a:solidFill>
                <a:latin typeface="Cambria" pitchFamily="34" charset="0"/>
                <a:ea typeface="Cambria" pitchFamily="34" charset="-122"/>
                <a:cs typeface="Cambria" pitchFamily="34" charset="-120"/>
              </a:rPr>
              <a:t>Which grasps with six DOF?</a:t>
            </a:r>
            <a:endParaRPr lang="en-US" sz="1450" dirty="0"/>
          </a:p>
        </p:txBody>
      </p:sp>
      <p:sp>
        <p:nvSpPr>
          <p:cNvPr id="21" name="Text 19"/>
          <p:cNvSpPr/>
          <p:nvPr/>
        </p:nvSpPr>
        <p:spPr>
          <a:xfrm>
            <a:off x="6501384" y="5605272"/>
            <a:ext cx="4937760" cy="685800"/>
          </a:xfrm>
          <a:prstGeom prst="rect">
            <a:avLst/>
          </a:prstGeom>
          <a:noFill/>
          <a:ln/>
        </p:spPr>
        <p:txBody>
          <a:bodyPr wrap="square" rtlCol="0" anchor="ctr"/>
          <a:lstStyle/>
          <a:p>
            <a:pPr indent="0" marL="0">
              <a:buNone/>
            </a:pPr>
            <a:r>
              <a:rPr lang="en-US" sz="1200" dirty="0">
                <a:solidFill>
                  <a:srgbClr val="1A2733"/>
                </a:solidFill>
                <a:latin typeface="Calibri" pitchFamily="34" charset="0"/>
                <a:ea typeface="Calibri" pitchFamily="34" charset="-122"/>
                <a:cs typeface="Calibri" pitchFamily="34" charset="-120"/>
              </a:rPr>
              <a:t>Only the taxonomy subset needing no independent abduction or in-hand reorientation.</a:t>
            </a:r>
            <a:endParaRPr lang="en-US" sz="1200" dirty="0"/>
          </a:p>
        </p:txBody>
      </p:sp>
      <p:sp>
        <p:nvSpPr>
          <p:cNvPr id="22" name="Text 20"/>
          <p:cNvSpPr/>
          <p:nvPr/>
        </p:nvSpPr>
        <p:spPr>
          <a:xfrm>
            <a:off x="457200" y="6473952"/>
            <a:ext cx="8961120" cy="274320"/>
          </a:xfrm>
          <a:prstGeom prst="rect">
            <a:avLst/>
          </a:prstGeom>
          <a:noFill/>
          <a:ln/>
        </p:spPr>
        <p:txBody>
          <a:bodyPr wrap="square" rtlCol="0" anchor="ctr"/>
          <a:lstStyle/>
          <a:p>
            <a:pPr indent="0" marL="0">
              <a:buNone/>
            </a:pPr>
            <a:r>
              <a:rPr lang="en-US" sz="900" dirty="0">
                <a:solidFill>
                  <a:srgbClr val="5A6B7A"/>
                </a:solidFill>
                <a:latin typeface="Calibri" pitchFamily="34" charset="0"/>
                <a:ea typeface="Calibri" pitchFamily="34" charset="-122"/>
                <a:cs typeface="Calibri" pitchFamily="34" charset="-120"/>
              </a:rPr>
              <a:t>RH56F1-E2R-T1  ×  UR5e  —  Integration Design &amp; Evaluation Plan</a:t>
            </a:r>
            <a:endParaRPr lang="en-US" sz="900" dirty="0"/>
          </a:p>
        </p:txBody>
      </p:sp>
      <p:sp>
        <p:nvSpPr>
          <p:cNvPr id="23" name="Text 21"/>
          <p:cNvSpPr/>
          <p:nvPr/>
        </p:nvSpPr>
        <p:spPr>
          <a:xfrm>
            <a:off x="11475720" y="6473952"/>
            <a:ext cx="4114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2026-07-26T16:33:46Z</dcterms:created>
  <dcterms:modified xsi:type="dcterms:W3CDTF">2026-07-26T16:33:46Z</dcterms:modified>
</cp:coreProperties>
</file>